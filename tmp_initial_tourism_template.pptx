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22"/>
  </p:notesMasterIdLst>
  <p:handoutMasterIdLst>
    <p:handoutMasterId r:id="rId23"/>
  </p:handoutMasterIdLst>
  <p:sldIdLst>
    <p:sldId id="364" r:id="rId2"/>
    <p:sldId id="362" r:id="rId3"/>
    <p:sldId id="343" r:id="rId4"/>
    <p:sldId id="361" r:id="rId5"/>
    <p:sldId id="378" r:id="rId6"/>
    <p:sldId id="379" r:id="rId7"/>
    <p:sldId id="380" r:id="rId8"/>
    <p:sldId id="381" r:id="rId9"/>
    <p:sldId id="382" r:id="rId10"/>
    <p:sldId id="383" r:id="rId11"/>
    <p:sldId id="384" r:id="rId12"/>
    <p:sldId id="385" r:id="rId13"/>
    <p:sldId id="388" r:id="rId14"/>
    <p:sldId id="387" r:id="rId15"/>
    <p:sldId id="373" r:id="rId16"/>
    <p:sldId id="389" r:id="rId17"/>
    <p:sldId id="390" r:id="rId18"/>
    <p:sldId id="391" r:id="rId19"/>
    <p:sldId id="392" r:id="rId20"/>
    <p:sldId id="350" r:id="rId21"/>
  </p:sldIdLst>
  <p:sldSz cx="9906000" cy="6858000" type="A4"/>
  <p:notesSz cx="6797675" cy="9926638"/>
  <p:embeddedFontLst>
    <p:embeddedFont>
      <p:font typeface="Cambria Math" panose="02040503050406030204" pitchFamily="18" charset="0"/>
      <p:regular r:id="rId24"/>
    </p:embeddedFont>
    <p:embeddedFont>
      <p:font typeface="맑은 고딕" panose="020B0503020000020004" pitchFamily="50" charset="-127"/>
      <p:regular r:id="rId25"/>
      <p:bold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Calibri Light" panose="020F0302020204030204" pitchFamily="34" charset="0"/>
      <p:regular r:id="rId31"/>
      <p:italic r:id="rId32"/>
    </p:embeddedFont>
    <p:embeddedFont>
      <p:font typeface="HY견고딕" panose="02030600000101010101" pitchFamily="18" charset="-127"/>
      <p:regular r:id="rId33"/>
    </p:embeddedFont>
    <p:embeddedFont>
      <p:font typeface="맑은 고딕 Semilight" panose="020B0502040204020203" pitchFamily="50" charset="-127"/>
      <p:regular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32" userDrawn="1">
          <p15:clr>
            <a:srgbClr val="A4A3A4"/>
          </p15:clr>
        </p15:guide>
        <p15:guide id="2" pos="3097" userDrawn="1">
          <p15:clr>
            <a:srgbClr val="A4A3A4"/>
          </p15:clr>
        </p15:guide>
        <p15:guide id="3" pos="240" userDrawn="1">
          <p15:clr>
            <a:srgbClr val="A4A3A4"/>
          </p15:clr>
        </p15:guide>
        <p15:guide id="4" pos="6000" userDrawn="1">
          <p15:clr>
            <a:srgbClr val="A4A3A4"/>
          </p15:clr>
        </p15:guide>
        <p15:guide id="5" orient="horz" pos="572" userDrawn="1">
          <p15:clr>
            <a:srgbClr val="A4A3A4"/>
          </p15:clr>
        </p15:guide>
        <p15:guide id="6" orient="horz" pos="3385" userDrawn="1">
          <p15:clr>
            <a:srgbClr val="A4A3A4"/>
          </p15:clr>
        </p15:guide>
        <p15:guide id="7" orient="horz" pos="3974" userDrawn="1">
          <p15:clr>
            <a:srgbClr val="A4A3A4"/>
          </p15:clr>
        </p15:guide>
        <p15:guide id="8" orient="horz" pos="77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8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33CC"/>
    <a:srgbClr val="D9D9D9"/>
    <a:srgbClr val="FFF7A2"/>
    <a:srgbClr val="FFF7A0"/>
    <a:srgbClr val="B4DFF2"/>
    <a:srgbClr val="2393C5"/>
    <a:srgbClr val="2696C8"/>
    <a:srgbClr val="3E3E3E"/>
    <a:srgbClr val="3B69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44" autoAdjust="0"/>
    <p:restoredTop sz="96046" autoAdjust="0"/>
  </p:normalViewPr>
  <p:slideViewPr>
    <p:cSldViewPr snapToGrid="0">
      <p:cViewPr>
        <p:scale>
          <a:sx n="100" d="100"/>
          <a:sy n="100" d="100"/>
        </p:scale>
        <p:origin x="1800" y="396"/>
      </p:cViewPr>
      <p:guideLst>
        <p:guide orient="horz" pos="2432"/>
        <p:guide pos="3097"/>
        <p:guide pos="240"/>
        <p:guide pos="6000"/>
        <p:guide orient="horz" pos="572"/>
        <p:guide orient="horz" pos="3385"/>
        <p:guide orient="horz" pos="3974"/>
        <p:guide orient="horz" pos="777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401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font" Target="fonts/font5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534702-056B-476C-9177-3F0C5237826B}" type="datetimeFigureOut">
              <a:rPr lang="ko-KR" altLang="en-US" smtClean="0"/>
              <a:t>2026-04-27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B1AB61-240D-4192-8072-98E893CB87F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36618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l">
              <a:defRPr sz="13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r">
              <a:defRPr sz="1300"/>
            </a:lvl1pPr>
          </a:lstStyle>
          <a:p>
            <a:fld id="{528CD394-D876-4511-81A7-1809C747AAB4}" type="datetimeFigureOut">
              <a:rPr lang="ko-KR" altLang="en-US" smtClean="0"/>
              <a:t>2026-04-27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2" tIns="47781" rIns="95562" bIns="47781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5562" tIns="47781" rIns="95562" bIns="47781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5"/>
            <a:ext cx="2945659" cy="498055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l">
              <a:defRPr sz="13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5"/>
            <a:ext cx="2945659" cy="498055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r">
              <a:defRPr sz="1300"/>
            </a:lvl1pPr>
          </a:lstStyle>
          <a:p>
            <a:fld id="{BA01EAC8-16D7-40AB-9B39-1FA8314D28F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14692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55613">
              <a:defRPr/>
            </a:pPr>
            <a:r>
              <a:rPr lang="ko-KR" altLang="en-US" dirty="0"/>
              <a:t>관광벤처사업이란</a:t>
            </a:r>
            <a:r>
              <a:rPr lang="en-US" altLang="ko-KR" dirty="0"/>
              <a:t>,</a:t>
            </a:r>
            <a:r>
              <a:rPr lang="en-US" altLang="ko-KR" baseline="0" dirty="0"/>
              <a:t> </a:t>
            </a:r>
            <a:r>
              <a:rPr lang="ko-KR" altLang="en-US" baseline="0" dirty="0"/>
              <a:t>관광객이</a:t>
            </a:r>
            <a:r>
              <a:rPr lang="en-US" altLang="ko-KR" baseline="0" dirty="0"/>
              <a:t>…..</a:t>
            </a:r>
            <a:r>
              <a:rPr lang="ko-KR" altLang="en-US" baseline="0" dirty="0"/>
              <a:t>사업</a:t>
            </a:r>
            <a:endParaRPr lang="en-US" altLang="ko-KR" baseline="0" dirty="0"/>
          </a:p>
          <a:p>
            <a:pPr defTabSz="955613">
              <a:defRPr/>
            </a:pPr>
            <a:r>
              <a:rPr lang="ko-KR" altLang="en-US" baseline="0" dirty="0"/>
              <a:t>체험콘텐츠형</a:t>
            </a:r>
            <a:r>
              <a:rPr lang="en-US" altLang="ko-KR" baseline="0" dirty="0"/>
              <a:t>, </a:t>
            </a:r>
            <a:r>
              <a:rPr lang="ko-KR" altLang="en-US" baseline="0" dirty="0"/>
              <a:t>기술혁신형</a:t>
            </a:r>
            <a:r>
              <a:rPr lang="en-US" altLang="ko-KR" baseline="0" dirty="0"/>
              <a:t>, </a:t>
            </a:r>
            <a:r>
              <a:rPr lang="ko-KR" altLang="en-US" baseline="0" dirty="0"/>
              <a:t>시설기반형 그리고 세가지 유형에 속하지 않는 창의적인 관광사업은 기타형으로 분류하고 있음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882213" latinLnBrk="1">
              <a:defRPr/>
            </a:pPr>
            <a:fld id="{7FB34BD7-4BD3-4ED4-A1FE-F231BBDA2C2B}" type="slidenum">
              <a:rPr lang="ko-KR" altLang="en-US" sz="120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pPr defTabSz="882213" latinLnBrk="1">
                <a:defRPr/>
              </a:pPr>
              <a:t>3</a:t>
            </a:fld>
            <a:endParaRPr lang="ko-KR" altLang="en-US" sz="120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0276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BB6F-D118-4B01-A295-CD904A59D476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588394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AA5FA-9D9E-C6AA-D00C-774D44ED8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2F6E3A9-D0AE-FD71-B685-13C3282CD1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99E8404-0389-9176-DFE6-0ACD5B4336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C349D4-723F-2ED3-3D59-A06B19A2C9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BB6F-D118-4B01-A295-CD904A59D476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26338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517DF-9F71-B620-21E2-D22C3C3A4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6160B22-0CE7-0E6A-2943-C3770807DD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03F9238-46B7-6C8D-0C09-9646F83F20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FE8C25-C186-E091-BC27-B0ED9566F7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BB6F-D118-4B01-A295-CD904A59D476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12215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0E439-04A8-7005-6AB6-4E51173AD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A6C61A-26C6-73DB-207E-39D29C9634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E7AA3D-1FE6-374F-D1BE-AE1C5FD06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A594FB-10EF-871C-765D-D235993A7F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BB6F-D118-4B01-A295-CD904A59D476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71969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9FD39-B297-F16C-30BB-A359198C5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493A92-8702-FE8C-A321-DCC94F4507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E87DA1-B8CD-54E0-464E-B2B70C26A4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3A52EB-A81F-089E-75E8-3C0560120D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BB6F-D118-4B01-A295-CD904A59D476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681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14C71-4D0C-B158-C2BE-C14FEFAB1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A40185-C179-DE60-E104-7A1B042111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78456A-3C39-187A-581F-8AD88B552D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7219A5-ECDB-E69D-244D-C21E67EEC9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BB6F-D118-4B01-A295-CD904A59D476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14578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DBC17-414E-D1D0-D48A-5D8F7865E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F6AD2F-FA82-9F63-61AB-63D9DE6F97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A3E89FC-EB86-3A14-C3AD-7A4DC7231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9A5C3C-F8D8-6C68-7139-DAF4DDEB97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BB6F-D118-4B01-A295-CD904A59D476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023008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E5066-DD80-8C3C-C3B4-10A6C5F17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8BAC64-3DDD-2E93-D192-19E2276A7A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906C41D-EBEB-E93F-244C-4537732FCD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0DFAE4-D92D-FB16-B42A-A82C618703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BB6F-D118-4B01-A295-CD904A59D476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606271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791A2-0660-EF68-2E8F-0AAC53CFB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3E847C-E52A-DB5A-18C5-B422A6DD44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21F17E-88EA-0946-6449-F9F8512560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BDEEB5-E098-15D0-3D5D-95E5BCA1E1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BB6F-D118-4B01-A295-CD904A59D476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133363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746C1-EB11-73FC-7BDC-0BFD71C11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297E6C-3DC9-EDCE-3C01-2CDE2B49B5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812DF16-0E67-88A9-7833-A717B4803D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B3CCA9-BD5F-017E-AA08-0369EE21F8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BB6F-D118-4B01-A295-CD904A59D476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26635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B3D08-AB52-3500-C89F-CA74323A1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5DEE39-4BFC-251A-4BC4-99A469C254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032F52F-A789-9856-7787-2EB64851CD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8CC332-1C76-2A2C-6758-3C6A1233DC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BB6F-D118-4B01-A295-CD904A59D476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30179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A1A87-C3B0-4A49-C411-5E339AC53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6C043E-9F73-6567-ACE6-E60759A73D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075F90-CFBC-234D-0DBD-7CAEAF9ADE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4BDB45-1D35-21FA-95E2-4FB78D5333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BB6F-D118-4B01-A295-CD904A59D476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69605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75350-339D-8F36-7F86-33B130356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1A3387-727C-EA7A-5AA7-39B1095690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EF7273F-7152-0DF8-5DA1-CC40EC6B53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A1FD66-7E01-D0A9-400C-CAAF678AB4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BB6F-D118-4B01-A295-CD904A59D476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24470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A838A-96AC-6BB9-0AFC-8316CD564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195F03E-C229-6127-F9F1-0A82B0FB0A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2208F8-67DE-41AA-7572-6070C0460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9DF9A8-0ACC-B1E2-CCFF-C42422BDAF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BB6F-D118-4B01-A295-CD904A59D476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44485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E293E-57E3-7082-81C1-0BDD0F947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FB99C9-0F3F-9A5D-0126-D86E3F7F24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88EF896-4ECD-D95D-9085-75F577137A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730D73-22BE-E16E-80F2-8281E47609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BB6F-D118-4B01-A295-CD904A59D476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75061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F709E-8C1D-3E24-8881-82A4103FB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2F7402-A572-3AD5-3E3B-75D710F766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330D6F-FECE-B76F-6C4F-798AECDAD3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1D77E1-3C0C-197A-51A0-FDE2A7DDB2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BB6F-D118-4B01-A295-CD904A59D476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4924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3E98C-806F-4D03-834C-82C208916B02}" type="datetimeFigureOut">
              <a:rPr lang="ko-KR" altLang="en-US" smtClean="0"/>
              <a:t>2026-04-27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CCBA6-625B-4DE6-B997-775AB8FC195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21138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3E98C-806F-4D03-834C-82C208916B02}" type="datetimeFigureOut">
              <a:rPr lang="ko-KR" altLang="en-US" smtClean="0"/>
              <a:t>2026-04-27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CCBA6-625B-4DE6-B997-775AB8FC195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95331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3E98C-806F-4D03-834C-82C208916B02}" type="datetimeFigureOut">
              <a:rPr lang="ko-KR" altLang="en-US" smtClean="0"/>
              <a:t>2026-04-27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CCBA6-625B-4DE6-B997-775AB8FC195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88104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3E98C-806F-4D03-834C-82C208916B02}" type="datetimeFigureOut">
              <a:rPr lang="ko-KR" altLang="en-US" smtClean="0"/>
              <a:t>2026-04-27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CCBA6-625B-4DE6-B997-775AB8FC195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21524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3E98C-806F-4D03-834C-82C208916B02}" type="datetimeFigureOut">
              <a:rPr lang="ko-KR" altLang="en-US" smtClean="0"/>
              <a:t>2026-04-27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CCBA6-625B-4DE6-B997-775AB8FC195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8384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3E98C-806F-4D03-834C-82C208916B02}" type="datetimeFigureOut">
              <a:rPr lang="ko-KR" altLang="en-US" smtClean="0"/>
              <a:t>2026-04-27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CCBA6-625B-4DE6-B997-775AB8FC195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48604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3E98C-806F-4D03-834C-82C208916B02}" type="datetimeFigureOut">
              <a:rPr lang="ko-KR" altLang="en-US" smtClean="0"/>
              <a:t>2026-04-27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CCBA6-625B-4DE6-B997-775AB8FC195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08368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3E98C-806F-4D03-834C-82C208916B02}" type="datetimeFigureOut">
              <a:rPr lang="ko-KR" altLang="en-US" smtClean="0"/>
              <a:t>2026-04-27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CCBA6-625B-4DE6-B997-775AB8FC195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710579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3E98C-806F-4D03-834C-82C208916B02}" type="datetimeFigureOut">
              <a:rPr lang="ko-KR" altLang="en-US" smtClean="0"/>
              <a:t>2026-04-27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CCBA6-625B-4DE6-B997-775AB8FC195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4496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3E98C-806F-4D03-834C-82C208916B02}" type="datetimeFigureOut">
              <a:rPr lang="ko-KR" altLang="en-US" smtClean="0"/>
              <a:t>2026-04-27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CCBA6-625B-4DE6-B997-775AB8FC195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84451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3E98C-806F-4D03-834C-82C208916B02}" type="datetimeFigureOut">
              <a:rPr lang="ko-KR" altLang="en-US" smtClean="0"/>
              <a:t>2026-04-27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CCBA6-625B-4DE6-B997-775AB8FC195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48218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8369846"/>
      </p:ext>
    </p:extLst>
  </p:cSld>
  <p:clrMapOvr>
    <a:masterClrMapping/>
  </p:clrMapOvr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B3E98C-806F-4D03-834C-82C208916B02}" type="datetimeFigureOut">
              <a:rPr lang="ko-KR" altLang="en-US" smtClean="0"/>
              <a:t>2026-04-27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CCCBA6-625B-4DE6-B997-775AB8FC195E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1A7523D-E5C9-2735-9D1D-31DDDD9D69FA}"/>
              </a:ext>
            </a:extLst>
          </p:cNvPr>
          <p:cNvSpPr/>
          <p:nvPr/>
        </p:nvSpPr>
        <p:spPr>
          <a:xfrm>
            <a:off x="0" y="6438221"/>
            <a:ext cx="9906000" cy="422886"/>
          </a:xfrm>
          <a:prstGeom prst="rect">
            <a:avLst/>
          </a:prstGeom>
          <a:solidFill>
            <a:srgbClr val="2795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950" latinLnBrk="1">
              <a:defRPr/>
            </a:pPr>
            <a:endParaRPr lang="ko-KR" altLang="en-US" sz="1463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6624638" y="6559372"/>
            <a:ext cx="28440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The</a:t>
            </a:r>
            <a:r>
              <a:rPr lang="en-US" altLang="ko-KR" sz="800" b="0" baseline="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800" b="0" baseline="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18</a:t>
            </a:r>
            <a:r>
              <a:rPr lang="en-US" altLang="ko-KR" sz="800" b="0" baseline="3000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th</a:t>
            </a:r>
            <a:r>
              <a:rPr lang="en-US" altLang="ko-KR" sz="800" b="0" baseline="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800" b="0" baseline="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Tourism Venture Accelerating Program</a:t>
            </a:r>
            <a:endParaRPr lang="ko-KR" altLang="en-US" sz="800" b="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0554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4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4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4.pn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4.pn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4.png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4.png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4.png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4.png"/><Relationship Id="rId4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4.png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4.png"/><Relationship Id="rId4" Type="http://schemas.openxmlformats.org/officeDocument/2006/relationships/image" Target="../media/image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4.png"/><Relationship Id="rId4" Type="http://schemas.openxmlformats.org/officeDocument/2006/relationships/image" Target="../media/image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4.png"/><Relationship Id="rId4" Type="http://schemas.openxmlformats.org/officeDocument/2006/relationships/image" Target="../media/image4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4.png"/><Relationship Id="rId4" Type="http://schemas.openxmlformats.org/officeDocument/2006/relationships/image" Target="../media/image4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4.png"/><Relationship Id="rId4" Type="http://schemas.openxmlformats.org/officeDocument/2006/relationships/image" Target="../media/image4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74C61-A7DA-9E95-9641-47E4E3841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12">
            <a:extLst>
              <a:ext uri="{FF2B5EF4-FFF2-40B4-BE49-F238E27FC236}">
                <a16:creationId xmlns:a16="http://schemas.microsoft.com/office/drawing/2014/main" id="{0D45BC33-8F28-5CE0-10EB-21F75E4E626B}"/>
              </a:ext>
            </a:extLst>
          </p:cNvPr>
          <p:cNvSpPr>
            <a:spLocks/>
          </p:cNvSpPr>
          <p:nvPr/>
        </p:nvSpPr>
        <p:spPr>
          <a:xfrm>
            <a:off x="2586446" y="5593035"/>
            <a:ext cx="1367245" cy="291431"/>
          </a:xfrm>
          <a:prstGeom prst="roundRect">
            <a:avLst>
              <a:gd name="adj" fmla="val 50000"/>
            </a:avLst>
          </a:prstGeom>
          <a:solidFill>
            <a:srgbClr val="FFF7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742950" latinLnBrk="1">
              <a:defRPr/>
            </a:pP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908E5A-9DF4-5CD3-C23C-5089F29FF52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1975" y="1467443"/>
            <a:ext cx="9344025" cy="4768062"/>
          </a:xfrm>
          <a:prstGeom prst="rect">
            <a:avLst/>
          </a:prstGeom>
          <a:noFill/>
        </p:spPr>
        <p:txBody>
          <a:bodyPr wrap="square" lIns="40500" tIns="27000" rIns="40500" bIns="2700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1. 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사업계획서 분량 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: 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총 </a:t>
            </a:r>
            <a:r>
              <a:rPr lang="en-US" altLang="ko-KR" sz="1400" b="1" kern="100" spc="-150" dirty="0" smtClean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20</a:t>
            </a:r>
            <a:r>
              <a:rPr lang="ko-KR" altLang="en-US" sz="1400" b="1" kern="100" spc="-150" dirty="0" smtClean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페이지 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이내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앞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&amp;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뒤 표지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목차 </a:t>
            </a:r>
            <a:r>
              <a:rPr lang="ko-KR" altLang="en-US" sz="1400" b="1" kern="100" spc="-150" dirty="0" smtClean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포함</a:t>
            </a:r>
            <a:r>
              <a:rPr lang="en-US" altLang="ko-KR" sz="1400" b="1" kern="100" spc="-150" dirty="0" smtClean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) </a:t>
            </a:r>
            <a:r>
              <a:rPr lang="ko-KR" altLang="en-US" sz="1400" b="1" kern="100" spc="-150" dirty="0" smtClean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★분량 엄수</a:t>
            </a:r>
            <a:endParaRPr lang="en-US" altLang="ko-KR" sz="1400" b="1" kern="100" spc="-150" dirty="0">
              <a:ln w="3175" cap="rnd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rgbClr val="FF0000"/>
              </a:solidFill>
              <a:highlight>
                <a:srgbClr val="FFFF00"/>
              </a:highlight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○ 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PT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발표 시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본 자료로 발표하며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총 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15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분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발표시간 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5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분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질의응답 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10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분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) 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진행 예정 </a:t>
            </a:r>
            <a:endParaRPr lang="en-US" altLang="ko-KR" sz="1400" b="1" kern="100" spc="-150" dirty="0">
              <a:ln w="3175" cap="rnd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500" b="1" kern="100" spc="-150" dirty="0">
              <a:ln w="3175" cap="rnd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2. 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본문 글꼴 및 줄 간격</a:t>
            </a:r>
            <a:endParaRPr lang="en-US" altLang="ko-KR" sz="1400" b="1" kern="100" spc="-150" dirty="0">
              <a:ln w="3175" cap="rnd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○ 본문 글꼴 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: 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제한 없음</a:t>
            </a:r>
            <a:endParaRPr lang="en-US" altLang="ko-KR" sz="1400" b="1" kern="100" spc="-150" dirty="0">
              <a:ln w="3175" cap="rnd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○ 본문 내용의 글꼴 크기  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: 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14pt~18pt 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권장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내용이나 상황에 따라 조절 가능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○ 본문 내용의 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줄 간격 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: 1.5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배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권장 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내용이나 상황에 따라 조절 가능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500" b="1" kern="100" spc="-150" dirty="0">
              <a:ln w="3175" cap="rnd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3. 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작성내용</a:t>
            </a:r>
            <a:endParaRPr lang="en-US" altLang="ko-KR" sz="1400" b="1" kern="100" spc="-150" dirty="0">
              <a:ln w="3175" cap="rnd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○ 객관적으로 입증 가능한 근거에 따른 정확한 사실이어야 함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미 작성 또는 누락 시 감점 함</a:t>
            </a:r>
            <a:endParaRPr lang="en-US" altLang="ko-KR" sz="1400" b="1" kern="100" spc="-150" dirty="0">
              <a:ln w="3175" cap="rnd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○ 설명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/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제시하고자 하는 내용 및 의미가 명료하고 간결해야 </a:t>
            </a:r>
            <a:r>
              <a:rPr lang="ko-KR" altLang="en-US" sz="1400" b="1" kern="100" spc="-150" dirty="0" smtClean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함</a:t>
            </a:r>
            <a:endParaRPr lang="en-US" altLang="ko-KR" sz="1400" b="1" kern="100" spc="-150" dirty="0">
              <a:ln w="3175" cap="rnd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○ 본 작성 안내 페이지는 삭제 후 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PDF</a:t>
            </a:r>
            <a:r>
              <a:rPr lang="ko-KR" altLang="en-US" sz="1400" b="1" kern="100" spc="-150" dirty="0" smtClean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파일로 변환하여 제출</a:t>
            </a:r>
            <a:endParaRPr lang="ko-KR" altLang="en-US" sz="1400" b="1" kern="100" spc="-150" dirty="0">
              <a:ln w="3175" cap="rnd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highlight>
                <a:srgbClr val="FFFF00"/>
              </a:highlight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○ 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빨간색 글씨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로 작성된 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작성요령 및 예시는 참고하여 작성 후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제출 시 삭제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하고 검정 글씨로 작성하여 제출</a:t>
            </a:r>
            <a:endParaRPr lang="en-US" altLang="ko-KR" sz="1400" b="1" kern="100" spc="-150" dirty="0">
              <a:ln w="3175" cap="rnd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○ 사업계획서 양식은 변경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삭제할 수 없으며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추가 설명을 위한 이미지 또는 표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행 추가 등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) 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등은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삽입 가능 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동영상 삽입 불가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* 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상황에 따라 고정된 소제목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노란색 도형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의 위치는 변경 가능하나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삭제는 불가하며 목차별 지정된 페이지 수 엄수</a:t>
            </a:r>
            <a:endParaRPr lang="en-US" altLang="ko-KR" sz="1400" b="1" kern="100" spc="-150" dirty="0">
              <a:ln w="3175" cap="rnd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* 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노란색 도형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소제목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위치변경 방법 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: 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네모박스 클릭 → 마우스 우 클릭 → 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잠금 해제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(L)’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선택</a:t>
            </a:r>
            <a:endParaRPr lang="en-US" altLang="ko-KR" sz="1400" b="1" kern="100" spc="-150" dirty="0">
              <a:ln w="3175" cap="rnd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755D05-25E1-8276-5A76-AC2CE504D89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3334" y="405146"/>
            <a:ext cx="3758721" cy="3462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defTabSz="742950" latinLnBrk="1">
              <a:lnSpc>
                <a:spcPct val="90000"/>
              </a:lnSpc>
              <a:defRPr/>
            </a:pPr>
            <a:r>
              <a:rPr lang="ko-KR" altLang="en-US" sz="2500" b="1" spc="-81" dirty="0">
                <a:solidFill>
                  <a:srgbClr val="51A3C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제</a:t>
            </a:r>
            <a:r>
              <a:rPr lang="en-US" altLang="ko-KR" sz="2500" b="1" spc="-81" dirty="0" smtClean="0">
                <a:solidFill>
                  <a:srgbClr val="51A3C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18</a:t>
            </a:r>
            <a:r>
              <a:rPr lang="ko-KR" altLang="en-US" sz="2500" b="1" spc="-81" dirty="0" smtClean="0">
                <a:solidFill>
                  <a:srgbClr val="51A3C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회</a:t>
            </a:r>
            <a:r>
              <a:rPr lang="en-US" altLang="ko-KR" sz="2500" b="1" spc="-81" dirty="0" smtClean="0">
                <a:solidFill>
                  <a:srgbClr val="51A3C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2500" b="1" spc="-81" dirty="0">
                <a:solidFill>
                  <a:srgbClr val="51A3C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관광벤처사업 공모 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4D14EB6E-F1A3-4E8C-EB7C-7547B1B58C6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423334" y="809149"/>
            <a:ext cx="3661649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사각형: 둥근 모서리 12">
            <a:extLst>
              <a:ext uri="{FF2B5EF4-FFF2-40B4-BE49-F238E27FC236}">
                <a16:creationId xmlns:a16="http://schemas.microsoft.com/office/drawing/2014/main" id="{A741E2BE-EEDB-BCB2-4467-ECA3F8CF5C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5703" y="971955"/>
            <a:ext cx="6069600" cy="411079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742950" latinLnBrk="1">
              <a:defRPr/>
            </a:pPr>
            <a:r>
              <a:rPr lang="en-US" altLang="ko-KR" sz="170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※ </a:t>
            </a:r>
            <a:r>
              <a:rPr lang="ko-KR" altLang="en-US" sz="170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초기 관광벤처 사업계획서 및 발표심사 자료 작성 안내</a:t>
            </a:r>
          </a:p>
        </p:txBody>
      </p:sp>
      <p:pic>
        <p:nvPicPr>
          <p:cNvPr id="9" name="그림 8" descr="텍스트이(가) 표시된 사진&#10;&#10;자동 생성된 설명">
            <a:extLst>
              <a:ext uri="{FF2B5EF4-FFF2-40B4-BE49-F238E27FC236}">
                <a16:creationId xmlns:a16="http://schemas.microsoft.com/office/drawing/2014/main" id="{458B1287-B1CF-1898-B405-552D90C909B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8871" y="370427"/>
            <a:ext cx="1130017" cy="379686"/>
          </a:xfrm>
          <a:prstGeom prst="rect">
            <a:avLst/>
          </a:prstGeom>
        </p:spPr>
      </p:pic>
      <p:pic>
        <p:nvPicPr>
          <p:cNvPr id="14" name="Picture 2" descr="관광벤처지원사업_로고(세로조합)_2026년.png">
            <a:extLst>
              <a:ext uri="{FF2B5EF4-FFF2-40B4-BE49-F238E27FC236}">
                <a16:creationId xmlns:a16="http://schemas.microsoft.com/office/drawing/2014/main" id="{0EC1808C-EC12-4FE3-8D98-479F4E9BF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8129" y="356473"/>
            <a:ext cx="752694" cy="435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2465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C24D0-79E6-1E74-EF2B-650D3E63D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6126F62-FF4A-8916-00F6-53A7F645594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76425" y="1674577"/>
            <a:ext cx="6737101" cy="6093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defTabSz="742950" latinLnBrk="1">
              <a:lnSpc>
                <a:spcPct val="90000"/>
              </a:lnSpc>
              <a:defRPr/>
            </a:pPr>
            <a:r>
              <a:rPr lang="ko-KR" altLang="en-US" sz="4400" b="1" spc="-81" dirty="0">
                <a:solidFill>
                  <a:srgbClr val="51A3C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제</a:t>
            </a:r>
            <a:r>
              <a:rPr lang="en-US" altLang="ko-KR" sz="4400" b="1" spc="-81" dirty="0" smtClean="0">
                <a:solidFill>
                  <a:srgbClr val="51A3C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18</a:t>
            </a:r>
            <a:r>
              <a:rPr lang="ko-KR" altLang="en-US" sz="4400" b="1" spc="-81" dirty="0" smtClean="0">
                <a:solidFill>
                  <a:srgbClr val="51A3C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회</a:t>
            </a:r>
            <a:r>
              <a:rPr lang="en-US" altLang="ko-KR" sz="4400" b="1" spc="-81" dirty="0" smtClean="0">
                <a:solidFill>
                  <a:srgbClr val="51A3C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 </a:t>
            </a:r>
            <a:r>
              <a:rPr lang="ko-KR" altLang="en-US" sz="4400" b="1" spc="-81" dirty="0">
                <a:solidFill>
                  <a:srgbClr val="51A3C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관광벤처사업 공모 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B459C17F-83DC-A60A-5056-F28F47567EA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76425" y="2431004"/>
            <a:ext cx="5111900" cy="14105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사각형: 둥근 모서리 12">
            <a:extLst>
              <a:ext uri="{FF2B5EF4-FFF2-40B4-BE49-F238E27FC236}">
                <a16:creationId xmlns:a16="http://schemas.microsoft.com/office/drawing/2014/main" id="{B4A552DD-36B4-7617-22DD-C5413C6CA5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1435" y="2793136"/>
            <a:ext cx="5346441" cy="881882"/>
          </a:xfrm>
          <a:prstGeom prst="roundRect">
            <a:avLst>
              <a:gd name="adj" fmla="val 50000"/>
            </a:avLst>
          </a:prstGeom>
          <a:solidFill>
            <a:srgbClr val="2393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742950" latinLnBrk="1">
              <a:defRPr/>
            </a:pPr>
            <a:r>
              <a:rPr lang="ko-KR" altLang="en-US" sz="2400" b="1" dirty="0">
                <a:solidFill>
                  <a:srgbClr val="FFF7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    기업명 </a:t>
            </a:r>
            <a:r>
              <a:rPr lang="en-US" altLang="ko-KR" sz="2400" b="1" dirty="0">
                <a:solidFill>
                  <a:srgbClr val="FFF7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: _________________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3CCFDF-406A-80F9-952F-6B54C06567C4}"/>
              </a:ext>
            </a:extLst>
          </p:cNvPr>
          <p:cNvSpPr txBox="1">
            <a:spLocks/>
          </p:cNvSpPr>
          <p:nvPr/>
        </p:nvSpPr>
        <p:spPr>
          <a:xfrm>
            <a:off x="511435" y="3896886"/>
            <a:ext cx="42274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※ </a:t>
            </a:r>
            <a:r>
              <a:rPr lang="ko-KR" altLang="en-US" sz="1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빈 칸에 귀하의 기업명을 입력해주세요</a:t>
            </a:r>
            <a:r>
              <a:rPr lang="en-US" altLang="ko-KR" sz="1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.</a:t>
            </a:r>
          </a:p>
        </p:txBody>
      </p:sp>
      <p:sp>
        <p:nvSpPr>
          <p:cNvPr id="10" name="사각형: 둥근 모서리 12">
            <a:extLst>
              <a:ext uri="{FF2B5EF4-FFF2-40B4-BE49-F238E27FC236}">
                <a16:creationId xmlns:a16="http://schemas.microsoft.com/office/drawing/2014/main" id="{F11A8B72-1CCA-3E7A-49B0-D19636AF7B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89476" y="4826145"/>
            <a:ext cx="3694340" cy="1151813"/>
          </a:xfrm>
          <a:prstGeom prst="roundRect">
            <a:avLst>
              <a:gd name="adj" fmla="val 11133"/>
            </a:avLst>
          </a:prstGeom>
          <a:solidFill>
            <a:srgbClr val="B4D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742950" latinLnBrk="1">
              <a:defRPr/>
            </a:pPr>
            <a:endParaRPr lang="ko-KR" altLang="en-US" sz="2400" b="1" dirty="0">
              <a:solidFill>
                <a:srgbClr val="FFF7A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B68470-BD8F-6278-2F4A-5CD5CF57F922}"/>
              </a:ext>
            </a:extLst>
          </p:cNvPr>
          <p:cNvSpPr txBox="1">
            <a:spLocks/>
          </p:cNvSpPr>
          <p:nvPr/>
        </p:nvSpPr>
        <p:spPr>
          <a:xfrm>
            <a:off x="5857876" y="4876731"/>
            <a:ext cx="362479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연락망</a:t>
            </a:r>
            <a:endParaRPr lang="en-US" altLang="ko-KR" sz="1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담당자 명</a:t>
            </a: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직책 </a:t>
            </a: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5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 대표</a:t>
            </a:r>
            <a:endParaRPr lang="en-US" altLang="ko-KR" sz="15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연락처 </a:t>
            </a: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15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010-0000-0000</a:t>
            </a:r>
          </a:p>
          <a:p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이메일 </a:t>
            </a: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15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venture@gmail.com</a:t>
            </a:r>
            <a:endParaRPr lang="ko-KR" altLang="en-US" sz="15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CE9614-589E-8A0F-C359-9AE40B2067C1}"/>
              </a:ext>
            </a:extLst>
          </p:cNvPr>
          <p:cNvSpPr txBox="1">
            <a:spLocks/>
          </p:cNvSpPr>
          <p:nvPr/>
        </p:nvSpPr>
        <p:spPr>
          <a:xfrm>
            <a:off x="5610225" y="6025233"/>
            <a:ext cx="42957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※ </a:t>
            </a:r>
            <a:r>
              <a:rPr lang="ko-KR" altLang="en-US" sz="1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공모 관련 소통 담당자 정보를 기입해주세요</a:t>
            </a:r>
            <a:r>
              <a:rPr lang="en-US" altLang="ko-KR" sz="1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.</a:t>
            </a:r>
          </a:p>
        </p:txBody>
      </p:sp>
      <p:pic>
        <p:nvPicPr>
          <p:cNvPr id="13" name="그림 12" descr="텍스트이(가) 표시된 사진&#10;&#10;자동 생성된 설명">
            <a:extLst>
              <a:ext uri="{FF2B5EF4-FFF2-40B4-BE49-F238E27FC236}">
                <a16:creationId xmlns:a16="http://schemas.microsoft.com/office/drawing/2014/main" id="{458B1287-B1CF-1898-B405-552D90C909B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8871" y="370427"/>
            <a:ext cx="1130017" cy="379686"/>
          </a:xfrm>
          <a:prstGeom prst="rect">
            <a:avLst/>
          </a:prstGeom>
        </p:spPr>
      </p:pic>
      <p:pic>
        <p:nvPicPr>
          <p:cNvPr id="16" name="Picture 2" descr="관광벤처지원사업_로고(세로조합)_2026년.png">
            <a:extLst>
              <a:ext uri="{FF2B5EF4-FFF2-40B4-BE49-F238E27FC236}">
                <a16:creationId xmlns:a16="http://schemas.microsoft.com/office/drawing/2014/main" id="{0EC1808C-EC12-4FE3-8D98-479F4E9BF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4479" y="340804"/>
            <a:ext cx="752694" cy="435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8751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4C2A1A7C-9EB1-46D2-9A02-C1C38057BA1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89439" y="2487930"/>
            <a:ext cx="1812586" cy="608525"/>
          </a:xfrm>
          <a:prstGeom prst="rect">
            <a:avLst/>
          </a:prstGeom>
          <a:noFill/>
        </p:spPr>
        <p:txBody>
          <a:bodyPr wrap="none" lIns="40500" tIns="27000" rIns="40500" bIns="27000" rtlCol="0">
            <a:spAutoFit/>
          </a:bodyPr>
          <a:lstStyle/>
          <a:p>
            <a:pPr algn="ctr"/>
            <a:r>
              <a:rPr lang="en-US" altLang="ko-KR" sz="3600" b="1" kern="100" spc="-225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2C364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Contents</a:t>
            </a:r>
            <a:endParaRPr lang="ko-KR" altLang="en-US" sz="3600" b="1" kern="100" spc="-225" dirty="0">
              <a:ln w="3175" cap="rnd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rgbClr val="2C364D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3" name="모서리가 둥근 직사각형 5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92738" y="3463483"/>
            <a:ext cx="3714837" cy="468000"/>
          </a:xfrm>
          <a:prstGeom prst="roundRect">
            <a:avLst>
              <a:gd name="adj" fmla="val 50000"/>
            </a:avLst>
          </a:prstGeom>
          <a:solidFill>
            <a:srgbClr val="3E3E3E"/>
          </a:solidFill>
          <a:ln w="3175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1600" b="1" kern="100" spc="-60" dirty="0">
                <a:ln w="3175" cap="rnd">
                  <a:solidFill>
                    <a:prstClr val="black">
                      <a:lumMod val="50000"/>
                      <a:lumOff val="50000"/>
                      <a:alpha val="0"/>
                    </a:prst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      시장 및 사업모델</a:t>
            </a:r>
          </a:p>
        </p:txBody>
      </p:sp>
      <p:sp>
        <p:nvSpPr>
          <p:cNvPr id="54" name="타원 5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03471" y="3420620"/>
            <a:ext cx="468000" cy="468000"/>
          </a:xfrm>
          <a:prstGeom prst="ellipse">
            <a:avLst/>
          </a:prstGeom>
          <a:solidFill>
            <a:srgbClr val="FFF7A2"/>
          </a:solidFill>
          <a:ln w="38100" cap="rnd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b="1" kern="100" spc="-60" dirty="0">
                <a:ln w="3175" cap="rnd">
                  <a:solidFill>
                    <a:prstClr val="black">
                      <a:lumMod val="50000"/>
                      <a:lumOff val="50000"/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01</a:t>
            </a:r>
            <a:endParaRPr lang="ko-KR" altLang="en-US" sz="1600" b="1" kern="100" spc="-60" dirty="0">
              <a:ln w="3175" cap="rnd">
                <a:solidFill>
                  <a:prstClr val="black">
                    <a:lumMod val="50000"/>
                    <a:lumOff val="50000"/>
                    <a:alpha val="0"/>
                  </a:prst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5" name="모서리가 둥근 직사각형 5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92737" y="4139757"/>
            <a:ext cx="3714837" cy="468000"/>
          </a:xfrm>
          <a:prstGeom prst="roundRect">
            <a:avLst>
              <a:gd name="adj" fmla="val 50000"/>
            </a:avLst>
          </a:prstGeom>
          <a:solidFill>
            <a:srgbClr val="3E3E3E"/>
          </a:solidFill>
          <a:ln w="3175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1600" b="1" kern="100" spc="-60" dirty="0">
                <a:ln w="3175" cap="rnd">
                  <a:solidFill>
                    <a:prstClr val="black">
                      <a:lumMod val="50000"/>
                      <a:lumOff val="50000"/>
                      <a:alpha val="0"/>
                    </a:prst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      사업전략</a:t>
            </a:r>
          </a:p>
        </p:txBody>
      </p:sp>
      <p:sp>
        <p:nvSpPr>
          <p:cNvPr id="56" name="타원 5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03470" y="4096895"/>
            <a:ext cx="468000" cy="468000"/>
          </a:xfrm>
          <a:prstGeom prst="ellipse">
            <a:avLst/>
          </a:prstGeom>
          <a:solidFill>
            <a:srgbClr val="FFF7A2"/>
          </a:solidFill>
          <a:ln w="38100" cap="rnd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b="1" kern="100" spc="-60" dirty="0">
                <a:ln w="3175" cap="rnd">
                  <a:solidFill>
                    <a:prstClr val="black">
                      <a:lumMod val="50000"/>
                      <a:lumOff val="50000"/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02</a:t>
            </a:r>
            <a:endParaRPr lang="ko-KR" altLang="en-US" sz="1600" b="1" kern="100" spc="-60" dirty="0">
              <a:ln w="3175" cap="rnd">
                <a:solidFill>
                  <a:prstClr val="black">
                    <a:lumMod val="50000"/>
                    <a:lumOff val="50000"/>
                    <a:alpha val="0"/>
                  </a:prst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7" name="모서리가 둥근 직사각형 5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92736" y="4830319"/>
            <a:ext cx="3714837" cy="468000"/>
          </a:xfrm>
          <a:prstGeom prst="roundRect">
            <a:avLst>
              <a:gd name="adj" fmla="val 50000"/>
            </a:avLst>
          </a:prstGeom>
          <a:solidFill>
            <a:srgbClr val="3E3E3E"/>
          </a:solidFill>
          <a:ln w="3175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1600" b="1" kern="100" spc="-60" dirty="0">
                <a:ln w="3175" cap="rnd">
                  <a:solidFill>
                    <a:prstClr val="black">
                      <a:lumMod val="50000"/>
                      <a:lumOff val="50000"/>
                      <a:alpha val="0"/>
                    </a:prst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      관광산업 파급효과</a:t>
            </a:r>
          </a:p>
        </p:txBody>
      </p:sp>
      <p:sp>
        <p:nvSpPr>
          <p:cNvPr id="58" name="타원 5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03470" y="4787457"/>
            <a:ext cx="468000" cy="468000"/>
          </a:xfrm>
          <a:prstGeom prst="ellipse">
            <a:avLst/>
          </a:prstGeom>
          <a:solidFill>
            <a:srgbClr val="FFF7A2"/>
          </a:solidFill>
          <a:ln w="38100" cap="rnd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b="1" kern="100" spc="-60" dirty="0">
                <a:ln w="3175" cap="rnd">
                  <a:solidFill>
                    <a:prstClr val="black">
                      <a:lumMod val="50000"/>
                      <a:lumOff val="50000"/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03</a:t>
            </a:r>
            <a:endParaRPr lang="ko-KR" altLang="en-US" sz="1600" b="1" kern="100" spc="-60" dirty="0">
              <a:ln w="3175" cap="rnd">
                <a:solidFill>
                  <a:prstClr val="black">
                    <a:lumMod val="50000"/>
                    <a:lumOff val="50000"/>
                    <a:alpha val="0"/>
                  </a:prst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9" name="모서리가 둥근 직사각형 5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205438" y="5499437"/>
            <a:ext cx="3714837" cy="468000"/>
          </a:xfrm>
          <a:prstGeom prst="roundRect">
            <a:avLst>
              <a:gd name="adj" fmla="val 50000"/>
            </a:avLst>
          </a:prstGeom>
          <a:solidFill>
            <a:srgbClr val="3E3E3E"/>
          </a:solidFill>
          <a:ln w="3175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1600" b="1" kern="100" spc="-60" dirty="0">
                <a:ln w="3175" cap="rnd">
                  <a:solidFill>
                    <a:prstClr val="black">
                      <a:lumMod val="50000"/>
                      <a:lumOff val="50000"/>
                      <a:alpha val="0"/>
                    </a:prst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      팀 역량</a:t>
            </a:r>
          </a:p>
        </p:txBody>
      </p:sp>
      <p:sp>
        <p:nvSpPr>
          <p:cNvPr id="60" name="타원 5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03470" y="5499437"/>
            <a:ext cx="468000" cy="468000"/>
          </a:xfrm>
          <a:prstGeom prst="ellipse">
            <a:avLst/>
          </a:prstGeom>
          <a:solidFill>
            <a:srgbClr val="FFF7A2"/>
          </a:solidFill>
          <a:ln w="38100" cap="rnd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b="1" kern="100" spc="-60" dirty="0">
                <a:ln w="3175" cap="rnd">
                  <a:solidFill>
                    <a:prstClr val="black">
                      <a:lumMod val="50000"/>
                      <a:lumOff val="50000"/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04</a:t>
            </a:r>
            <a:endParaRPr lang="ko-KR" altLang="en-US" sz="1600" b="1" kern="100" spc="-60" dirty="0">
              <a:ln w="3175" cap="rnd">
                <a:solidFill>
                  <a:prstClr val="black">
                    <a:lumMod val="50000"/>
                    <a:lumOff val="50000"/>
                    <a:alpha val="0"/>
                  </a:prst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3" name="모서리가 둥근 직사각형 6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92735" y="2744345"/>
            <a:ext cx="3714837" cy="468000"/>
          </a:xfrm>
          <a:prstGeom prst="roundRect">
            <a:avLst>
              <a:gd name="adj" fmla="val 50000"/>
            </a:avLst>
          </a:prstGeom>
          <a:solidFill>
            <a:srgbClr val="3E3E3E"/>
          </a:solidFill>
          <a:ln w="3175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1600" b="1" kern="100" spc="-60" dirty="0">
                <a:ln w="3175" cap="rnd">
                  <a:solidFill>
                    <a:prstClr val="black">
                      <a:lumMod val="50000"/>
                      <a:lumOff val="50000"/>
                      <a:alpha val="0"/>
                    </a:prst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      기업소개 </a:t>
            </a:r>
          </a:p>
        </p:txBody>
      </p:sp>
      <p:sp>
        <p:nvSpPr>
          <p:cNvPr id="64" name="타원 6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16171" y="2709420"/>
            <a:ext cx="468000" cy="468000"/>
          </a:xfrm>
          <a:prstGeom prst="ellipse">
            <a:avLst/>
          </a:prstGeom>
          <a:solidFill>
            <a:srgbClr val="FFF7A2"/>
          </a:solidFill>
          <a:ln w="38100" cap="rnd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b="1" kern="100" spc="-60" dirty="0">
                <a:ln w="3175" cap="rnd">
                  <a:solidFill>
                    <a:prstClr val="black">
                      <a:lumMod val="50000"/>
                      <a:lumOff val="50000"/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00</a:t>
            </a:r>
            <a:endParaRPr lang="ko-KR" altLang="en-US" sz="1600" b="1" kern="100" spc="-60" dirty="0">
              <a:ln w="3175" cap="rnd">
                <a:solidFill>
                  <a:prstClr val="black">
                    <a:lumMod val="50000"/>
                    <a:lumOff val="50000"/>
                    <a:alpha val="0"/>
                  </a:prst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1E10216B-D249-400B-B4CF-03AFD2C04B1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4115795" y="1899516"/>
            <a:ext cx="0" cy="4015325"/>
          </a:xfrm>
          <a:prstGeom prst="line">
            <a:avLst/>
          </a:prstGeom>
          <a:ln w="3175" cap="rnd">
            <a:solidFill>
              <a:srgbClr val="3E3E3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사각형: 둥근 모서리 12">
            <a:extLst>
              <a:ext uri="{FF2B5EF4-FFF2-40B4-BE49-F238E27FC236}">
                <a16:creationId xmlns:a16="http://schemas.microsoft.com/office/drawing/2014/main" id="{A65CB487-AD14-C430-DDEF-3E9AF74682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710" y="217617"/>
            <a:ext cx="1757386" cy="224783"/>
          </a:xfrm>
          <a:prstGeom prst="roundRect">
            <a:avLst>
              <a:gd name="adj" fmla="val 50000"/>
            </a:avLst>
          </a:prstGeom>
          <a:solidFill>
            <a:srgbClr val="2393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742950" latinLnBrk="1">
              <a:defRPr/>
            </a:pPr>
            <a:r>
              <a:rPr lang="ko-KR" altLang="en-US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제</a:t>
            </a:r>
            <a:r>
              <a:rPr lang="en-US" altLang="ko-KR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18</a:t>
            </a:r>
            <a:r>
              <a:rPr lang="ko-KR" altLang="en-US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회 </a:t>
            </a: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관광벤처사업 공모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8D476A-03A3-EA46-9636-95FB42FDC29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76470" y="598750"/>
            <a:ext cx="420256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ko-KR" altLang="en-US" sz="2000" b="1" dirty="0">
                <a:gradFill>
                  <a:gsLst>
                    <a:gs pos="22000">
                      <a:prstClr val="black"/>
                    </a:gs>
                    <a:gs pos="0">
                      <a:prstClr val="black"/>
                    </a:gs>
                  </a:gsLst>
                  <a:lin ang="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목차</a:t>
            </a:r>
            <a:endParaRPr lang="ko-KR" altLang="en-US" sz="2000" b="1" dirty="0">
              <a:solidFill>
                <a:srgbClr val="2393C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FFD181-90B6-D398-F8C9-028478A5C6E8}"/>
              </a:ext>
            </a:extLst>
          </p:cNvPr>
          <p:cNvSpPr txBox="1"/>
          <p:nvPr/>
        </p:nvSpPr>
        <p:spPr>
          <a:xfrm>
            <a:off x="353871" y="4529846"/>
            <a:ext cx="379674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※ </a:t>
            </a:r>
            <a:r>
              <a:rPr lang="ko-KR" altLang="en-US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항목 별 페이지 구성 </a:t>
            </a:r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(</a:t>
            </a:r>
            <a:r>
              <a:rPr lang="ko-KR" altLang="en-US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총 </a:t>
            </a:r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17p </a:t>
            </a:r>
            <a:r>
              <a:rPr lang="ko-KR" altLang="en-US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이내</a:t>
            </a:r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)</a:t>
            </a:r>
          </a:p>
          <a:p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	00. </a:t>
            </a:r>
            <a:r>
              <a:rPr lang="ko-KR" altLang="en-US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기업소개</a:t>
            </a:r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(1p)</a:t>
            </a:r>
          </a:p>
          <a:p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	01. </a:t>
            </a:r>
            <a:r>
              <a:rPr lang="ko-KR" altLang="en-US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시장 및 사업모델 </a:t>
            </a:r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(5p </a:t>
            </a:r>
            <a:r>
              <a:rPr lang="ko-KR" altLang="en-US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이내</a:t>
            </a:r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)</a:t>
            </a:r>
          </a:p>
          <a:p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	02. </a:t>
            </a:r>
            <a:r>
              <a:rPr lang="ko-KR" altLang="en-US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사업전략 </a:t>
            </a:r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(6p </a:t>
            </a:r>
            <a:r>
              <a:rPr lang="ko-KR" altLang="en-US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이내</a:t>
            </a:r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)</a:t>
            </a:r>
          </a:p>
          <a:p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	03. </a:t>
            </a:r>
            <a:r>
              <a:rPr lang="ko-KR" altLang="en-US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관광산업 파급효과 </a:t>
            </a:r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(2p </a:t>
            </a:r>
            <a:r>
              <a:rPr lang="ko-KR" altLang="en-US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이내</a:t>
            </a:r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)</a:t>
            </a:r>
          </a:p>
          <a:p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	04. </a:t>
            </a:r>
            <a:r>
              <a:rPr lang="ko-KR" altLang="en-US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팀 역량 </a:t>
            </a:r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(3p </a:t>
            </a:r>
            <a:r>
              <a:rPr lang="ko-KR" altLang="en-US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이내</a:t>
            </a:r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27814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2FB27231-E44E-4CA3-B05A-57EDFA9DF658}"/>
              </a:ext>
            </a:extLst>
          </p:cNvPr>
          <p:cNvGrpSpPr/>
          <p:nvPr/>
        </p:nvGrpSpPr>
        <p:grpSpPr>
          <a:xfrm>
            <a:off x="8642231" y="118686"/>
            <a:ext cx="535107" cy="185921"/>
            <a:chOff x="10399341" y="124622"/>
            <a:chExt cx="861590" cy="299357"/>
          </a:xfrm>
        </p:grpSpPr>
        <p:pic>
          <p:nvPicPr>
            <p:cNvPr id="25" name="그래픽 83">
              <a:extLst>
                <a:ext uri="{FF2B5EF4-FFF2-40B4-BE49-F238E27FC236}">
                  <a16:creationId xmlns:a16="http://schemas.microsoft.com/office/drawing/2014/main" id="{1EDB8508-97C6-4286-A9BA-E81C12A379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rcRect r="49942"/>
            <a:stretch/>
          </p:blipFill>
          <p:spPr>
            <a:xfrm>
              <a:off x="10399341" y="124622"/>
              <a:ext cx="302431" cy="299357"/>
            </a:xfrm>
            <a:prstGeom prst="rect">
              <a:avLst/>
            </a:prstGeom>
          </p:spPr>
        </p:pic>
        <p:pic>
          <p:nvPicPr>
            <p:cNvPr id="26" name="그래픽 84">
              <a:extLst>
                <a:ext uri="{FF2B5EF4-FFF2-40B4-BE49-F238E27FC236}">
                  <a16:creationId xmlns:a16="http://schemas.microsoft.com/office/drawing/2014/main" id="{CE38E3EE-CC50-4D9E-A2A0-BA3533252A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733879" y="165616"/>
              <a:ext cx="527052" cy="217370"/>
            </a:xfrm>
            <a:prstGeom prst="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1F5CF43F-59CE-B859-303D-D907CE6F0D4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9200" y="598750"/>
            <a:ext cx="32430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en-US" altLang="ko-KR" sz="2000" b="1" dirty="0">
                <a:solidFill>
                  <a:srgbClr val="2393C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00.</a:t>
            </a:r>
            <a:endParaRPr lang="ko-KR" altLang="en-US" sz="2000" b="1" dirty="0">
              <a:solidFill>
                <a:srgbClr val="2393C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BF3235-F3D2-124B-5F1E-ADF507BC18C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1599" y="598750"/>
            <a:ext cx="39274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ko-KR" altLang="en-US" sz="2000" b="1" dirty="0">
                <a:gradFill>
                  <a:gsLst>
                    <a:gs pos="22000">
                      <a:prstClr val="black"/>
                    </a:gs>
                    <a:gs pos="0">
                      <a:prstClr val="black"/>
                    </a:gs>
                  </a:gsLst>
                  <a:lin ang="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기업소개 </a:t>
            </a:r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(1P)</a:t>
            </a:r>
            <a:r>
              <a:rPr lang="ko-KR" altLang="en-US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 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C146083-21E1-49E1-BA6E-58144FF07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481025"/>
              </p:ext>
            </p:extLst>
          </p:nvPr>
        </p:nvGraphicFramePr>
        <p:xfrm>
          <a:off x="270508" y="4527320"/>
          <a:ext cx="9364982" cy="17434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3618">
                  <a:extLst>
                    <a:ext uri="{9D8B030D-6E8A-4147-A177-3AD203B41FA5}">
                      <a16:colId xmlns:a16="http://schemas.microsoft.com/office/drawing/2014/main" val="95811163"/>
                    </a:ext>
                  </a:extLst>
                </a:gridCol>
                <a:gridCol w="1922841">
                  <a:extLst>
                    <a:ext uri="{9D8B030D-6E8A-4147-A177-3AD203B41FA5}">
                      <a16:colId xmlns:a16="http://schemas.microsoft.com/office/drawing/2014/main" val="1028737888"/>
                    </a:ext>
                  </a:extLst>
                </a:gridCol>
                <a:gridCol w="1922841">
                  <a:extLst>
                    <a:ext uri="{9D8B030D-6E8A-4147-A177-3AD203B41FA5}">
                      <a16:colId xmlns:a16="http://schemas.microsoft.com/office/drawing/2014/main" val="2881744402"/>
                    </a:ext>
                  </a:extLst>
                </a:gridCol>
                <a:gridCol w="1922841">
                  <a:extLst>
                    <a:ext uri="{9D8B030D-6E8A-4147-A177-3AD203B41FA5}">
                      <a16:colId xmlns:a16="http://schemas.microsoft.com/office/drawing/2014/main" val="1179788974"/>
                    </a:ext>
                  </a:extLst>
                </a:gridCol>
                <a:gridCol w="1922841">
                  <a:extLst>
                    <a:ext uri="{9D8B030D-6E8A-4147-A177-3AD203B41FA5}">
                      <a16:colId xmlns:a16="http://schemas.microsoft.com/office/drawing/2014/main" val="2770385332"/>
                    </a:ext>
                  </a:extLst>
                </a:gridCol>
              </a:tblGrid>
              <a:tr h="333740"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</a:t>
                      </a:r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  <a:r>
                        <a:rPr lang="ko-KR" altLang="en-US" sz="1200" b="1" baseline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목표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및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개년 주요성과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500" b="0" i="1" dirty="0">
                        <a:solidFill>
                          <a:srgbClr val="2393C5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b="0" i="1" dirty="0">
                        <a:solidFill>
                          <a:srgbClr val="2393C5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341816"/>
                  </a:ext>
                </a:extLst>
              </a:tr>
              <a:tr h="3524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</a:t>
                      </a:r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2024</a:t>
                      </a:r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</a:t>
                      </a:r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0150470"/>
                  </a:ext>
                </a:extLst>
              </a:tr>
              <a:tr h="3524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매출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백만 원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OOO </a:t>
                      </a: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백만 원 </a:t>
                      </a:r>
                      <a:endParaRPr lang="ko-KR" altLang="en-US" sz="1200" b="1" i="1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 </a:t>
                      </a: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백만 원 </a:t>
                      </a:r>
                      <a:endParaRPr lang="ko-KR" altLang="en-US" sz="12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 </a:t>
                      </a: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백만 원 </a:t>
                      </a:r>
                      <a:endParaRPr lang="ko-KR" altLang="en-US" sz="12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 </a:t>
                      </a: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백만 원 </a:t>
                      </a:r>
                      <a:endParaRPr lang="ko-KR" altLang="en-US" sz="12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158162"/>
                  </a:ext>
                </a:extLst>
              </a:tr>
              <a:tr h="3524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투자유치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백만 원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 </a:t>
                      </a: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백만 원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투자단계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  </a:t>
                      </a: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백만 원  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투자단계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ko-KR" altLang="en-US" sz="12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OOO </a:t>
                      </a: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백만 원  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투자단계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ko-KR" altLang="en-US" sz="12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 </a:t>
                      </a: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백만 원 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투자단계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ko-KR" altLang="en-US" sz="12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330737"/>
                  </a:ext>
                </a:extLst>
              </a:tr>
              <a:tr h="3524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신규고용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 </a:t>
                      </a: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없음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명</a:t>
                      </a:r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명</a:t>
                      </a:r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338223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73C1F2F-A5BB-E101-CD99-CD4ED5B72F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087305"/>
              </p:ext>
            </p:extLst>
          </p:nvPr>
        </p:nvGraphicFramePr>
        <p:xfrm>
          <a:off x="270508" y="1022120"/>
          <a:ext cx="9364984" cy="34641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5652">
                  <a:extLst>
                    <a:ext uri="{9D8B030D-6E8A-4147-A177-3AD203B41FA5}">
                      <a16:colId xmlns:a16="http://schemas.microsoft.com/office/drawing/2014/main" val="3933755392"/>
                    </a:ext>
                  </a:extLst>
                </a:gridCol>
                <a:gridCol w="2760810">
                  <a:extLst>
                    <a:ext uri="{9D8B030D-6E8A-4147-A177-3AD203B41FA5}">
                      <a16:colId xmlns:a16="http://schemas.microsoft.com/office/drawing/2014/main" val="3408359598"/>
                    </a:ext>
                  </a:extLst>
                </a:gridCol>
                <a:gridCol w="1545222">
                  <a:extLst>
                    <a:ext uri="{9D8B030D-6E8A-4147-A177-3AD203B41FA5}">
                      <a16:colId xmlns:a16="http://schemas.microsoft.com/office/drawing/2014/main" val="1817799139"/>
                    </a:ext>
                  </a:extLst>
                </a:gridCol>
                <a:gridCol w="1782449">
                  <a:extLst>
                    <a:ext uri="{9D8B030D-6E8A-4147-A177-3AD203B41FA5}">
                      <a16:colId xmlns:a16="http://schemas.microsoft.com/office/drawing/2014/main" val="2027460412"/>
                    </a:ext>
                  </a:extLst>
                </a:gridCol>
                <a:gridCol w="774541">
                  <a:extLst>
                    <a:ext uri="{9D8B030D-6E8A-4147-A177-3AD203B41FA5}">
                      <a16:colId xmlns:a16="http://schemas.microsoft.com/office/drawing/2014/main" val="1937257663"/>
                    </a:ext>
                  </a:extLst>
                </a:gridCol>
                <a:gridCol w="786310">
                  <a:extLst>
                    <a:ext uri="{9D8B030D-6E8A-4147-A177-3AD203B41FA5}">
                      <a16:colId xmlns:a16="http://schemas.microsoft.com/office/drawing/2014/main" val="3579103415"/>
                    </a:ext>
                  </a:extLst>
                </a:gridCol>
              </a:tblGrid>
              <a:tr h="2950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대표자명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생년월일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1900.00.00</a:t>
                      </a:r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남 </a:t>
                      </a:r>
                      <a:r>
                        <a:rPr lang="en-US" altLang="ko-KR" sz="14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4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564083"/>
                  </a:ext>
                </a:extLst>
              </a:tr>
              <a:tr h="2655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기업명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1200" b="1" i="0" spc="-150" dirty="0" smtClean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사업자등록증명 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기준으로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본사 소재지</a:t>
                      </a:r>
                      <a:endParaRPr lang="en-US" altLang="ko-KR" sz="12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 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</a:t>
                      </a:r>
                      <a:endParaRPr lang="ko-KR" altLang="en-US" sz="12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965129"/>
                  </a:ext>
                </a:extLst>
              </a:tr>
              <a:tr h="4425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사업자</a:t>
                      </a:r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endParaRPr lang="en-US" altLang="ko-KR" sz="1200" b="1" i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*</a:t>
                      </a:r>
                      <a:r>
                        <a:rPr kumimoji="0" lang="ko-KR" altLang="en-US" sz="800" b="1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사업공고일</a:t>
                      </a:r>
                      <a:r>
                        <a:rPr kumimoji="0" lang="en-US" altLang="ko-KR" sz="800" b="1" i="0" u="sng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(’26. 4. 29.)</a:t>
                      </a:r>
                      <a:r>
                        <a:rPr kumimoji="0" lang="ko-KR" altLang="en-US" sz="800" b="1" i="0" u="sng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기준</a:t>
                      </a:r>
                      <a:endParaRPr kumimoji="0" lang="en-US" altLang="ko-KR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○</a:t>
                      </a:r>
                      <a:r>
                        <a:rPr lang="en-US" altLang="ko-KR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개인사업자</a:t>
                      </a:r>
                      <a:endParaRPr lang="en-US" altLang="ko-KR" sz="12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r>
                        <a:rPr lang="en-US" altLang="ko-KR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    ) </a:t>
                      </a: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법인 사업자</a:t>
                      </a:r>
                      <a:endParaRPr lang="en-US" altLang="ko-KR" sz="12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사업자번호</a:t>
                      </a:r>
                      <a:endParaRPr lang="en-US" altLang="ko-KR" sz="12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/>
                      <a:r>
                        <a:rPr 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법인등록번호</a:t>
                      </a:r>
                      <a:r>
                        <a:rPr lang="en-US" altLang="ko-KR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sz="12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*</a:t>
                      </a:r>
                      <a:r>
                        <a:rPr kumimoji="0" lang="ko-KR" altLang="en-US" sz="12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개인 </a:t>
                      </a:r>
                      <a:r>
                        <a:rPr kumimoji="0" lang="en-US" altLang="ko-KR" sz="12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2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사업자번호</a:t>
                      </a:r>
                      <a:endParaRPr kumimoji="0" lang="en-US" altLang="ko-KR" sz="12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*</a:t>
                      </a:r>
                      <a:r>
                        <a:rPr kumimoji="0" lang="ko-KR" altLang="en-US" sz="12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법인 </a:t>
                      </a:r>
                      <a:r>
                        <a:rPr kumimoji="0" lang="en-US" altLang="ko-KR" sz="12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2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법인등록번호</a:t>
                      </a:r>
                      <a:endParaRPr kumimoji="0" lang="en-US" altLang="ko-KR" sz="12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782760"/>
                  </a:ext>
                </a:extLst>
              </a:tr>
              <a:tr h="4425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공동대표 여부</a:t>
                      </a:r>
                      <a:endParaRPr lang="en-US" altLang="ko-KR" sz="1200" b="1" i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*</a:t>
                      </a:r>
                      <a:r>
                        <a:rPr kumimoji="0" lang="ko-KR" altLang="en-US" sz="800" b="1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사업공고일</a:t>
                      </a:r>
                      <a:r>
                        <a:rPr kumimoji="0" lang="en-US" altLang="ko-KR" sz="800" b="1" i="0" u="sng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(’26. 4. 29.)</a:t>
                      </a:r>
                      <a:r>
                        <a:rPr kumimoji="0" lang="ko-KR" altLang="en-US" sz="800" b="1" i="0" u="sng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기준</a:t>
                      </a:r>
                      <a:endParaRPr kumimoji="0" lang="en-US" altLang="ko-KR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○</a:t>
                      </a:r>
                      <a:r>
                        <a:rPr lang="en-US" altLang="ko-KR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공동대표 여</a:t>
                      </a:r>
                      <a:endParaRPr lang="en-US" altLang="ko-KR" sz="12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algn="l" latinLnBrk="1"/>
                      <a:r>
                        <a:rPr lang="en-US" altLang="ko-KR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    ) </a:t>
                      </a: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공동대표 부 </a:t>
                      </a:r>
                      <a:endParaRPr lang="en-US" altLang="ko-KR" sz="12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개업연월일</a:t>
                      </a:r>
                      <a:endParaRPr kumimoji="0" lang="en-US" altLang="ko-KR" sz="12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2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회사성립연월일</a:t>
                      </a:r>
                      <a:r>
                        <a:rPr kumimoji="0" lang="en-US" altLang="ko-KR" sz="12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12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*</a:t>
                      </a:r>
                      <a:r>
                        <a:rPr kumimoji="0" lang="ko-KR" altLang="en-US" sz="12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개인 </a:t>
                      </a:r>
                      <a:r>
                        <a:rPr kumimoji="0" lang="en-US" altLang="ko-KR" sz="12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200" b="1" i="0" u="none" strike="noStrike" kern="1200" cap="none" spc="-15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사업자등록증명 </a:t>
                      </a:r>
                      <a:r>
                        <a:rPr kumimoji="0" lang="ko-KR" altLang="en-US" sz="12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 </a:t>
                      </a:r>
                      <a:r>
                        <a:rPr kumimoji="0" lang="en-US" altLang="ko-KR" sz="12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12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개업연월일</a:t>
                      </a:r>
                      <a:r>
                        <a:rPr kumimoji="0" lang="en-US" altLang="ko-KR" sz="12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’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*</a:t>
                      </a:r>
                      <a:r>
                        <a:rPr kumimoji="0" lang="ko-KR" altLang="en-US" sz="12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법인 </a:t>
                      </a:r>
                      <a:r>
                        <a:rPr kumimoji="0" lang="en-US" altLang="ko-KR" sz="12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2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법인등기부등본 </a:t>
                      </a:r>
                      <a:r>
                        <a:rPr kumimoji="0" lang="ko-KR" altLang="en-US" sz="1200" b="1" i="0" u="none" strike="noStrike" kern="1200" cap="none" spc="-15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 </a:t>
                      </a:r>
                      <a:r>
                        <a:rPr kumimoji="0" lang="en-US" altLang="ko-KR" sz="1200" b="1" i="0" u="none" strike="noStrike" kern="1200" cap="none" spc="-15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12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회사성립연월일</a:t>
                      </a:r>
                      <a:r>
                        <a:rPr kumimoji="0" lang="en-US" altLang="ko-KR" sz="12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333174"/>
                  </a:ext>
                </a:extLst>
              </a:tr>
              <a:tr h="6195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신청유형</a:t>
                      </a:r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  <a:p>
                      <a:pPr algn="ctr" latinLnBrk="1"/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*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택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하여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해당하는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</a:p>
                    <a:p>
                      <a:pPr algn="ctr" latinLnBrk="1"/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유형에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(O)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8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</a:t>
                      </a:r>
                      <a:endParaRPr lang="en-US" altLang="ko-KR" sz="800" b="1" i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 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○</a:t>
                      </a:r>
                      <a:r>
                        <a:rPr lang="ko-KR" altLang="en-US" sz="1200" b="1" i="0" spc="-150" dirty="0">
                          <a:solidFill>
                            <a:srgbClr val="0033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관광체험 서비스      </a:t>
                      </a:r>
                      <a:r>
                        <a:rPr lang="en-US" altLang="ko-KR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  </a:t>
                      </a:r>
                      <a:r>
                        <a:rPr lang="ko-KR" altLang="en-US" sz="1200" b="1" i="0" spc="-150" dirty="0">
                          <a:solidFill>
                            <a:srgbClr val="0033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실감형 </a:t>
                      </a:r>
                      <a:r>
                        <a:rPr lang="ko-KR" altLang="en-US" sz="1200" b="1" i="0" spc="-15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관광콘텐츠</a:t>
                      </a: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en-US" altLang="ko-KR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  </a:t>
                      </a:r>
                      <a:r>
                        <a:rPr lang="ko-KR" altLang="en-US" sz="1200" b="1" i="0" spc="-150" dirty="0">
                          <a:solidFill>
                            <a:srgbClr val="0033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관광인프라      </a:t>
                      </a:r>
                      <a:r>
                        <a:rPr lang="en-US" altLang="ko-KR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  </a:t>
                      </a:r>
                      <a:r>
                        <a:rPr lang="ko-KR" altLang="en-US" sz="1200" b="1" i="0" spc="-150" dirty="0">
                          <a:solidFill>
                            <a:srgbClr val="0033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관광딥테크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35855079"/>
                  </a:ext>
                </a:extLst>
              </a:tr>
              <a:tr h="2655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</a:t>
                      </a:r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</a:t>
                      </a:r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latinLnBrk="1"/>
                      <a:endParaRPr lang="ko-KR" altLang="en-US" sz="12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681802446"/>
                  </a:ext>
                </a:extLst>
              </a:tr>
              <a:tr h="6195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 줄 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기본 양식 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 ‘~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하는 서비스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제품명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’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예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수요자 중심 환전 거래하는 </a:t>
                      </a:r>
                      <a:r>
                        <a:rPr lang="ko-KR" altLang="en-US" sz="1200" b="1" i="0" spc="-150" dirty="0" err="1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비대면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온라인 환전서비스 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‘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서비스명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’)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박람회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컨퍼런스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기업소개 장표 제작 등 대외 관계자 대상으로 기업 홍보 시 본 문구 활용 예정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71970390"/>
                  </a:ext>
                </a:extLst>
              </a:tr>
              <a:tr h="4425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협약기간 내</a:t>
                      </a:r>
                      <a:endParaRPr lang="en-US" altLang="ko-KR" sz="1200" b="1" i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성과지표</a:t>
                      </a:r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(KPI)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유료 고객 수</a:t>
                      </a:r>
                      <a:r>
                        <a:rPr lang="en-US" altLang="ko-KR" sz="1200" b="1" i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(OO</a:t>
                      </a:r>
                      <a:r>
                        <a:rPr lang="ko-KR" altLang="en-US" sz="1200" b="1" i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명</a:t>
                      </a:r>
                      <a:r>
                        <a:rPr lang="en-US" altLang="ko-KR" sz="1200" b="1" i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), </a:t>
                      </a:r>
                      <a:r>
                        <a:rPr lang="ko-KR" altLang="en-US" sz="1200" b="1" i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상품서비스 개시</a:t>
                      </a:r>
                      <a:r>
                        <a:rPr lang="en-US" altLang="ko-KR" sz="1200" b="1" i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(00</a:t>
                      </a:r>
                      <a:r>
                        <a:rPr lang="ko-KR" altLang="en-US" sz="1200" b="1" i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건</a:t>
                      </a:r>
                      <a:r>
                        <a:rPr lang="en-US" altLang="ko-KR" sz="1200" b="1" i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), </a:t>
                      </a:r>
                      <a:r>
                        <a:rPr lang="ko-KR" altLang="en-US" sz="1200" b="1" i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아이템 검증</a:t>
                      </a:r>
                      <a:r>
                        <a:rPr lang="en-US" altLang="ko-KR" sz="1200" b="1" i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(00</a:t>
                      </a:r>
                      <a:r>
                        <a:rPr lang="ko-KR" altLang="en-US" sz="1200" b="1" i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회</a:t>
                      </a:r>
                      <a:r>
                        <a:rPr lang="en-US" altLang="ko-KR" sz="1200" b="1" i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), </a:t>
                      </a:r>
                      <a:r>
                        <a:rPr lang="ko-KR" altLang="en-US" sz="1200" b="1" i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실제</a:t>
                      </a:r>
                      <a:r>
                        <a:rPr lang="en-US" altLang="ko-KR" sz="1200" b="1" i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200" b="1" i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결제 </a:t>
                      </a:r>
                      <a:r>
                        <a:rPr lang="en-US" altLang="ko-KR" sz="1200" b="1" i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200" b="1" i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구매 전환</a:t>
                      </a:r>
                      <a:r>
                        <a:rPr lang="en-US" altLang="ko-KR" sz="1200" b="1" i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(00</a:t>
                      </a:r>
                      <a:r>
                        <a:rPr lang="ko-KR" altLang="en-US" sz="1200" b="1" i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명</a:t>
                      </a:r>
                      <a:r>
                        <a:rPr lang="en-US" altLang="ko-KR" sz="1200" b="1" i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홍보마케팅</a:t>
                      </a:r>
                      <a:r>
                        <a:rPr lang="en-US" altLang="ko-KR" sz="1200" b="1" i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(00</a:t>
                      </a:r>
                      <a:r>
                        <a:rPr lang="ko-KR" altLang="en-US" sz="1200" b="1" i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건</a:t>
                      </a:r>
                      <a:r>
                        <a:rPr lang="en-US" altLang="ko-KR" sz="1200" b="1" i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), </a:t>
                      </a:r>
                      <a:r>
                        <a:rPr lang="ko-KR" altLang="en-US" sz="1200" b="1" i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모바일 어플리케이션 개발</a:t>
                      </a:r>
                      <a:r>
                        <a:rPr lang="en-US" altLang="ko-KR" sz="1200" b="1" i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(00</a:t>
                      </a:r>
                      <a:r>
                        <a:rPr lang="ko-KR" altLang="en-US" sz="1200" b="1" i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</a:t>
                      </a:r>
                      <a:r>
                        <a:rPr lang="en-US" altLang="ko-KR" sz="1200" b="1" i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), </a:t>
                      </a:r>
                      <a:r>
                        <a:rPr lang="ko-KR" altLang="en-US" sz="1200" b="1" i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고객 피드백 기반 개선 지표 </a:t>
                      </a:r>
                      <a:r>
                        <a:rPr lang="en-US" altLang="ko-KR" sz="1200" b="1" i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200" b="1" i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355195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292D4B48-C63E-2202-5EA6-4EF717F397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4148960" y="2933700"/>
            <a:ext cx="4068000" cy="3337104"/>
          </a:xfrm>
          <a:prstGeom prst="rect">
            <a:avLst/>
          </a:prstGeom>
          <a:solidFill>
            <a:schemeClr val="bg2"/>
          </a:solidFill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 </a:t>
            </a:r>
            <a:r>
              <a:rPr lang="en-US" altLang="ko-KR" sz="1050" b="1" dirty="0">
                <a:solidFill>
                  <a:schemeClr val="tx1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[00.</a:t>
            </a:r>
            <a:r>
              <a:rPr lang="ko-KR" altLang="en-US" sz="1050" b="1" dirty="0">
                <a:solidFill>
                  <a:schemeClr val="tx1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기업소개</a:t>
            </a:r>
            <a:r>
              <a:rPr lang="en-US" altLang="ko-KR" sz="1050" b="1" dirty="0">
                <a:solidFill>
                  <a:schemeClr val="tx1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 sz="1050" b="1" dirty="0">
                <a:solidFill>
                  <a:schemeClr val="tx1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세부 작성가이드</a:t>
            </a:r>
            <a:endParaRPr lang="en-US" altLang="ko-KR" sz="1050" b="1" dirty="0">
              <a:solidFill>
                <a:schemeClr val="tx1"/>
              </a:solidFill>
              <a:highlight>
                <a:srgbClr val="FFFF00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신청유형 개념</a:t>
            </a:r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050" b="1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관광체험</a:t>
            </a:r>
            <a:r>
              <a:rPr lang="ko-KR" altLang="en-US" sz="105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서비스</a:t>
            </a:r>
            <a:r>
              <a:rPr lang="ko-KR" altLang="en-US" sz="105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5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정보탐색</a:t>
            </a:r>
            <a:r>
              <a:rPr lang="en-US" altLang="ko-KR" sz="105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5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이동</a:t>
            </a:r>
            <a:r>
              <a:rPr lang="en-US" altLang="ko-KR" sz="105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5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숙박</a:t>
            </a:r>
            <a:r>
              <a:rPr lang="en-US" altLang="ko-KR" sz="105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5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체험 등 </a:t>
            </a:r>
            <a:r>
              <a:rPr lang="ko-KR" altLang="en-US" sz="1050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관광여정에</a:t>
            </a:r>
            <a:r>
              <a:rPr lang="ko-KR" altLang="en-US" sz="105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플랫폼 기반의 예약</a:t>
            </a:r>
            <a:r>
              <a:rPr lang="en-US" altLang="ko-KR" sz="105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05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 서비스 제공 등 혁신적 기술로 </a:t>
            </a:r>
            <a:r>
              <a:rPr lang="ko-KR" altLang="en-US" sz="1050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관광편의</a:t>
            </a:r>
            <a:r>
              <a:rPr lang="ko-KR" altLang="en-US" sz="105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제공</a:t>
            </a:r>
            <a:endParaRPr lang="en-US" altLang="ko-KR" sz="105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050" b="1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실감형</a:t>
            </a:r>
            <a:r>
              <a:rPr lang="ko-KR" altLang="en-US" sz="105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관광콘텐츠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관광객이 직접 참여하여 즐기고 공감할 수 있는 새로운 체험 프로그램 및 관광 콘텐츠의 개발과 운영에 관련된 사업</a:t>
            </a:r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05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관광인프라</a:t>
            </a:r>
            <a:r>
              <a:rPr lang="ko-KR" altLang="en-US" sz="105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5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오프라인 기반시설 또는 물적 자원을 핵심기반으로 하는 관광사업</a:t>
            </a:r>
            <a:endParaRPr lang="en-US" altLang="ko-KR" sz="105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050" b="1" dirty="0" err="1" smtClean="0">
                <a:solidFill>
                  <a:schemeClr val="tx1"/>
                </a:solidFill>
                <a:latin typeface="+mn-ea"/>
              </a:rPr>
              <a:t>관광딥테크</a:t>
            </a:r>
            <a:r>
              <a:rPr lang="ko-KR" altLang="en-US" sz="105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50" dirty="0" smtClean="0">
                <a:solidFill>
                  <a:schemeClr val="tx1"/>
                </a:solidFill>
                <a:latin typeface="+mn-ea"/>
              </a:rPr>
              <a:t>: AI·</a:t>
            </a:r>
            <a:r>
              <a:rPr lang="ko-KR" altLang="en-US" sz="1050" dirty="0" smtClean="0">
                <a:solidFill>
                  <a:schemeClr val="tx1"/>
                </a:solidFill>
                <a:latin typeface="+mn-ea"/>
              </a:rPr>
              <a:t>빅데이터</a:t>
            </a:r>
            <a:r>
              <a:rPr lang="en-US" altLang="ko-KR" sz="1050" dirty="0" smtClean="0">
                <a:solidFill>
                  <a:schemeClr val="tx1"/>
                </a:solidFill>
                <a:latin typeface="+mn-ea"/>
              </a:rPr>
              <a:t>·</a:t>
            </a:r>
            <a:r>
              <a:rPr lang="ko-KR" altLang="en-US" sz="1050" dirty="0" err="1" smtClean="0">
                <a:solidFill>
                  <a:schemeClr val="tx1"/>
                </a:solidFill>
                <a:latin typeface="+mn-ea"/>
              </a:rPr>
              <a:t>클라우드</a:t>
            </a:r>
            <a:r>
              <a:rPr lang="ko-KR" altLang="en-US" sz="1050" dirty="0" smtClean="0">
                <a:solidFill>
                  <a:schemeClr val="tx1"/>
                </a:solidFill>
                <a:latin typeface="+mn-ea"/>
              </a:rPr>
              <a:t> 등 첨단 기술을 활용하여 </a:t>
            </a:r>
            <a:r>
              <a:rPr lang="ko-KR" altLang="en-US" sz="1050" dirty="0" err="1" smtClean="0">
                <a:solidFill>
                  <a:schemeClr val="tx1"/>
                </a:solidFill>
                <a:latin typeface="+mn-ea"/>
              </a:rPr>
              <a:t>관광기업</a:t>
            </a:r>
            <a:r>
              <a:rPr lang="ko-KR" altLang="en-US" sz="1050" dirty="0" smtClean="0">
                <a:solidFill>
                  <a:schemeClr val="tx1"/>
                </a:solidFill>
                <a:latin typeface="+mn-ea"/>
              </a:rPr>
              <a:t> 운영 효율화 및 관광산업 고도화를 지원하는 기술 중심 사업</a:t>
            </a:r>
          </a:p>
          <a:p>
            <a:r>
              <a:rPr lang="en-US" altLang="ko-KR" sz="105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사업 아이템이 해당하는 유형을 선택하며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5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융</a:t>
            </a:r>
            <a:r>
              <a:rPr lang="en-US" altLang="ko-KR" sz="105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05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복합 </a:t>
            </a:r>
            <a:r>
              <a:rPr lang="ko-KR" altLang="en-US" sz="1050" b="1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아이템일 경우 </a:t>
            </a:r>
            <a:r>
              <a:rPr lang="ko-KR" altLang="en-US" sz="105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모집유형 중 주력부문 </a:t>
            </a:r>
            <a:r>
              <a:rPr lang="en-US" altLang="ko-KR" sz="105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5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가지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선택</a:t>
            </a:r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</a:t>
            </a:r>
            <a:r>
              <a:rPr lang="ko-KR" altLang="en-US" sz="105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목표 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 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개년 주요성과</a:t>
            </a:r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매출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투자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고용이 발생하지 않았을 경우 </a:t>
            </a:r>
            <a:r>
              <a:rPr lang="en-US" altLang="ko-KR" sz="105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ko-KR" altLang="en-US" sz="105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없음</a:t>
            </a:r>
            <a:r>
              <a:rPr lang="en-US" altLang="ko-KR" sz="105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”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기재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둥근 모서리 12">
            <a:extLst>
              <a:ext uri="{FF2B5EF4-FFF2-40B4-BE49-F238E27FC236}">
                <a16:creationId xmlns:a16="http://schemas.microsoft.com/office/drawing/2014/main" id="{A65CB487-AD14-C430-DDEF-3E9AF74682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710" y="217617"/>
            <a:ext cx="1757386" cy="224783"/>
          </a:xfrm>
          <a:prstGeom prst="roundRect">
            <a:avLst>
              <a:gd name="adj" fmla="val 50000"/>
            </a:avLst>
          </a:prstGeom>
          <a:solidFill>
            <a:srgbClr val="2393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742950" latinLnBrk="1">
              <a:defRPr/>
            </a:pPr>
            <a:r>
              <a:rPr lang="ko-KR" altLang="en-US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제</a:t>
            </a:r>
            <a:r>
              <a:rPr lang="en-US" altLang="ko-KR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18</a:t>
            </a:r>
            <a:r>
              <a:rPr lang="ko-KR" altLang="en-US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회 </a:t>
            </a: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관광벤처사업 공모  </a:t>
            </a:r>
          </a:p>
        </p:txBody>
      </p:sp>
    </p:spTree>
    <p:extLst>
      <p:ext uri="{BB962C8B-B14F-4D97-AF65-F5344CB8AC3E}">
        <p14:creationId xmlns:p14="http://schemas.microsoft.com/office/powerpoint/2010/main" val="2639087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83A73-1D32-6B13-B267-89995BE72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6A5AD99A-92F5-1611-535B-3D70BBD70C62}"/>
              </a:ext>
            </a:extLst>
          </p:cNvPr>
          <p:cNvGrpSpPr/>
          <p:nvPr/>
        </p:nvGrpSpPr>
        <p:grpSpPr>
          <a:xfrm>
            <a:off x="8642231" y="118686"/>
            <a:ext cx="535107" cy="185921"/>
            <a:chOff x="10399341" y="124622"/>
            <a:chExt cx="861590" cy="299357"/>
          </a:xfrm>
        </p:grpSpPr>
        <p:pic>
          <p:nvPicPr>
            <p:cNvPr id="25" name="그래픽 83">
              <a:extLst>
                <a:ext uri="{FF2B5EF4-FFF2-40B4-BE49-F238E27FC236}">
                  <a16:creationId xmlns:a16="http://schemas.microsoft.com/office/drawing/2014/main" id="{289994DA-7DD4-8B8C-F90F-F044286EF2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rcRect r="49942"/>
            <a:stretch/>
          </p:blipFill>
          <p:spPr>
            <a:xfrm>
              <a:off x="10399341" y="124622"/>
              <a:ext cx="302431" cy="299357"/>
            </a:xfrm>
            <a:prstGeom prst="rect">
              <a:avLst/>
            </a:prstGeom>
          </p:spPr>
        </p:pic>
        <p:pic>
          <p:nvPicPr>
            <p:cNvPr id="26" name="그래픽 84">
              <a:extLst>
                <a:ext uri="{FF2B5EF4-FFF2-40B4-BE49-F238E27FC236}">
                  <a16:creationId xmlns:a16="http://schemas.microsoft.com/office/drawing/2014/main" id="{954A88E1-E892-E73B-3D42-6BE01A97E0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733879" y="165616"/>
              <a:ext cx="527052" cy="217370"/>
            </a:xfrm>
            <a:prstGeom prst="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0D94FBE8-6903-0316-B43C-505E4B51D2F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9200" y="598750"/>
            <a:ext cx="32430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en-US" altLang="ko-KR" sz="2000" b="1" dirty="0">
                <a:solidFill>
                  <a:srgbClr val="2393C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01.</a:t>
            </a:r>
            <a:endParaRPr lang="ko-KR" altLang="en-US" sz="2000" b="1" dirty="0">
              <a:solidFill>
                <a:srgbClr val="2393C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82FB819-6E3E-60A0-6DF6-74F9AEBA9FA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1599" y="598750"/>
            <a:ext cx="39274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ko-KR" altLang="en-US" sz="2000" b="1" dirty="0">
                <a:gradFill>
                  <a:gsLst>
                    <a:gs pos="22000">
                      <a:prstClr val="black"/>
                    </a:gs>
                    <a:gs pos="0">
                      <a:prstClr val="black"/>
                    </a:gs>
                  </a:gsLst>
                  <a:lin ang="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시장 및 사업모델 </a:t>
            </a:r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(</a:t>
            </a:r>
            <a:r>
              <a:rPr lang="ko-KR" altLang="en-US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５</a:t>
            </a:r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P </a:t>
            </a:r>
            <a:r>
              <a:rPr lang="ko-KR" altLang="en-US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이내</a:t>
            </a:r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)</a:t>
            </a:r>
            <a:r>
              <a:rPr lang="ko-KR" altLang="en-US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8F8C34-23E1-187A-8176-77087E136DBA}"/>
              </a:ext>
            </a:extLst>
          </p:cNvPr>
          <p:cNvSpPr txBox="1"/>
          <p:nvPr/>
        </p:nvSpPr>
        <p:spPr>
          <a:xfrm>
            <a:off x="851599" y="1606815"/>
            <a:ext cx="8442777" cy="2113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1-1.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시장현황 및 목표 고객</a:t>
            </a:r>
            <a:endParaRPr kumimoji="0" lang="en-US" altLang="ko-KR" sz="1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228600" indent="-228600" algn="just" fontAlgn="base" latinLnBrk="1">
              <a:lnSpc>
                <a:spcPct val="160000"/>
              </a:lnSpc>
              <a:defRPr/>
            </a:pP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(1)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 제품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서비스의 개발 배경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사회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경제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기술적 관점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국내외 시장의 문제점과 기회</a:t>
            </a: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,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대표자 경험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가치관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 필요성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또는 시장에 제공할 가치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정의 </a:t>
            </a:r>
            <a:endParaRPr kumimoji="0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(2)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해당사업 관련 시장 현황 및 향후 전망 제시</a:t>
            </a:r>
            <a:endParaRPr kumimoji="0" lang="en-US" altLang="ko-KR" sz="1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228600" indent="-228600" algn="just" fontAlgn="base" latinLnBrk="1">
              <a:lnSpc>
                <a:spcPct val="160000"/>
              </a:lnSpc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   (3)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목표 고객층을 설명하고 해당 고객에게 제공할 가치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혜택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를 구체화하여 제시</a:t>
            </a:r>
            <a:endParaRPr kumimoji="0" lang="ko-KR" altLang="en-US" sz="1400" b="1" i="0" u="sng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사각형: 둥근 모서리 12">
            <a:extLst>
              <a:ext uri="{FF2B5EF4-FFF2-40B4-BE49-F238E27FC236}">
                <a16:creationId xmlns:a16="http://schemas.microsoft.com/office/drawing/2014/main" id="{09AB2E99-844F-0A07-0AA1-6F09FB4E04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4909" y="1050498"/>
            <a:ext cx="5400000" cy="412346"/>
          </a:xfrm>
          <a:prstGeom prst="roundRect">
            <a:avLst>
              <a:gd name="adj" fmla="val 50000"/>
            </a:avLst>
          </a:prstGeom>
          <a:solidFill>
            <a:srgbClr val="FFF7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742950" latinLnBrk="1">
              <a:defRPr/>
            </a:pP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  1-1. 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시장현황 및 목표고객</a:t>
            </a:r>
          </a:p>
        </p:txBody>
      </p:sp>
      <p:sp>
        <p:nvSpPr>
          <p:cNvPr id="11" name="사각형: 둥근 모서리 12">
            <a:extLst>
              <a:ext uri="{FF2B5EF4-FFF2-40B4-BE49-F238E27FC236}">
                <a16:creationId xmlns:a16="http://schemas.microsoft.com/office/drawing/2014/main" id="{A65CB487-AD14-C430-DDEF-3E9AF74682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710" y="217617"/>
            <a:ext cx="1757386" cy="224783"/>
          </a:xfrm>
          <a:prstGeom prst="roundRect">
            <a:avLst>
              <a:gd name="adj" fmla="val 50000"/>
            </a:avLst>
          </a:prstGeom>
          <a:solidFill>
            <a:srgbClr val="2393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742950" latinLnBrk="1">
              <a:defRPr/>
            </a:pPr>
            <a:r>
              <a:rPr lang="ko-KR" altLang="en-US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제</a:t>
            </a:r>
            <a:r>
              <a:rPr lang="en-US" altLang="ko-KR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18</a:t>
            </a:r>
            <a:r>
              <a:rPr lang="ko-KR" altLang="en-US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회 </a:t>
            </a: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관광벤처사업 공모  </a:t>
            </a:r>
          </a:p>
        </p:txBody>
      </p:sp>
    </p:spTree>
    <p:extLst>
      <p:ext uri="{BB962C8B-B14F-4D97-AF65-F5344CB8AC3E}">
        <p14:creationId xmlns:p14="http://schemas.microsoft.com/office/powerpoint/2010/main" val="3936492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DA50F-2806-A555-D649-9341C82EB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33D4D02B-4979-F8A3-66EB-F3AB7979B4E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9200" y="598750"/>
            <a:ext cx="32430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en-US" altLang="ko-KR" sz="2000" b="1" dirty="0">
                <a:solidFill>
                  <a:srgbClr val="2393C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01.</a:t>
            </a:r>
            <a:endParaRPr lang="ko-KR" altLang="en-US" sz="2000" b="1" dirty="0">
              <a:solidFill>
                <a:srgbClr val="2393C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D31A714-8BAA-60E3-060F-0A15A3A3D43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1599" y="598750"/>
            <a:ext cx="39274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ko-KR" altLang="en-US" sz="2000" b="1" dirty="0">
                <a:gradFill>
                  <a:gsLst>
                    <a:gs pos="22000">
                      <a:prstClr val="black"/>
                    </a:gs>
                    <a:gs pos="0">
                      <a:prstClr val="black"/>
                    </a:gs>
                  </a:gsLst>
                  <a:lin ang="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시장 및 사업모델</a:t>
            </a:r>
            <a:endParaRPr lang="ko-KR" altLang="en-US" sz="2000" b="1" dirty="0">
              <a:solidFill>
                <a:srgbClr val="0033C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1D8040-C948-DC98-7D22-DE9A9418DB79}"/>
              </a:ext>
            </a:extLst>
          </p:cNvPr>
          <p:cNvSpPr txBox="1"/>
          <p:nvPr/>
        </p:nvSpPr>
        <p:spPr>
          <a:xfrm>
            <a:off x="1311965" y="1606815"/>
            <a:ext cx="8594035" cy="390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1-2.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사업모델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(Business Model) :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사업을 통한 수익창출 프로세스와 방법 도식화</a:t>
            </a: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사각형: 둥근 모서리 12">
            <a:extLst>
              <a:ext uri="{FF2B5EF4-FFF2-40B4-BE49-F238E27FC236}">
                <a16:creationId xmlns:a16="http://schemas.microsoft.com/office/drawing/2014/main" id="{78D413EE-982A-B8B0-2B4B-59593E81EB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4909" y="1050498"/>
            <a:ext cx="5400000" cy="412346"/>
          </a:xfrm>
          <a:prstGeom prst="roundRect">
            <a:avLst>
              <a:gd name="adj" fmla="val 50000"/>
            </a:avLst>
          </a:prstGeom>
          <a:solidFill>
            <a:srgbClr val="FFF7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742950" latinLnBrk="1">
              <a:defRPr/>
            </a:pP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 1-2. 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사업모델</a:t>
            </a: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(Business Model) - 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도식화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6102C98-814F-1E05-F26F-A33DF0EF41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4148960" y="2933700"/>
            <a:ext cx="4068000" cy="3337104"/>
          </a:xfrm>
          <a:prstGeom prst="rect">
            <a:avLst/>
          </a:prstGeom>
          <a:solidFill>
            <a:schemeClr val="bg2"/>
          </a:solidFill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 </a:t>
            </a:r>
            <a:r>
              <a:rPr lang="en-US" altLang="ko-KR" sz="1050" b="1" dirty="0">
                <a:solidFill>
                  <a:schemeClr val="tx1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[01.</a:t>
            </a:r>
            <a:r>
              <a:rPr lang="ko-KR" altLang="en-US" sz="1050" b="1" dirty="0">
                <a:solidFill>
                  <a:schemeClr val="tx1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시장 및 사업모델</a:t>
            </a:r>
            <a:r>
              <a:rPr lang="en-US" altLang="ko-KR" sz="1050" b="1" dirty="0">
                <a:solidFill>
                  <a:schemeClr val="tx1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 sz="1050" b="1" dirty="0">
                <a:solidFill>
                  <a:schemeClr val="tx1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세부 작성가이드</a:t>
            </a:r>
            <a:endParaRPr lang="en-US" altLang="ko-KR" sz="1050" b="1" dirty="0">
              <a:solidFill>
                <a:schemeClr val="tx1"/>
              </a:solidFill>
              <a:highlight>
                <a:srgbClr val="FFFF00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질문 가이드</a:t>
            </a:r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ko-KR" altLang="ko-KR" sz="1050" dirty="0">
                <a:solidFill>
                  <a:schemeClr val="tx1"/>
                </a:solidFill>
                <a:latin typeface="Arial" panose="020B0604020202020204" pitchFamily="34" charset="0"/>
              </a:rPr>
              <a:t>관광객은 언제 이 문제를 겪는가?</a:t>
            </a:r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ko-KR" altLang="ko-KR" sz="1050" dirty="0">
                <a:solidFill>
                  <a:schemeClr val="tx1"/>
                </a:solidFill>
                <a:latin typeface="Arial" panose="020B0604020202020204" pitchFamily="34" charset="0"/>
              </a:rPr>
              <a:t>왜 여행 중에는 이 문제 해결에 비용을 지불하는가?</a:t>
            </a:r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ko-KR" altLang="ko-KR" sz="1050" dirty="0">
                <a:solidFill>
                  <a:schemeClr val="tx1"/>
                </a:solidFill>
                <a:latin typeface="Arial" panose="020B0604020202020204" pitchFamily="34" charset="0"/>
              </a:rPr>
              <a:t>관광이 아닌 상황에서도 동일한 문제가 성립하는가?</a:t>
            </a:r>
            <a:endParaRPr lang="en-US" altLang="ko-KR" sz="105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ko-KR" sz="105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</a:rPr>
              <a:t>수익모델</a:t>
            </a:r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</a:endParaRPr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사업모델 도식에는 </a:t>
            </a:r>
            <a:r>
              <a:rPr lang="ko-KR" altLang="en-US" sz="1050" b="1" dirty="0">
                <a:solidFill>
                  <a:schemeClr val="tx1"/>
                </a:solidFill>
                <a:latin typeface="+mn-ea"/>
              </a:rPr>
              <a:t>관광객 여정</a:t>
            </a:r>
            <a:r>
              <a:rPr lang="en-US" altLang="ko-KR" sz="105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50" b="1" dirty="0">
                <a:solidFill>
                  <a:schemeClr val="tx1"/>
                </a:solidFill>
                <a:latin typeface="+mn-ea"/>
              </a:rPr>
              <a:t>여행 전</a:t>
            </a:r>
            <a:r>
              <a:rPr lang="en-US" altLang="ko-KR" sz="1050" b="1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050" b="1" dirty="0">
                <a:solidFill>
                  <a:schemeClr val="tx1"/>
                </a:solidFill>
                <a:latin typeface="+mn-ea"/>
              </a:rPr>
              <a:t>중</a:t>
            </a:r>
            <a:r>
              <a:rPr lang="en-US" altLang="ko-KR" sz="1050" b="1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050" b="1" dirty="0">
                <a:solidFill>
                  <a:schemeClr val="tx1"/>
                </a:solidFill>
                <a:latin typeface="+mn-ea"/>
              </a:rPr>
              <a:t>후</a:t>
            </a:r>
            <a:r>
              <a:rPr lang="en-US" altLang="ko-KR" sz="1050" b="1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 중</a:t>
            </a:r>
            <a:br>
              <a:rPr lang="ko-KR" altLang="en-US" sz="1050" dirty="0">
                <a:solidFill>
                  <a:schemeClr val="tx1"/>
                </a:solidFill>
                <a:latin typeface="+mn-ea"/>
              </a:rPr>
            </a:br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어느 단계에서 수익이 발생하는지 명확히 표시 바랍니다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.</a:t>
            </a:r>
            <a:endParaRPr lang="ko-KR" altLang="ko-KR" sz="1050" dirty="0">
              <a:solidFill>
                <a:schemeClr val="tx1"/>
              </a:solidFill>
              <a:latin typeface="+mn-ea"/>
            </a:endParaRPr>
          </a:p>
          <a:p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12">
            <a:extLst>
              <a:ext uri="{FF2B5EF4-FFF2-40B4-BE49-F238E27FC236}">
                <a16:creationId xmlns:a16="http://schemas.microsoft.com/office/drawing/2014/main" id="{A65CB487-AD14-C430-DDEF-3E9AF74682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710" y="217617"/>
            <a:ext cx="1757386" cy="224783"/>
          </a:xfrm>
          <a:prstGeom prst="roundRect">
            <a:avLst>
              <a:gd name="adj" fmla="val 50000"/>
            </a:avLst>
          </a:prstGeom>
          <a:solidFill>
            <a:srgbClr val="2393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742950" latinLnBrk="1">
              <a:defRPr/>
            </a:pPr>
            <a:r>
              <a:rPr lang="ko-KR" altLang="en-US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제</a:t>
            </a:r>
            <a:r>
              <a:rPr lang="en-US" altLang="ko-KR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18</a:t>
            </a:r>
            <a:r>
              <a:rPr lang="ko-KR" altLang="en-US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회 </a:t>
            </a: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관광벤처사업 공모  </a:t>
            </a:r>
          </a:p>
        </p:txBody>
      </p:sp>
    </p:spTree>
    <p:extLst>
      <p:ext uri="{BB962C8B-B14F-4D97-AF65-F5344CB8AC3E}">
        <p14:creationId xmlns:p14="http://schemas.microsoft.com/office/powerpoint/2010/main" val="316517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B3322-AFC0-4A56-107F-0CE68FF1A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6320145E-727B-72AA-DF43-124E4C9056FB}"/>
              </a:ext>
            </a:extLst>
          </p:cNvPr>
          <p:cNvGrpSpPr/>
          <p:nvPr/>
        </p:nvGrpSpPr>
        <p:grpSpPr>
          <a:xfrm>
            <a:off x="8642231" y="118686"/>
            <a:ext cx="535107" cy="185921"/>
            <a:chOff x="10399341" y="124622"/>
            <a:chExt cx="861590" cy="299357"/>
          </a:xfrm>
        </p:grpSpPr>
        <p:pic>
          <p:nvPicPr>
            <p:cNvPr id="25" name="그래픽 83">
              <a:extLst>
                <a:ext uri="{FF2B5EF4-FFF2-40B4-BE49-F238E27FC236}">
                  <a16:creationId xmlns:a16="http://schemas.microsoft.com/office/drawing/2014/main" id="{378B3395-34C3-D237-6ADF-AA0467C5FD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rcRect r="49942"/>
            <a:stretch/>
          </p:blipFill>
          <p:spPr>
            <a:xfrm>
              <a:off x="10399341" y="124622"/>
              <a:ext cx="302431" cy="299357"/>
            </a:xfrm>
            <a:prstGeom prst="rect">
              <a:avLst/>
            </a:prstGeom>
          </p:spPr>
        </p:pic>
        <p:pic>
          <p:nvPicPr>
            <p:cNvPr id="26" name="그래픽 84">
              <a:extLst>
                <a:ext uri="{FF2B5EF4-FFF2-40B4-BE49-F238E27FC236}">
                  <a16:creationId xmlns:a16="http://schemas.microsoft.com/office/drawing/2014/main" id="{0C0CEA59-964C-926D-80E7-AC7A4C21408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733879" y="165616"/>
              <a:ext cx="527052" cy="217370"/>
            </a:xfrm>
            <a:prstGeom prst="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0CAAF9FE-D990-9E6C-4E5B-C0E48568FC9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9200" y="598750"/>
            <a:ext cx="32430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en-US" altLang="ko-KR" sz="2000" b="1" dirty="0">
                <a:solidFill>
                  <a:srgbClr val="2393C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01.</a:t>
            </a:r>
            <a:endParaRPr lang="ko-KR" altLang="en-US" sz="2000" b="1" dirty="0">
              <a:solidFill>
                <a:srgbClr val="2393C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9570A32-D3B4-A288-91A8-C3B851CB741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1599" y="598750"/>
            <a:ext cx="39274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ko-KR" altLang="en-US" sz="2000" b="1" dirty="0">
                <a:gradFill>
                  <a:gsLst>
                    <a:gs pos="22000">
                      <a:prstClr val="black"/>
                    </a:gs>
                    <a:gs pos="0">
                      <a:prstClr val="black"/>
                    </a:gs>
                  </a:gsLst>
                  <a:lin ang="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시장 및 사업모델</a:t>
            </a:r>
            <a:endParaRPr lang="ko-KR" altLang="en-US" sz="2000" b="1" dirty="0">
              <a:solidFill>
                <a:srgbClr val="0033C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881B1D-3EAE-770A-E430-63EB0D41EF23}"/>
              </a:ext>
            </a:extLst>
          </p:cNvPr>
          <p:cNvSpPr txBox="1"/>
          <p:nvPr/>
        </p:nvSpPr>
        <p:spPr>
          <a:xfrm>
            <a:off x="1311966" y="1606815"/>
            <a:ext cx="653994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1-3.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사업모델의 경쟁력</a:t>
            </a: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	(1)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차별화된 경쟁력</a:t>
            </a: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    ○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기존 대안 및 유사 솔루션 대비 명확한 차별성에 대하여 기술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 </a:t>
            </a:r>
            <a:r>
              <a:rPr kumimoji="0" lang="en-US" altLang="ko-KR" sz="1400" b="1" i="0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(2) </a:t>
            </a:r>
            <a:r>
              <a:rPr kumimoji="0" lang="ko-KR" altLang="en-US" sz="1400" b="1" i="0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보유기술이나 특별 기능 및 기법 보유사항</a:t>
            </a:r>
            <a:endParaRPr kumimoji="0" lang="en-US" altLang="ko-KR" sz="1400" b="1" i="0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685800" lvl="1" indent="-228600" algn="just" fontAlgn="base" latinLnBrk="1">
              <a:lnSpc>
                <a:spcPct val="160000"/>
              </a:lnSpc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(1)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에서 기술한 관련내용 중 추가 설명이 필요한 경우 기술</a:t>
            </a:r>
            <a:endParaRPr kumimoji="0" lang="ko-KR" altLang="en-US" sz="1400" b="1" i="0" u="sng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사각형: 둥근 모서리 12">
            <a:extLst>
              <a:ext uri="{FF2B5EF4-FFF2-40B4-BE49-F238E27FC236}">
                <a16:creationId xmlns:a16="http://schemas.microsoft.com/office/drawing/2014/main" id="{0E35653B-89B5-F123-8648-CA12EB8886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4909" y="1050498"/>
            <a:ext cx="5400000" cy="412346"/>
          </a:xfrm>
          <a:prstGeom prst="roundRect">
            <a:avLst>
              <a:gd name="adj" fmla="val 50000"/>
            </a:avLst>
          </a:prstGeom>
          <a:solidFill>
            <a:srgbClr val="FFF7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742950" latinLnBrk="1">
              <a:defRPr/>
            </a:pP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 1-3. 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사업모델의 경쟁력</a:t>
            </a:r>
          </a:p>
        </p:txBody>
      </p:sp>
      <p:sp>
        <p:nvSpPr>
          <p:cNvPr id="11" name="사각형: 둥근 모서리 12">
            <a:extLst>
              <a:ext uri="{FF2B5EF4-FFF2-40B4-BE49-F238E27FC236}">
                <a16:creationId xmlns:a16="http://schemas.microsoft.com/office/drawing/2014/main" id="{A65CB487-AD14-C430-DDEF-3E9AF74682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710" y="217617"/>
            <a:ext cx="1757386" cy="224783"/>
          </a:xfrm>
          <a:prstGeom prst="roundRect">
            <a:avLst>
              <a:gd name="adj" fmla="val 50000"/>
            </a:avLst>
          </a:prstGeom>
          <a:solidFill>
            <a:srgbClr val="2393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742950" latinLnBrk="1">
              <a:defRPr/>
            </a:pPr>
            <a:r>
              <a:rPr lang="ko-KR" altLang="en-US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제</a:t>
            </a:r>
            <a:r>
              <a:rPr lang="en-US" altLang="ko-KR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18</a:t>
            </a:r>
            <a:r>
              <a:rPr lang="ko-KR" altLang="en-US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회 </a:t>
            </a: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관광벤처사업 공모  </a:t>
            </a:r>
          </a:p>
        </p:txBody>
      </p:sp>
    </p:spTree>
    <p:extLst>
      <p:ext uri="{BB962C8B-B14F-4D97-AF65-F5344CB8AC3E}">
        <p14:creationId xmlns:p14="http://schemas.microsoft.com/office/powerpoint/2010/main" val="2741933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DE648-0A8F-0984-BEF0-2E4C77553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D29A22B6-ED91-082E-E6E4-D3844B2DD122}"/>
              </a:ext>
            </a:extLst>
          </p:cNvPr>
          <p:cNvGrpSpPr/>
          <p:nvPr/>
        </p:nvGrpSpPr>
        <p:grpSpPr>
          <a:xfrm>
            <a:off x="8642231" y="118686"/>
            <a:ext cx="535107" cy="185921"/>
            <a:chOff x="10399341" y="124622"/>
            <a:chExt cx="861590" cy="299357"/>
          </a:xfrm>
        </p:grpSpPr>
        <p:pic>
          <p:nvPicPr>
            <p:cNvPr id="25" name="그래픽 83">
              <a:extLst>
                <a:ext uri="{FF2B5EF4-FFF2-40B4-BE49-F238E27FC236}">
                  <a16:creationId xmlns:a16="http://schemas.microsoft.com/office/drawing/2014/main" id="{6C139166-89BD-156E-AA50-756920383D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rcRect r="49942"/>
            <a:stretch/>
          </p:blipFill>
          <p:spPr>
            <a:xfrm>
              <a:off x="10399341" y="124622"/>
              <a:ext cx="302431" cy="299357"/>
            </a:xfrm>
            <a:prstGeom prst="rect">
              <a:avLst/>
            </a:prstGeom>
          </p:spPr>
        </p:pic>
        <p:pic>
          <p:nvPicPr>
            <p:cNvPr id="26" name="그래픽 84">
              <a:extLst>
                <a:ext uri="{FF2B5EF4-FFF2-40B4-BE49-F238E27FC236}">
                  <a16:creationId xmlns:a16="http://schemas.microsoft.com/office/drawing/2014/main" id="{EB920812-8267-6ECC-E716-8B052E2C8D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733879" y="165616"/>
              <a:ext cx="527052" cy="217370"/>
            </a:xfrm>
            <a:prstGeom prst="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E30CE3E6-F62F-0E20-BB2F-182C6410AA5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9200" y="598750"/>
            <a:ext cx="32430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en-US" altLang="ko-KR" sz="2000" b="1" dirty="0">
                <a:solidFill>
                  <a:srgbClr val="2393C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01.</a:t>
            </a:r>
            <a:endParaRPr lang="ko-KR" altLang="en-US" sz="2000" b="1" dirty="0">
              <a:solidFill>
                <a:srgbClr val="2393C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BEB2513-7941-A60F-E45E-EF72BEB4ED5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1599" y="598750"/>
            <a:ext cx="39274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ko-KR" altLang="en-US" sz="2000" b="1" dirty="0">
                <a:gradFill>
                  <a:gsLst>
                    <a:gs pos="22000">
                      <a:prstClr val="black"/>
                    </a:gs>
                    <a:gs pos="0">
                      <a:prstClr val="black"/>
                    </a:gs>
                  </a:gsLst>
                  <a:lin ang="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시장 및 사업모델</a:t>
            </a:r>
            <a:endParaRPr lang="ko-KR" altLang="en-US" sz="2000" b="1" dirty="0">
              <a:solidFill>
                <a:srgbClr val="0033C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280FE7-36E7-7FA3-DF26-69B72226475E}"/>
              </a:ext>
            </a:extLst>
          </p:cNvPr>
          <p:cNvSpPr txBox="1"/>
          <p:nvPr/>
        </p:nvSpPr>
        <p:spPr>
          <a:xfrm>
            <a:off x="1311965" y="1606815"/>
            <a:ext cx="7677541" cy="733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just" fontAlgn="base" latinLnBrk="1">
              <a:lnSpc>
                <a:spcPct val="160000"/>
              </a:lnSpc>
              <a:defRPr/>
            </a:pP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1-4.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잠재리스크 대응 방안 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사업운영과정에서 예상되는 잠재리스크를 제시하고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이에 대한 대응방안 서술 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예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개발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·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개선하고자 하는 제품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 관련 기술 보호 계획 등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0" lang="ko-KR" altLang="en-US" sz="1400" b="1" i="0" u="sng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사각형: 둥근 모서리 12">
            <a:extLst>
              <a:ext uri="{FF2B5EF4-FFF2-40B4-BE49-F238E27FC236}">
                <a16:creationId xmlns:a16="http://schemas.microsoft.com/office/drawing/2014/main" id="{FCED77FF-271B-D716-6B44-E35034E158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4909" y="1050498"/>
            <a:ext cx="5400000" cy="412346"/>
          </a:xfrm>
          <a:prstGeom prst="roundRect">
            <a:avLst>
              <a:gd name="adj" fmla="val 50000"/>
            </a:avLst>
          </a:prstGeom>
          <a:solidFill>
            <a:srgbClr val="FFF7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742950" latinLnBrk="1">
              <a:defRPr/>
            </a:pP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 1-4. 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잠재리스크 및 대응방안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D2E16BF-92C7-8983-494C-40D4EC92A5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4148960" y="2933700"/>
            <a:ext cx="4068000" cy="3337104"/>
          </a:xfrm>
          <a:prstGeom prst="rect">
            <a:avLst/>
          </a:prstGeom>
          <a:solidFill>
            <a:schemeClr val="bg2"/>
          </a:solidFill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 </a:t>
            </a:r>
            <a:r>
              <a:rPr lang="en-US" altLang="ko-KR" sz="1050" b="1" dirty="0">
                <a:solidFill>
                  <a:schemeClr val="tx1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[01.</a:t>
            </a:r>
            <a:r>
              <a:rPr lang="ko-KR" altLang="en-US" sz="1050" b="1" dirty="0">
                <a:solidFill>
                  <a:schemeClr val="tx1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시장 및 사업모델</a:t>
            </a:r>
            <a:r>
              <a:rPr lang="en-US" altLang="ko-KR" sz="1050" b="1" dirty="0">
                <a:solidFill>
                  <a:schemeClr val="tx1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 sz="1050" b="1" dirty="0">
                <a:solidFill>
                  <a:schemeClr val="tx1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세부 작성가이드</a:t>
            </a:r>
            <a:endParaRPr lang="en-US" altLang="ko-KR" sz="1050" b="1" dirty="0">
              <a:solidFill>
                <a:schemeClr val="tx1"/>
              </a:solidFill>
              <a:highlight>
                <a:srgbClr val="FFFF00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chemeClr val="tx1"/>
                </a:solidFill>
                <a:latin typeface="Arial" panose="020B0604020202020204" pitchFamily="34" charset="0"/>
              </a:rPr>
              <a:t>주의사항</a:t>
            </a:r>
            <a:endParaRPr lang="en-US" altLang="ko-KR" sz="105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ko-KR" altLang="en-US" sz="1050" dirty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금번 사업 해당년도에 해당하는 리스크 중심으로 기재</a:t>
            </a:r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둥근 모서리 12">
            <a:extLst>
              <a:ext uri="{FF2B5EF4-FFF2-40B4-BE49-F238E27FC236}">
                <a16:creationId xmlns:a16="http://schemas.microsoft.com/office/drawing/2014/main" id="{A65CB487-AD14-C430-DDEF-3E9AF74682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710" y="217617"/>
            <a:ext cx="1757386" cy="224783"/>
          </a:xfrm>
          <a:prstGeom prst="roundRect">
            <a:avLst>
              <a:gd name="adj" fmla="val 50000"/>
            </a:avLst>
          </a:prstGeom>
          <a:solidFill>
            <a:srgbClr val="2393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742950" latinLnBrk="1">
              <a:defRPr/>
            </a:pPr>
            <a:r>
              <a:rPr lang="ko-KR" altLang="en-US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제</a:t>
            </a:r>
            <a:r>
              <a:rPr lang="en-US" altLang="ko-KR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18</a:t>
            </a:r>
            <a:r>
              <a:rPr lang="ko-KR" altLang="en-US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회 </a:t>
            </a: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관광벤처사업 공모  </a:t>
            </a:r>
          </a:p>
        </p:txBody>
      </p:sp>
    </p:spTree>
    <p:extLst>
      <p:ext uri="{BB962C8B-B14F-4D97-AF65-F5344CB8AC3E}">
        <p14:creationId xmlns:p14="http://schemas.microsoft.com/office/powerpoint/2010/main" val="434740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9E7D2-BCEC-75EA-CF5F-642111F2B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0D97A97-18D2-8D26-C7BB-7B31B8D56047}"/>
              </a:ext>
            </a:extLst>
          </p:cNvPr>
          <p:cNvGrpSpPr/>
          <p:nvPr/>
        </p:nvGrpSpPr>
        <p:grpSpPr>
          <a:xfrm>
            <a:off x="8642231" y="118686"/>
            <a:ext cx="535107" cy="185921"/>
            <a:chOff x="10399341" y="124622"/>
            <a:chExt cx="861590" cy="299357"/>
          </a:xfrm>
        </p:grpSpPr>
        <p:pic>
          <p:nvPicPr>
            <p:cNvPr id="25" name="그래픽 83">
              <a:extLst>
                <a:ext uri="{FF2B5EF4-FFF2-40B4-BE49-F238E27FC236}">
                  <a16:creationId xmlns:a16="http://schemas.microsoft.com/office/drawing/2014/main" id="{2B3D061F-2236-6AA4-2E88-8C9F598332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rcRect r="49942"/>
            <a:stretch/>
          </p:blipFill>
          <p:spPr>
            <a:xfrm>
              <a:off x="10399341" y="124622"/>
              <a:ext cx="302431" cy="299357"/>
            </a:xfrm>
            <a:prstGeom prst="rect">
              <a:avLst/>
            </a:prstGeom>
          </p:spPr>
        </p:pic>
        <p:pic>
          <p:nvPicPr>
            <p:cNvPr id="26" name="그래픽 84">
              <a:extLst>
                <a:ext uri="{FF2B5EF4-FFF2-40B4-BE49-F238E27FC236}">
                  <a16:creationId xmlns:a16="http://schemas.microsoft.com/office/drawing/2014/main" id="{E20DF2C3-F910-7507-A332-79ECDCA2F42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733879" y="165616"/>
              <a:ext cx="527052" cy="217370"/>
            </a:xfrm>
            <a:prstGeom prst="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2BB77DAF-034C-5528-29AC-5C971076692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9200" y="598750"/>
            <a:ext cx="32430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en-US" altLang="ko-KR" sz="2000" b="1" dirty="0">
                <a:solidFill>
                  <a:srgbClr val="2393C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02.</a:t>
            </a:r>
            <a:endParaRPr lang="ko-KR" altLang="en-US" sz="2000" b="1" dirty="0">
              <a:solidFill>
                <a:srgbClr val="2393C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017738B-6560-2BAD-FF76-C382617A3E7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1599" y="598750"/>
            <a:ext cx="39274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사업전략 </a:t>
            </a:r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(6P </a:t>
            </a:r>
            <a:r>
              <a:rPr lang="ko-KR" altLang="en-US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이내</a:t>
            </a:r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)</a:t>
            </a:r>
            <a:endParaRPr lang="ko-KR" altLang="en-US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603B32-9D7E-B31E-D80E-8FEC3AA09B52}"/>
              </a:ext>
            </a:extLst>
          </p:cNvPr>
          <p:cNvSpPr txBox="1"/>
          <p:nvPr/>
        </p:nvSpPr>
        <p:spPr>
          <a:xfrm>
            <a:off x="1311966" y="1606815"/>
            <a:ext cx="8060634" cy="734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just" fontAlgn="base" latinLnBrk="1">
              <a:lnSpc>
                <a:spcPct val="160000"/>
              </a:lnSpc>
              <a:defRPr/>
            </a:pP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2-1.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인프라 개발 계획 </a:t>
            </a:r>
            <a:endParaRPr lang="en-US" altLang="ko-KR" sz="1400" b="1" kern="0" dirty="0" smtClean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 fontAlgn="base" latinLnBrk="1">
              <a:lnSpc>
                <a:spcPct val="160000"/>
              </a:lnSpc>
              <a:defRPr/>
            </a:pPr>
            <a:r>
              <a:rPr lang="en-US" altLang="ko-KR" sz="1400" b="1" kern="0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사업화에 필요한 상품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인프라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시설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IT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플랫폼 등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 계획을 구체적으로 서술 </a:t>
            </a:r>
          </a:p>
        </p:txBody>
      </p:sp>
      <p:sp>
        <p:nvSpPr>
          <p:cNvPr id="6" name="사각형: 둥근 모서리 12">
            <a:extLst>
              <a:ext uri="{FF2B5EF4-FFF2-40B4-BE49-F238E27FC236}">
                <a16:creationId xmlns:a16="http://schemas.microsoft.com/office/drawing/2014/main" id="{14D1F638-58FD-A210-7D83-624228C2FB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4909" y="1050498"/>
            <a:ext cx="5400000" cy="412346"/>
          </a:xfrm>
          <a:prstGeom prst="roundRect">
            <a:avLst>
              <a:gd name="adj" fmla="val 50000"/>
            </a:avLst>
          </a:prstGeom>
          <a:solidFill>
            <a:srgbClr val="FFF7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742950" latinLnBrk="1">
              <a:defRPr/>
            </a:pP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 2-1. 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상품</a:t>
            </a: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‧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서비스</a:t>
            </a: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‧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인프라 개발 계획</a:t>
            </a:r>
          </a:p>
        </p:txBody>
      </p:sp>
      <p:sp>
        <p:nvSpPr>
          <p:cNvPr id="10" name="사각형: 둥근 모서리 12">
            <a:extLst>
              <a:ext uri="{FF2B5EF4-FFF2-40B4-BE49-F238E27FC236}">
                <a16:creationId xmlns:a16="http://schemas.microsoft.com/office/drawing/2014/main" id="{A65CB487-AD14-C430-DDEF-3E9AF74682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710" y="217617"/>
            <a:ext cx="1757386" cy="224783"/>
          </a:xfrm>
          <a:prstGeom prst="roundRect">
            <a:avLst>
              <a:gd name="adj" fmla="val 50000"/>
            </a:avLst>
          </a:prstGeom>
          <a:solidFill>
            <a:srgbClr val="2393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742950" latinLnBrk="1">
              <a:defRPr/>
            </a:pPr>
            <a:r>
              <a:rPr lang="ko-KR" altLang="en-US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제</a:t>
            </a:r>
            <a:r>
              <a:rPr lang="en-US" altLang="ko-KR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18</a:t>
            </a:r>
            <a:r>
              <a:rPr lang="ko-KR" altLang="en-US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회 </a:t>
            </a: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관광벤처사업 공모  </a:t>
            </a:r>
          </a:p>
        </p:txBody>
      </p:sp>
    </p:spTree>
    <p:extLst>
      <p:ext uri="{BB962C8B-B14F-4D97-AF65-F5344CB8AC3E}">
        <p14:creationId xmlns:p14="http://schemas.microsoft.com/office/powerpoint/2010/main" val="1677271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F4F92-2559-6DA3-A45D-91F7FBCFC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97F9E0D6-2BD2-3173-DBAF-4BA4829E7ECA}"/>
              </a:ext>
            </a:extLst>
          </p:cNvPr>
          <p:cNvGrpSpPr/>
          <p:nvPr/>
        </p:nvGrpSpPr>
        <p:grpSpPr>
          <a:xfrm>
            <a:off x="8642231" y="118686"/>
            <a:ext cx="535107" cy="185921"/>
            <a:chOff x="10399341" y="124622"/>
            <a:chExt cx="861590" cy="299357"/>
          </a:xfrm>
        </p:grpSpPr>
        <p:pic>
          <p:nvPicPr>
            <p:cNvPr id="25" name="그래픽 83">
              <a:extLst>
                <a:ext uri="{FF2B5EF4-FFF2-40B4-BE49-F238E27FC236}">
                  <a16:creationId xmlns:a16="http://schemas.microsoft.com/office/drawing/2014/main" id="{6A6D9C48-8103-68F0-5569-285D27D89B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rcRect r="49942"/>
            <a:stretch/>
          </p:blipFill>
          <p:spPr>
            <a:xfrm>
              <a:off x="10399341" y="124622"/>
              <a:ext cx="302431" cy="299357"/>
            </a:xfrm>
            <a:prstGeom prst="rect">
              <a:avLst/>
            </a:prstGeom>
          </p:spPr>
        </p:pic>
        <p:pic>
          <p:nvPicPr>
            <p:cNvPr id="26" name="그래픽 84">
              <a:extLst>
                <a:ext uri="{FF2B5EF4-FFF2-40B4-BE49-F238E27FC236}">
                  <a16:creationId xmlns:a16="http://schemas.microsoft.com/office/drawing/2014/main" id="{DF98770E-7F9A-4F61-EA86-CFEFAF618E3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733879" y="165616"/>
              <a:ext cx="527052" cy="217370"/>
            </a:xfrm>
            <a:prstGeom prst="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C0433088-016E-94CE-49B6-E42121FABDB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9200" y="598750"/>
            <a:ext cx="32430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en-US" altLang="ko-KR" sz="2000" b="1" dirty="0">
                <a:solidFill>
                  <a:srgbClr val="2393C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02.</a:t>
            </a:r>
            <a:endParaRPr lang="ko-KR" altLang="en-US" sz="2000" b="1" dirty="0">
              <a:solidFill>
                <a:srgbClr val="2393C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355F37F-8ECA-8288-8AD8-FCD5E20A9F3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1599" y="598750"/>
            <a:ext cx="39274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사업전략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22752C-87DE-3035-BEB6-D3E97871E375}"/>
              </a:ext>
            </a:extLst>
          </p:cNvPr>
          <p:cNvSpPr txBox="1"/>
          <p:nvPr/>
        </p:nvSpPr>
        <p:spPr>
          <a:xfrm>
            <a:off x="1311966" y="1606815"/>
            <a:ext cx="7538036" cy="1079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just" fontAlgn="base" latinLnBrk="1">
              <a:lnSpc>
                <a:spcPct val="160000"/>
              </a:lnSpc>
              <a:defRPr/>
            </a:pP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2-2.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홍보 및 판로개척 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구체적인 방법 및 일정계획을 포함하여 작성</a:t>
            </a: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85800" lvl="1" indent="-228600" algn="just" fontAlgn="base" latinLnBrk="1">
              <a:lnSpc>
                <a:spcPct val="160000"/>
              </a:lnSpc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목표 고객에 맞춰진 홍보 및 판로 개척 전략 서술</a:t>
            </a: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85800" lvl="1" indent="-228600" algn="just" fontAlgn="base" latinLnBrk="1">
              <a:lnSpc>
                <a:spcPct val="160000"/>
              </a:lnSpc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 구체적인 방안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예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박람회 참여 계획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B2B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영업 계획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작성</a:t>
            </a: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사각형: 둥근 모서리 12">
            <a:extLst>
              <a:ext uri="{FF2B5EF4-FFF2-40B4-BE49-F238E27FC236}">
                <a16:creationId xmlns:a16="http://schemas.microsoft.com/office/drawing/2014/main" id="{AB2ECDB7-29C8-8A2D-4484-7E9778BD31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4909" y="1050498"/>
            <a:ext cx="5400000" cy="412346"/>
          </a:xfrm>
          <a:prstGeom prst="roundRect">
            <a:avLst>
              <a:gd name="adj" fmla="val 50000"/>
            </a:avLst>
          </a:prstGeom>
          <a:solidFill>
            <a:srgbClr val="FFF7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742950" latinLnBrk="1">
              <a:defRPr/>
            </a:pP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 2-2. 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홍보 및 판로개척</a:t>
            </a:r>
          </a:p>
        </p:txBody>
      </p:sp>
      <p:sp>
        <p:nvSpPr>
          <p:cNvPr id="10" name="사각형: 둥근 모서리 12">
            <a:extLst>
              <a:ext uri="{FF2B5EF4-FFF2-40B4-BE49-F238E27FC236}">
                <a16:creationId xmlns:a16="http://schemas.microsoft.com/office/drawing/2014/main" id="{A65CB487-AD14-C430-DDEF-3E9AF74682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710" y="217617"/>
            <a:ext cx="1757386" cy="224783"/>
          </a:xfrm>
          <a:prstGeom prst="roundRect">
            <a:avLst>
              <a:gd name="adj" fmla="val 50000"/>
            </a:avLst>
          </a:prstGeom>
          <a:solidFill>
            <a:srgbClr val="2393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742950" latinLnBrk="1">
              <a:defRPr/>
            </a:pPr>
            <a:r>
              <a:rPr lang="ko-KR" altLang="en-US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제</a:t>
            </a:r>
            <a:r>
              <a:rPr lang="en-US" altLang="ko-KR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18</a:t>
            </a:r>
            <a:r>
              <a:rPr lang="ko-KR" altLang="en-US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회 </a:t>
            </a: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관광벤처사업 공모  </a:t>
            </a:r>
          </a:p>
        </p:txBody>
      </p:sp>
    </p:spTree>
    <p:extLst>
      <p:ext uri="{BB962C8B-B14F-4D97-AF65-F5344CB8AC3E}">
        <p14:creationId xmlns:p14="http://schemas.microsoft.com/office/powerpoint/2010/main" val="4144262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576F6-5B9F-6E21-0178-9DED45735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70D3DFA5-E209-1C1B-E6EA-F612C7F42131}"/>
              </a:ext>
            </a:extLst>
          </p:cNvPr>
          <p:cNvGrpSpPr/>
          <p:nvPr/>
        </p:nvGrpSpPr>
        <p:grpSpPr>
          <a:xfrm>
            <a:off x="8642231" y="118686"/>
            <a:ext cx="535107" cy="185921"/>
            <a:chOff x="10399341" y="124622"/>
            <a:chExt cx="861590" cy="299357"/>
          </a:xfrm>
        </p:grpSpPr>
        <p:pic>
          <p:nvPicPr>
            <p:cNvPr id="25" name="그래픽 83">
              <a:extLst>
                <a:ext uri="{FF2B5EF4-FFF2-40B4-BE49-F238E27FC236}">
                  <a16:creationId xmlns:a16="http://schemas.microsoft.com/office/drawing/2014/main" id="{8F52BEB2-C701-157F-4AF4-218F68CB86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rcRect r="49942"/>
            <a:stretch/>
          </p:blipFill>
          <p:spPr>
            <a:xfrm>
              <a:off x="10399341" y="124622"/>
              <a:ext cx="302431" cy="299357"/>
            </a:xfrm>
            <a:prstGeom prst="rect">
              <a:avLst/>
            </a:prstGeom>
          </p:spPr>
        </p:pic>
        <p:pic>
          <p:nvPicPr>
            <p:cNvPr id="26" name="그래픽 84">
              <a:extLst>
                <a:ext uri="{FF2B5EF4-FFF2-40B4-BE49-F238E27FC236}">
                  <a16:creationId xmlns:a16="http://schemas.microsoft.com/office/drawing/2014/main" id="{3F81D7B1-FC72-B8C2-4D2F-5BE630599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733879" y="165616"/>
              <a:ext cx="527052" cy="217370"/>
            </a:xfrm>
            <a:prstGeom prst="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B48BAD00-51F1-B42D-9757-65BEC0C35D7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9200" y="598750"/>
            <a:ext cx="32430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en-US" altLang="ko-KR" sz="2000" b="1" dirty="0">
                <a:solidFill>
                  <a:srgbClr val="2393C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02.</a:t>
            </a:r>
            <a:endParaRPr lang="ko-KR" altLang="en-US" sz="2000" b="1" dirty="0">
              <a:solidFill>
                <a:srgbClr val="2393C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3C19A2F-CBB5-F59E-2F13-75E1DB148CA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1599" y="598750"/>
            <a:ext cx="39274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사업전략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AC8C4C-FEE0-A596-F931-E9FDE2573BDB}"/>
              </a:ext>
            </a:extLst>
          </p:cNvPr>
          <p:cNvSpPr txBox="1"/>
          <p:nvPr/>
        </p:nvSpPr>
        <p:spPr>
          <a:xfrm>
            <a:off x="1311965" y="1606815"/>
            <a:ext cx="7912998" cy="1471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2-3.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자금조달 및 집행계획 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(1)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자금 필요성 및 금액 적정성 여부를 판단할 수 있도록 </a:t>
            </a:r>
            <a:r>
              <a:rPr lang="ko-KR" altLang="en-US" sz="1400" b="1" u="sng" kern="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사업화자금</a:t>
            </a:r>
            <a:r>
              <a:rPr lang="en-US" altLang="ko-KR" sz="1400" b="1" u="sng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u="sng" kern="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사업화지원금</a:t>
            </a:r>
            <a:r>
              <a:rPr lang="en-US" altLang="ko-KR" sz="1400" b="1" u="sng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 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</a:t>
            </a:r>
            <a:r>
              <a:rPr lang="ko-KR" altLang="en-US" sz="1400" b="1" u="sng" kern="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자부담</a:t>
            </a:r>
            <a:r>
              <a:rPr lang="en-US" altLang="ko-KR" sz="1400" b="1" u="sng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400" b="1" u="sng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집행계획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작성</a:t>
            </a: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(2)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자금 집행 계획 제시 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 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참조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6" name="사각형: 둥근 모서리 12">
            <a:extLst>
              <a:ext uri="{FF2B5EF4-FFF2-40B4-BE49-F238E27FC236}">
                <a16:creationId xmlns:a16="http://schemas.microsoft.com/office/drawing/2014/main" id="{4E78273F-2CCF-71CD-0D31-77760507A8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4909" y="1050498"/>
            <a:ext cx="5400000" cy="412346"/>
          </a:xfrm>
          <a:prstGeom prst="roundRect">
            <a:avLst>
              <a:gd name="adj" fmla="val 50000"/>
            </a:avLst>
          </a:prstGeom>
          <a:solidFill>
            <a:srgbClr val="FFF7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742950" latinLnBrk="1">
              <a:defRPr/>
            </a:pP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 2-3. 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자금조달 및 집행계획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A72964-B2C1-B7C6-E78A-DD64DA2D78B8}"/>
              </a:ext>
            </a:extLst>
          </p:cNvPr>
          <p:cNvSpPr txBox="1"/>
          <p:nvPr/>
        </p:nvSpPr>
        <p:spPr>
          <a:xfrm>
            <a:off x="404399" y="3221958"/>
            <a:ext cx="92310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US" altLang="ko-KR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표</a:t>
            </a:r>
            <a:r>
              <a:rPr kumimoji="0" lang="en-US" altLang="ko-KR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1] </a:t>
            </a:r>
            <a:r>
              <a:rPr kumimoji="0" lang="ko-KR" altLang="en-US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자금조달 및 비용 집행 계획</a:t>
            </a:r>
            <a:endParaRPr lang="ko-KR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3432400D-B9D7-BF82-0CB1-C3EA751460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-4140200" y="-69574"/>
                <a:ext cx="4068000" cy="6813275"/>
              </a:xfrm>
              <a:prstGeom prst="rect">
                <a:avLst/>
              </a:prstGeom>
              <a:solidFill>
                <a:schemeClr val="bg2"/>
              </a:solidFill>
              <a:ln w="28575"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altLang="ko-KR" sz="105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※ 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en-US" altLang="ko-KR" sz="1050" b="1" dirty="0">
                    <a:solidFill>
                      <a:schemeClr val="tx1"/>
                    </a:solidFill>
                    <a:highlight>
                      <a:srgbClr val="FFFF00"/>
                    </a:highlight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[</a:t>
                </a:r>
                <a:r>
                  <a:rPr lang="ko-KR" altLang="en-US" sz="1050" b="1" dirty="0">
                    <a:solidFill>
                      <a:schemeClr val="tx1"/>
                    </a:solidFill>
                    <a:highlight>
                      <a:srgbClr val="FFFF00"/>
                    </a:highlight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표</a:t>
                </a:r>
                <a:r>
                  <a:rPr lang="en-US" altLang="ko-KR" sz="1050" b="1" dirty="0">
                    <a:solidFill>
                      <a:schemeClr val="tx1"/>
                    </a:solidFill>
                    <a:highlight>
                      <a:srgbClr val="FFFF00"/>
                    </a:highlight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1] </a:t>
                </a:r>
                <a:r>
                  <a:rPr lang="ko-KR" altLang="en-US" sz="1050" b="1" dirty="0">
                    <a:solidFill>
                      <a:schemeClr val="tx1"/>
                    </a:solidFill>
                    <a:highlight>
                      <a:srgbClr val="FFFF00"/>
                    </a:highlight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세부 작성가이드</a:t>
                </a:r>
                <a:endParaRPr lang="en-US" altLang="ko-KR" sz="1050" b="1" dirty="0">
                  <a:solidFill>
                    <a:schemeClr val="tx1"/>
                  </a:solidFill>
                  <a:highlight>
                    <a:srgbClr val="FFFF00"/>
                  </a:highlight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050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정부지원금의 총합은 </a:t>
                </a:r>
                <a:r>
                  <a:rPr lang="en-US" altLang="ko-KR" sz="1050" u="sng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8</a:t>
                </a:r>
                <a:r>
                  <a:rPr lang="ko-KR" altLang="en-US" sz="1050" u="sng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천만원</a:t>
                </a:r>
                <a:r>
                  <a:rPr lang="ko-KR" altLang="en-US" sz="1050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한도 이내로 작성</a:t>
                </a:r>
                <a:r>
                  <a:rPr lang="en-US" altLang="ko-KR" sz="1050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50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자부담은 정부지원금의 </a:t>
                </a:r>
                <a:r>
                  <a:rPr lang="en-US" altLang="ko-KR" sz="1050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20%</a:t>
                </a:r>
                <a:r>
                  <a:rPr lang="ko-KR" altLang="en-US" sz="1050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로 구성하여 작성 </a:t>
                </a:r>
                <a:r>
                  <a:rPr lang="ko-KR" altLang="en-US" sz="1050" dirty="0" smtClean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（</a:t>
                </a:r>
                <a:r>
                  <a:rPr lang="ko-KR" altLang="en-US" sz="1050" dirty="0" err="1" smtClean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자부담을</a:t>
                </a:r>
                <a:r>
                  <a:rPr lang="ko-KR" altLang="en-US" sz="1050" dirty="0" smtClean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1050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정부지원금 </a:t>
                </a:r>
                <a:r>
                  <a:rPr lang="en-US" altLang="ko-KR" sz="1050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20% </a:t>
                </a:r>
                <a:r>
                  <a:rPr lang="ko-KR" altLang="en-US" sz="1050" dirty="0" smtClean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초과로 </a:t>
                </a:r>
                <a:r>
                  <a:rPr lang="ko-KR" altLang="en-US" sz="1050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설정하지 말 것）</a:t>
                </a:r>
                <a:r>
                  <a:rPr lang="en-US" altLang="ko-KR" sz="1050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050" dirty="0">
                    <a:solidFill>
                      <a:schemeClr val="tx1"/>
                    </a:solidFill>
                  </a:rPr>
                  <a:t>최대 총 사업비 </a:t>
                </a:r>
                <a:r>
                  <a:rPr lang="en-US" altLang="ko-KR" sz="1050" dirty="0">
                    <a:solidFill>
                      <a:schemeClr val="tx1"/>
                    </a:solidFill>
                  </a:rPr>
                  <a:t>96</a:t>
                </a:r>
                <a:r>
                  <a:rPr lang="ko-KR" altLang="en-US" sz="1050" dirty="0">
                    <a:solidFill>
                      <a:schemeClr val="tx1"/>
                    </a:solidFill>
                  </a:rPr>
                  <a:t>백만원 이내여야 함</a:t>
                </a:r>
                <a:endParaRPr lang="en-US" altLang="ko-KR" sz="1050" dirty="0">
                  <a:solidFill>
                    <a:schemeClr val="tx1"/>
                  </a:solidFill>
                </a:endParaRPr>
              </a:p>
              <a:p>
                <a:r>
                  <a:rPr lang="en-US" altLang="ko-KR" sz="1050" dirty="0">
                    <a:solidFill>
                      <a:schemeClr val="tx1"/>
                    </a:solidFill>
                  </a:rPr>
                  <a:t>     </a:t>
                </a:r>
                <a:r>
                  <a:rPr lang="ko-KR" altLang="en-US" sz="1050" dirty="0">
                    <a:solidFill>
                      <a:schemeClr val="tx1"/>
                    </a:solidFill>
                  </a:rPr>
                  <a:t>예</a:t>
                </a:r>
                <a:r>
                  <a:rPr lang="en-US" altLang="ko-KR" sz="1050" dirty="0">
                    <a:solidFill>
                      <a:schemeClr val="tx1"/>
                    </a:solidFill>
                  </a:rPr>
                  <a:t>1) (</a:t>
                </a:r>
                <a:r>
                  <a:rPr lang="ko-KR" altLang="en-US" sz="1050" dirty="0" err="1">
                    <a:solidFill>
                      <a:schemeClr val="tx1"/>
                    </a:solidFill>
                  </a:rPr>
                  <a:t>사업화지원금</a:t>
                </a:r>
                <a:r>
                  <a:rPr lang="en-US" altLang="ko-KR" sz="1050" dirty="0">
                    <a:solidFill>
                      <a:schemeClr val="tx1"/>
                    </a:solidFill>
                  </a:rPr>
                  <a:t>)</a:t>
                </a:r>
                <a:r>
                  <a:rPr lang="ko-KR" altLang="en-US" sz="105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sz="1050" dirty="0">
                    <a:solidFill>
                      <a:schemeClr val="tx1"/>
                    </a:solidFill>
                  </a:rPr>
                  <a:t>8</a:t>
                </a:r>
                <a:r>
                  <a:rPr lang="ko-KR" altLang="en-US" sz="1050" dirty="0">
                    <a:solidFill>
                      <a:schemeClr val="tx1"/>
                    </a:solidFill>
                  </a:rPr>
                  <a:t>천만원</a:t>
                </a:r>
                <a:r>
                  <a:rPr lang="en-US" altLang="ko-KR" sz="1050" dirty="0">
                    <a:solidFill>
                      <a:schemeClr val="tx1"/>
                    </a:solidFill>
                  </a:rPr>
                  <a:t>, (</a:t>
                </a:r>
                <a:r>
                  <a:rPr lang="ko-KR" altLang="en-US" sz="1050" dirty="0" err="1">
                    <a:solidFill>
                      <a:schemeClr val="tx1"/>
                    </a:solidFill>
                  </a:rPr>
                  <a:t>자부담</a:t>
                </a:r>
                <a:r>
                  <a:rPr lang="en-US" altLang="ko-KR" sz="1050" dirty="0">
                    <a:solidFill>
                      <a:schemeClr val="tx1"/>
                    </a:solidFill>
                  </a:rPr>
                  <a:t>) 16</a:t>
                </a:r>
                <a:r>
                  <a:rPr lang="ko-KR" altLang="en-US" sz="1050" dirty="0">
                    <a:solidFill>
                      <a:schemeClr val="tx1"/>
                    </a:solidFill>
                  </a:rPr>
                  <a:t>백 만원</a:t>
                </a:r>
                <a:endParaRPr lang="en-US" altLang="ko-KR" sz="1050" dirty="0">
                  <a:solidFill>
                    <a:schemeClr val="tx1"/>
                  </a:solidFill>
                </a:endParaRPr>
              </a:p>
              <a:p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예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2) </a:t>
                </a:r>
                <a:r>
                  <a:rPr lang="en-US" altLang="ko-KR" sz="105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50" dirty="0" err="1">
                    <a:solidFill>
                      <a:schemeClr val="tx1"/>
                    </a:solidFill>
                  </a:rPr>
                  <a:t>사업화지원금</a:t>
                </a:r>
                <a:r>
                  <a:rPr lang="en-US" altLang="ko-KR" sz="1050" dirty="0">
                    <a:solidFill>
                      <a:schemeClr val="tx1"/>
                    </a:solidFill>
                  </a:rPr>
                  <a:t>)</a:t>
                </a:r>
                <a:r>
                  <a:rPr lang="ko-KR" altLang="en-US" sz="1050" dirty="0">
                    <a:solidFill>
                      <a:schemeClr val="tx1"/>
                    </a:solidFill>
                  </a:rPr>
                  <a:t> ６천만원</a:t>
                </a:r>
                <a:r>
                  <a:rPr lang="en-US" altLang="ko-KR" sz="1050" dirty="0">
                    <a:solidFill>
                      <a:schemeClr val="tx1"/>
                    </a:solidFill>
                  </a:rPr>
                  <a:t>, (</a:t>
                </a:r>
                <a:r>
                  <a:rPr lang="ko-KR" altLang="en-US" sz="1050" dirty="0" err="1">
                    <a:solidFill>
                      <a:schemeClr val="tx1"/>
                    </a:solidFill>
                  </a:rPr>
                  <a:t>자부담</a:t>
                </a:r>
                <a:r>
                  <a:rPr lang="en-US" altLang="ko-KR" sz="1050" dirty="0">
                    <a:solidFill>
                      <a:schemeClr val="tx1"/>
                    </a:solidFill>
                  </a:rPr>
                  <a:t>) </a:t>
                </a:r>
                <a:r>
                  <a:rPr lang="en-US" altLang="ko-KR" sz="1050" dirty="0" smtClean="0">
                    <a:solidFill>
                      <a:schemeClr val="tx1"/>
                    </a:solidFill>
                  </a:rPr>
                  <a:t>12</a:t>
                </a:r>
                <a:r>
                  <a:rPr lang="ko-KR" altLang="en-US" sz="1050" dirty="0" smtClean="0">
                    <a:solidFill>
                      <a:schemeClr val="tx1"/>
                    </a:solidFill>
                  </a:rPr>
                  <a:t>백 </a:t>
                </a:r>
                <a:r>
                  <a:rPr lang="ko-KR" altLang="en-US" sz="1050" dirty="0">
                    <a:solidFill>
                      <a:schemeClr val="tx1"/>
                    </a:solidFill>
                  </a:rPr>
                  <a:t>만원</a:t>
                </a:r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예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3) </a:t>
                </a:r>
                <a:r>
                  <a:rPr lang="en-US" altLang="ko-KR" sz="105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50" dirty="0" err="1">
                    <a:solidFill>
                      <a:schemeClr val="tx1"/>
                    </a:solidFill>
                  </a:rPr>
                  <a:t>사업화지원금</a:t>
                </a:r>
                <a:r>
                  <a:rPr lang="en-US" altLang="ko-KR" sz="1050" dirty="0">
                    <a:solidFill>
                      <a:schemeClr val="tx1"/>
                    </a:solidFill>
                  </a:rPr>
                  <a:t>)</a:t>
                </a:r>
                <a:r>
                  <a:rPr lang="ko-KR" altLang="en-US" sz="1050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４천만원</a:t>
                </a:r>
                <a:r>
                  <a:rPr lang="en-US" altLang="ko-KR" sz="1050" dirty="0">
                    <a:solidFill>
                      <a:schemeClr val="tx1"/>
                    </a:solidFill>
                  </a:rPr>
                  <a:t> , (</a:t>
                </a:r>
                <a:r>
                  <a:rPr lang="ko-KR" altLang="en-US" sz="1050" dirty="0" err="1">
                    <a:solidFill>
                      <a:schemeClr val="tx1"/>
                    </a:solidFill>
                  </a:rPr>
                  <a:t>자부담</a:t>
                </a:r>
                <a:r>
                  <a:rPr lang="en-US" altLang="ko-KR" sz="1050" dirty="0">
                    <a:solidFill>
                      <a:schemeClr val="tx1"/>
                    </a:solidFill>
                  </a:rPr>
                  <a:t>) 8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백만원</a:t>
                </a:r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모집공고 속 </a:t>
                </a:r>
                <a:r>
                  <a:rPr lang="en-US" altLang="ko-KR" sz="105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‘</a:t>
                </a:r>
                <a:r>
                  <a:rPr lang="ko-KR" altLang="en-US" sz="1050" b="1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붙임</a:t>
                </a:r>
                <a:r>
                  <a:rPr lang="en-US" altLang="ko-KR" sz="105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</a:t>
                </a:r>
                <a:r>
                  <a:rPr lang="en-US" altLang="ko-KR" sz="1050" b="1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 </a:t>
                </a:r>
                <a:r>
                  <a:rPr lang="ko-KR" altLang="en-US" sz="1050" b="1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사업비 자금 사용기준</a:t>
                </a:r>
                <a:r>
                  <a:rPr lang="en-US" altLang="ko-KR" sz="1050" b="1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’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을 참고하여 작성 요망</a:t>
                </a:r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</a:t>
                </a:r>
                <a:r>
                  <a:rPr lang="en-US" altLang="ko-KR" sz="1050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* </a:t>
                </a:r>
                <a:r>
                  <a:rPr lang="ko-KR" altLang="en-US" sz="1050" dirty="0" err="1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자부담의</a:t>
                </a:r>
                <a:r>
                  <a:rPr lang="ko-KR" altLang="en-US" sz="1050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경우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아래 항목에만 지출 가능함 </a:t>
                </a:r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en-US" altLang="ko-KR" sz="1050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- </a:t>
                </a:r>
                <a:r>
                  <a:rPr lang="ko-KR" altLang="en-US" sz="1050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인건비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</a:rPr>
                  <a:t>(</a:t>
                </a:r>
                <a:r>
                  <a:rPr lang="ko-KR" altLang="en-US" sz="1050" dirty="0" err="1">
                    <a:solidFill>
                      <a:schemeClr val="tx1"/>
                    </a:solidFill>
                    <a:latin typeface="맑은 고딕" panose="020B0503020000020004" pitchFamily="50" charset="-127"/>
                  </a:rPr>
                  <a:t>협약기간내</a:t>
                </a:r>
                <a:r>
                  <a:rPr lang="en-US" altLang="ko-KR" sz="1050" dirty="0" smtClean="0">
                    <a:solidFill>
                      <a:schemeClr val="tx1"/>
                    </a:solidFill>
                    <a:latin typeface="맑은 고딕" panose="020B0503020000020004" pitchFamily="50" charset="-127"/>
                  </a:rPr>
                  <a:t>)</a:t>
                </a:r>
                <a:endParaRPr lang="en-US" altLang="ko-KR" sz="1050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en-US" altLang="ko-KR" sz="1050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</a:t>
                </a:r>
                <a:r>
                  <a:rPr lang="ko-KR" altLang="en-US" sz="1050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①</a:t>
                </a:r>
                <a:r>
                  <a:rPr lang="en-US" altLang="ko-KR" sz="1050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1050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대표자 인건비</a:t>
                </a:r>
                <a:r>
                  <a:rPr lang="en-US" altLang="ko-KR" sz="1050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1050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집행된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월 급여총액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개인사업자의 경우 당해 </a:t>
                </a:r>
                <a:r>
                  <a:rPr lang="ko-KR" altLang="en-US" sz="1050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    연도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최저임금 수준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으로 </a:t>
                </a:r>
                <a:r>
                  <a:rPr lang="ko-KR" altLang="en-US" sz="1050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정산 가능하며</a:t>
                </a:r>
                <a:r>
                  <a:rPr lang="en-US" altLang="ko-KR" sz="1050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</a:t>
                </a:r>
                <a:r>
                  <a:rPr lang="ko-KR" altLang="en-US" sz="1050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사업자등록일로부터 </a:t>
                </a:r>
                <a:r>
                  <a:rPr lang="ko-KR" altLang="en-US" sz="1050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일할 계산하여 인정</a:t>
                </a:r>
                <a:endParaRPr lang="en-US" altLang="ko-KR" sz="1050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en-US" altLang="ko-KR" sz="1050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</a:t>
                </a:r>
                <a:r>
                  <a:rPr lang="ko-KR" altLang="en-US" sz="1050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②</a:t>
                </a:r>
                <a:r>
                  <a:rPr lang="en-US" altLang="ko-KR" sz="1050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1050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직원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1050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사업화지원금으로 </a:t>
                </a:r>
                <a:r>
                  <a:rPr lang="ko-KR" altLang="en-US" sz="1050" dirty="0" err="1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미집행되는</a:t>
                </a:r>
                <a:r>
                  <a:rPr lang="ko-KR" altLang="en-US" sz="1050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인력</a:t>
                </a:r>
                <a:r>
                  <a:rPr lang="en-US" altLang="ko-KR" sz="1050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): 4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대 </a:t>
                </a:r>
                <a:r>
                  <a:rPr lang="ko-KR" altLang="en-US" sz="1050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보험 취득일로부터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일할 </a:t>
                </a:r>
                <a:r>
                  <a:rPr lang="ko-KR" altLang="en-US" sz="1050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계산하여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월 급여액으로 인정</a:t>
                </a:r>
              </a:p>
              <a:p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en-US" altLang="ko-KR" sz="1050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※ </a:t>
                </a:r>
                <a:r>
                  <a:rPr lang="ko-KR" altLang="en-US" sz="1050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대표자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개인사업자 대표 제외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및 직원 인건비의 경우에는 근로계약서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급여대장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이체영수증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4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대 </a:t>
                </a:r>
                <a:r>
                  <a:rPr lang="ko-KR" altLang="en-US" sz="1050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보험가입확인서 제출 必 </a:t>
                </a:r>
                <a:r>
                  <a:rPr lang="en-US" altLang="ko-KR" sz="1050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1050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개인사업자의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경우 사업비신청서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사업자등록증 제출</a:t>
                </a:r>
                <a:r>
                  <a:rPr lang="ko-KR" altLang="en-US" sz="1050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）</a:t>
                </a:r>
                <a:endParaRPr lang="en-US" altLang="ko-KR" sz="1050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en-US" altLang="ko-KR" sz="1050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- </a:t>
                </a:r>
                <a:r>
                  <a:rPr lang="ko-KR" altLang="en-US" sz="1050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그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외 비용： ‘</a:t>
                </a:r>
                <a:r>
                  <a:rPr lang="ko-KR" altLang="en-US" sz="1050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붙임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</a:t>
                </a:r>
                <a:r>
                  <a:rPr lang="en-US" altLang="ko-KR" sz="1050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1050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사업비 자금 사용기준’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중 사업화지원금 과 명확히 구분되는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중복되지 않는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내역</a:t>
                </a:r>
              </a:p>
              <a:p>
                <a:endParaRPr lang="en-US" altLang="ko-KR" sz="105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참고１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</a:t>
                </a:r>
                <a:r>
                  <a:rPr lang="ko-KR" altLang="en-US" sz="1050" dirty="0" err="1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자부담비는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1050" dirty="0" err="1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협약기간</a:t>
                </a:r>
                <a:r>
                  <a:rPr lang="ko-KR" altLang="en-US" sz="1050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종료일 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개월 </a:t>
                </a:r>
                <a:r>
                  <a:rPr lang="ko-KR" altLang="en-US" sz="1050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전까지 전액 </a:t>
                </a:r>
                <a:r>
                  <a:rPr lang="ko-KR" altLang="en-US" sz="1050" dirty="0" err="1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집행하여야하며</a:t>
                </a:r>
                <a:r>
                  <a:rPr lang="en-US" altLang="ko-KR" sz="1050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50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단 인건비 및 공간임차료는 </a:t>
                </a:r>
                <a:r>
                  <a:rPr lang="ko-KR" altLang="en-US" sz="1050" dirty="0" err="1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협약종료</a:t>
                </a:r>
                <a:r>
                  <a:rPr lang="ko-KR" altLang="en-US" sz="1050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en-US" altLang="ko-KR" sz="1050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1</a:t>
                </a:r>
                <a:r>
                  <a:rPr lang="ko-KR" altLang="en-US" sz="1050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개월 전까지 집행을 완료하여야 한다</a:t>
                </a:r>
                <a:r>
                  <a:rPr lang="en-US" altLang="ko-KR" sz="1050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</a:t>
                </a:r>
                <a:endParaRPr lang="ko-KR" altLang="en-US" sz="1050" u="sng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참고２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</a:t>
                </a:r>
                <a:r>
                  <a:rPr lang="ko-KR" altLang="en-US" sz="1050" u="sng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자부담</a:t>
                </a:r>
                <a:r>
                  <a:rPr lang="ko-KR" altLang="en-US" sz="1050" u="sng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또한 사업비로 공사지정 회계법인에 증빙 </a:t>
                </a:r>
                <a:r>
                  <a:rPr lang="ko-KR" altLang="en-US" sz="1050" u="sng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제출</a:t>
                </a:r>
                <a:endParaRPr lang="en-US" altLang="ko-KR" sz="1050" u="sng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r>
                  <a:rPr lang="ko-KR" altLang="en-US" sz="1050" u="sng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→</a:t>
                </a:r>
                <a:r>
                  <a:rPr lang="en-US" altLang="ko-KR" sz="1050" u="sng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1050" u="sng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회계법인에서 검토 </a:t>
                </a:r>
                <a:r>
                  <a:rPr lang="ko-KR" altLang="en-US" sz="1050" u="sng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및 </a:t>
                </a:r>
                <a:r>
                  <a:rPr lang="ko-KR" altLang="en-US" sz="1050" u="sng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승인／미승인</a:t>
                </a:r>
                <a:r>
                  <a:rPr lang="ko-KR" altLang="en-US" sz="1050" u="sng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진행</a:t>
                </a:r>
                <a:endParaRPr lang="en-US" altLang="ko-KR" sz="1050" u="sng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지원 기업의 특성에 맞게 가감하여 작성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표의 행 추가 등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가능하나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기존 양식 삭제는 불가능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예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합계 삭제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X)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계산식</a:t>
                </a:r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*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사업화 지원금 소계 비율 </a:t>
                </a:r>
                <a14:m>
                  <m:oMath xmlns:m="http://schemas.openxmlformats.org/officeDocument/2006/math">
                    <m:r>
                      <a:rPr lang="en-US" altLang="ko-KR" sz="105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05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105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</m:ctrlPr>
                          </m:fPr>
                          <m:num>
                            <m:r>
                              <a:rPr lang="ko-KR" altLang="en-US" sz="105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사업화</m:t>
                            </m:r>
                            <m:r>
                              <a:rPr lang="en-US" altLang="ko-KR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 </m:t>
                            </m:r>
                            <m:r>
                              <a:rPr lang="ko-KR" altLang="en-US" sz="105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지원금</m:t>
                            </m:r>
                            <m:r>
                              <a:rPr lang="en-US" altLang="ko-KR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 </m:t>
                            </m:r>
                            <m:r>
                              <a:rPr lang="ko-KR" altLang="en-US" sz="105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소계</m:t>
                            </m:r>
                            <m:r>
                              <a:rPr lang="en-US" altLang="ko-KR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  </m:t>
                            </m:r>
                            <m:r>
                              <a:rPr lang="ko-KR" altLang="en-US" sz="105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금액</m:t>
                            </m:r>
                            <m:r>
                              <a:rPr lang="en-US" altLang="ko-KR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 </m:t>
                            </m:r>
                          </m:num>
                          <m:den>
                            <m:r>
                              <a:rPr lang="ko-KR" altLang="en-US" sz="105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정부지원금</m:t>
                            </m:r>
                            <m:r>
                              <a:rPr lang="en-US" altLang="ko-KR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 + </m:t>
                            </m:r>
                            <m:r>
                              <a:rPr lang="ko-KR" altLang="en-US" sz="105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자부</m:t>
                            </m:r>
                            <m:r>
                              <a:rPr lang="ko-KR" altLang="en-US" sz="105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담</m:t>
                            </m:r>
                            <m:r>
                              <a:rPr lang="en-US" altLang="ko-KR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 </m:t>
                            </m:r>
                            <m:r>
                              <a:rPr lang="ko-KR" altLang="en-US" sz="105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금액</m:t>
                            </m:r>
                          </m:den>
                        </m:f>
                      </m:e>
                    </m:d>
                    <m:r>
                      <a:rPr lang="en-US" altLang="ko-KR" sz="105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100</m:t>
                    </m:r>
                  </m:oMath>
                </a14:m>
                <a:endParaRPr lang="en-US" altLang="ko-KR" sz="1050" b="0" dirty="0">
                  <a:solidFill>
                    <a:schemeClr val="tx1"/>
                  </a:solidFill>
                  <a:latin typeface="맑은 고딕" panose="020B0503020000020004" pitchFamily="50" charset="-127"/>
                  <a:ea typeface="Cambria Math" panose="02040503050406030204" pitchFamily="18" charset="0"/>
                </a:endParaRPr>
              </a:p>
              <a:p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*</a:t>
                </a:r>
                <a:r>
                  <a:rPr lang="ko-KR" altLang="en-US" sz="1050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자부담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지원금 소계 금액 </a:t>
                </a:r>
                <a14:m>
                  <m:oMath xmlns:m="http://schemas.openxmlformats.org/officeDocument/2006/math">
                    <m:r>
                      <a:rPr lang="en-US" altLang="ko-KR" sz="105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</a:rPr>
                  <a:t>사업화 지원금 소계 금액 </a:t>
                </a:r>
                <a14:m>
                  <m:oMath xmlns:m="http://schemas.openxmlformats.org/officeDocument/2006/math">
                    <m:r>
                      <a:rPr lang="en-US" altLang="ko-KR" sz="105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0.2</a:t>
                </a:r>
              </a:p>
              <a:p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*</a:t>
                </a:r>
                <a:r>
                  <a:rPr lang="ko-KR" altLang="en-US" sz="1050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자부담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지원금 소계 비율 </a:t>
                </a:r>
                <a14:m>
                  <m:oMath xmlns:m="http://schemas.openxmlformats.org/officeDocument/2006/math">
                    <m:r>
                      <a:rPr lang="en-US" altLang="ko-KR" sz="105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05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105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</m:ctrlPr>
                          </m:fPr>
                          <m:num>
                            <m:r>
                              <a:rPr lang="ko-KR" altLang="en-US" sz="105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자부담</m:t>
                            </m:r>
                            <m:r>
                              <a:rPr lang="en-US" altLang="ko-KR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 </m:t>
                            </m:r>
                            <m:r>
                              <a:rPr lang="ko-KR" altLang="en-US" sz="105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소계</m:t>
                            </m:r>
                            <m:r>
                              <a:rPr lang="en-US" altLang="ko-KR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 </m:t>
                            </m:r>
                            <m:r>
                              <a:rPr lang="ko-KR" altLang="en-US" sz="105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금액</m:t>
                            </m:r>
                          </m:num>
                          <m:den>
                            <m:r>
                              <a:rPr lang="ko-KR" altLang="en-US" sz="105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정부지원금</m:t>
                            </m:r>
                            <m:r>
                              <a:rPr lang="en-US" altLang="ko-KR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 + </m:t>
                            </m:r>
                            <m:r>
                              <a:rPr lang="ko-KR" altLang="en-US" sz="105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자부담</m:t>
                            </m:r>
                            <m:r>
                              <a:rPr lang="en-US" altLang="ko-KR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 </m:t>
                            </m:r>
                            <m:r>
                              <a:rPr lang="ko-KR" altLang="en-US" sz="105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금액</m:t>
                            </m:r>
                          </m:den>
                        </m:f>
                      </m:e>
                    </m:d>
                    <m:r>
                      <a:rPr lang="en-US" altLang="ko-KR" sz="105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100</m:t>
                    </m:r>
                  </m:oMath>
                </a14:m>
                <a:endParaRPr lang="en-US" altLang="ko-KR" sz="1050" b="0" dirty="0">
                  <a:solidFill>
                    <a:schemeClr val="tx1"/>
                  </a:solidFill>
                  <a:latin typeface="맑은 고딕" panose="020B0503020000020004" pitchFamily="50" charset="-127"/>
                  <a:ea typeface="Cambria Math" panose="02040503050406030204" pitchFamily="18" charset="0"/>
                </a:endParaRPr>
              </a:p>
              <a:p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mc:Choice>
        <mc:Fallback xmlns="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3432400D-B9D7-BF82-0CB1-C3EA75146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140200" y="-69574"/>
                <a:ext cx="4068000" cy="68132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rgbClr val="FF0000"/>
                </a:solidFill>
                <a:prstDash val="sysDash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2B862003-60EC-2E83-E4C0-A815B91A5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252353"/>
              </p:ext>
            </p:extLst>
          </p:nvPr>
        </p:nvGraphicFramePr>
        <p:xfrm>
          <a:off x="270506" y="3536477"/>
          <a:ext cx="9364988" cy="2779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3668">
                  <a:extLst>
                    <a:ext uri="{9D8B030D-6E8A-4147-A177-3AD203B41FA5}">
                      <a16:colId xmlns:a16="http://schemas.microsoft.com/office/drawing/2014/main" val="788269166"/>
                    </a:ext>
                  </a:extLst>
                </a:gridCol>
                <a:gridCol w="3178753">
                  <a:extLst>
                    <a:ext uri="{9D8B030D-6E8A-4147-A177-3AD203B41FA5}">
                      <a16:colId xmlns:a16="http://schemas.microsoft.com/office/drawing/2014/main" val="181306444"/>
                    </a:ext>
                  </a:extLst>
                </a:gridCol>
                <a:gridCol w="1404207">
                  <a:extLst>
                    <a:ext uri="{9D8B030D-6E8A-4147-A177-3AD203B41FA5}">
                      <a16:colId xmlns:a16="http://schemas.microsoft.com/office/drawing/2014/main" val="2235137932"/>
                    </a:ext>
                  </a:extLst>
                </a:gridCol>
                <a:gridCol w="1779180">
                  <a:extLst>
                    <a:ext uri="{9D8B030D-6E8A-4147-A177-3AD203B41FA5}">
                      <a16:colId xmlns:a16="http://schemas.microsoft.com/office/drawing/2014/main" val="1132560174"/>
                    </a:ext>
                  </a:extLst>
                </a:gridCol>
                <a:gridCol w="1779180">
                  <a:extLst>
                    <a:ext uri="{9D8B030D-6E8A-4147-A177-3AD203B41FA5}">
                      <a16:colId xmlns:a16="http://schemas.microsoft.com/office/drawing/2014/main" val="1935489333"/>
                    </a:ext>
                  </a:extLst>
                </a:gridCol>
              </a:tblGrid>
              <a:tr h="3008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산출근거 （품목 ／ 수량／ 기간 등）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조달방법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금액</a:t>
                      </a:r>
                      <a:r>
                        <a:rPr lang="en-US" altLang="ko-KR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</a:t>
                      </a:r>
                      <a:r>
                        <a:rPr lang="en-US" altLang="ko-KR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587361"/>
                  </a:ext>
                </a:extLst>
              </a:tr>
              <a:tr h="2887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인건비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신규인력 인건비 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디자인 직무 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 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 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4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개월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사업화지원금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158162"/>
                  </a:ext>
                </a:extLst>
              </a:tr>
              <a:tr h="2887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 err="1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홍보비</a:t>
                      </a:r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홍보물 </a:t>
                      </a:r>
                      <a:r>
                        <a:rPr lang="ko-KR" altLang="en-US" sz="1200" b="1" i="0" spc="-150" dirty="0" err="1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리플렛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제작 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(100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 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사업화 지원금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3949747"/>
                  </a:ext>
                </a:extLst>
              </a:tr>
              <a:tr h="288733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4386495"/>
                  </a:ext>
                </a:extLst>
              </a:tr>
              <a:tr h="288733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사업화 지원금</a:t>
                      </a:r>
                      <a:r>
                        <a:rPr lang="en-US" altLang="ko-KR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정부지원금</a:t>
                      </a:r>
                      <a:r>
                        <a:rPr lang="en-US" altLang="ko-KR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80,000,000</a:t>
                      </a:r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 </a:t>
                      </a:r>
                      <a:r>
                        <a:rPr lang="en-US" altLang="ko-KR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%</a:t>
                      </a:r>
                      <a:endParaRPr lang="ko-KR" altLang="en-US" sz="12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3011748"/>
                  </a:ext>
                </a:extLst>
              </a:tr>
              <a:tr h="2887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외주 용역비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홈페이지 제작 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 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 당 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 err="1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자부담</a:t>
                      </a:r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330737"/>
                  </a:ext>
                </a:extLst>
              </a:tr>
              <a:tr h="288733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902728"/>
                  </a:ext>
                </a:extLst>
              </a:tr>
              <a:tr h="288733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자부담</a:t>
                      </a:r>
                      <a:r>
                        <a:rPr lang="en-US" altLang="ko-KR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현물</a:t>
                      </a:r>
                      <a:r>
                        <a:rPr lang="en-US" altLang="ko-KR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소계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16,000,000</a:t>
                      </a:r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20</a:t>
                      </a:r>
                      <a:r>
                        <a:rPr lang="en-US" altLang="ko-KR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%</a:t>
                      </a:r>
                      <a:endParaRPr lang="ko-KR" altLang="en-US" sz="12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018609"/>
                  </a:ext>
                </a:extLst>
              </a:tr>
              <a:tr h="288733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총사업비</a:t>
                      </a:r>
                      <a:r>
                        <a:rPr lang="en-US" altLang="ko-KR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정부지원금</a:t>
                      </a:r>
                      <a:r>
                        <a:rPr lang="en-US" altLang="ko-KR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1200" b="1" i="0" spc="-15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자부담</a:t>
                      </a:r>
                      <a:r>
                        <a:rPr lang="en-US" altLang="ko-KR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500" b="0" i="1" dirty="0">
                        <a:solidFill>
                          <a:srgbClr val="2393C5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500" b="1" i="1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96.000.000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6503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65CB487-AD14-C430-DDEF-3E9AF74682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710" y="217617"/>
            <a:ext cx="1757386" cy="224783"/>
          </a:xfrm>
          <a:prstGeom prst="roundRect">
            <a:avLst>
              <a:gd name="adj" fmla="val 50000"/>
            </a:avLst>
          </a:prstGeom>
          <a:solidFill>
            <a:srgbClr val="2393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742950" latinLnBrk="1">
              <a:defRPr/>
            </a:pPr>
            <a:r>
              <a:rPr lang="ko-KR" altLang="en-US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제</a:t>
            </a:r>
            <a:r>
              <a:rPr lang="en-US" altLang="ko-KR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18</a:t>
            </a:r>
            <a:r>
              <a:rPr lang="ko-KR" altLang="en-US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회 </a:t>
            </a: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관광벤처사업 공모  </a:t>
            </a:r>
          </a:p>
        </p:txBody>
      </p:sp>
    </p:spTree>
    <p:extLst>
      <p:ext uri="{BB962C8B-B14F-4D97-AF65-F5344CB8AC3E}">
        <p14:creationId xmlns:p14="http://schemas.microsoft.com/office/powerpoint/2010/main" val="126565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94952-9A31-BA78-CF2E-4B2D29BDE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9F6938AC-4001-9B74-C956-3618E7FF34E5}"/>
              </a:ext>
            </a:extLst>
          </p:cNvPr>
          <p:cNvGrpSpPr/>
          <p:nvPr/>
        </p:nvGrpSpPr>
        <p:grpSpPr>
          <a:xfrm>
            <a:off x="8642231" y="118686"/>
            <a:ext cx="535107" cy="185921"/>
            <a:chOff x="10399341" y="124622"/>
            <a:chExt cx="861590" cy="299357"/>
          </a:xfrm>
        </p:grpSpPr>
        <p:pic>
          <p:nvPicPr>
            <p:cNvPr id="25" name="그래픽 83">
              <a:extLst>
                <a:ext uri="{FF2B5EF4-FFF2-40B4-BE49-F238E27FC236}">
                  <a16:creationId xmlns:a16="http://schemas.microsoft.com/office/drawing/2014/main" id="{D61191D9-919E-A4FD-1903-D280268D97F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rcRect r="49942"/>
            <a:stretch/>
          </p:blipFill>
          <p:spPr>
            <a:xfrm>
              <a:off x="10399341" y="124622"/>
              <a:ext cx="302431" cy="299357"/>
            </a:xfrm>
            <a:prstGeom prst="rect">
              <a:avLst/>
            </a:prstGeom>
          </p:spPr>
        </p:pic>
        <p:pic>
          <p:nvPicPr>
            <p:cNvPr id="26" name="그래픽 84">
              <a:extLst>
                <a:ext uri="{FF2B5EF4-FFF2-40B4-BE49-F238E27FC236}">
                  <a16:creationId xmlns:a16="http://schemas.microsoft.com/office/drawing/2014/main" id="{E642EBE8-F8E0-0C6F-3EA1-9064FDF92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733879" y="165616"/>
              <a:ext cx="527052" cy="217370"/>
            </a:xfrm>
            <a:prstGeom prst="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3363296F-C821-0CF3-E447-0F048CE8119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9200" y="598750"/>
            <a:ext cx="32430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en-US" altLang="ko-KR" sz="2000" b="1" dirty="0">
                <a:solidFill>
                  <a:srgbClr val="2393C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02.</a:t>
            </a:r>
            <a:endParaRPr lang="ko-KR" altLang="en-US" sz="2000" b="1" dirty="0">
              <a:solidFill>
                <a:srgbClr val="2393C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5477421-E440-94D4-FC6F-E37FDBC5E52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1599" y="598750"/>
            <a:ext cx="39274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사업전략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CE1739-3B30-5DE2-1E4C-7F60DC4E5E25}"/>
              </a:ext>
            </a:extLst>
          </p:cNvPr>
          <p:cNvSpPr txBox="1"/>
          <p:nvPr/>
        </p:nvSpPr>
        <p:spPr>
          <a:xfrm>
            <a:off x="1311965" y="1606815"/>
            <a:ext cx="8594035" cy="734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2-4-(1).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사업추진 일정 계획 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사업단계에서 추진하고자 하는 종합적인 목표 및 추진 일정 등 기재</a:t>
            </a: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85800" lvl="1" indent="-228600" algn="just" fontAlgn="base" latinLnBrk="1">
              <a:lnSpc>
                <a:spcPct val="160000"/>
              </a:lnSpc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 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 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및 서비스개발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홍보 및 판로개척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인력 및 조직수립 등 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 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참조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6" name="사각형: 둥근 모서리 12">
            <a:extLst>
              <a:ext uri="{FF2B5EF4-FFF2-40B4-BE49-F238E27FC236}">
                <a16:creationId xmlns:a16="http://schemas.microsoft.com/office/drawing/2014/main" id="{096DC3EB-681D-6E50-0D78-E7F69E1377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4909" y="1050498"/>
            <a:ext cx="5400000" cy="412346"/>
          </a:xfrm>
          <a:prstGeom prst="roundRect">
            <a:avLst>
              <a:gd name="adj" fmla="val 50000"/>
            </a:avLst>
          </a:prstGeom>
          <a:solidFill>
            <a:srgbClr val="FFF7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742950" latinLnBrk="1">
              <a:defRPr/>
            </a:pP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 2-4. 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일정계획 </a:t>
            </a: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| (1) 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사업추진 일정 계획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F867A0-2288-F0E8-AAB6-609FFC10FD30}"/>
              </a:ext>
            </a:extLst>
          </p:cNvPr>
          <p:cNvSpPr txBox="1"/>
          <p:nvPr/>
        </p:nvSpPr>
        <p:spPr>
          <a:xfrm>
            <a:off x="480160" y="3257553"/>
            <a:ext cx="92345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US" altLang="ko-KR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표</a:t>
            </a:r>
            <a:r>
              <a:rPr lang="en-US" altLang="ko-KR" sz="1400" b="1" kern="0" spc="-12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kumimoji="0" lang="en-US" altLang="ko-KR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] </a:t>
            </a:r>
            <a:r>
              <a:rPr kumimoji="0" lang="ko-KR" altLang="en-US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사업추진 일정 및 목표 </a:t>
            </a:r>
            <a:r>
              <a:rPr kumimoji="0" lang="en-US" altLang="ko-KR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전체 사업단계</a:t>
            </a:r>
            <a:r>
              <a:rPr kumimoji="0" lang="en-US" altLang="ko-KR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lang="ko-KR" altLang="en-US" b="1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4078E37-FBB5-7BF2-8B31-12469CC113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4187824" y="3810000"/>
            <a:ext cx="4068000" cy="2524128"/>
          </a:xfrm>
          <a:prstGeom prst="rect">
            <a:avLst/>
          </a:prstGeom>
          <a:solidFill>
            <a:schemeClr val="bg2"/>
          </a:solidFill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en-US" altLang="ko-KR" sz="1050" b="1" dirty="0">
                <a:solidFill>
                  <a:schemeClr val="tx1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050" b="1" dirty="0">
                <a:solidFill>
                  <a:schemeClr val="tx1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표</a:t>
            </a:r>
            <a:r>
              <a:rPr lang="en-US" altLang="ko-KR" sz="1050" b="1" dirty="0">
                <a:solidFill>
                  <a:schemeClr val="tx1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2] </a:t>
            </a:r>
            <a:r>
              <a:rPr lang="ko-KR" altLang="en-US" sz="1050" b="1" dirty="0">
                <a:solidFill>
                  <a:schemeClr val="tx1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세부 작성 가이드</a:t>
            </a:r>
            <a:endParaRPr lang="en-US" altLang="ko-KR" sz="1050" b="1" dirty="0">
              <a:solidFill>
                <a:schemeClr val="tx1"/>
              </a:solidFill>
              <a:highlight>
                <a:srgbClr val="FFFF00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사업추진 일정 계획 작성 시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협약기간 이후 </a:t>
            </a:r>
            <a:r>
              <a:rPr lang="ko-KR" altLang="en-US" sz="10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중장기 로드맵</a:t>
            </a:r>
            <a:r>
              <a:rPr lang="en-US" altLang="ko-KR" sz="10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</a:t>
            </a:r>
            <a:r>
              <a:rPr lang="en-US" altLang="ko-KR" sz="10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0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후까지의 계획</a:t>
            </a:r>
            <a:r>
              <a:rPr lang="en-US" altLang="ko-KR" sz="10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고려하여 작성</a:t>
            </a:r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항목 별 작성 내용</a:t>
            </a:r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전략 과제 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기업 성장에 주요한 전략 기재</a:t>
            </a:r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세부 과제 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전략 과제를 달성하기 위한 세부 과제 작성</a:t>
            </a:r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세부 과제 목표 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추진 시 목표하는 구체적인 정성적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정량적 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KPI 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</a:t>
            </a:r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추진 일정 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대략적인 일정을 추정해 작성</a:t>
            </a:r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Tx/>
              <a:buChar char="-"/>
            </a:pPr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 기업의 특성에 맞게 가감하여 작성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표의 행 추가 등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가능하나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양식 삭제는 불가능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:‘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추진 일정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삭제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불가능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D2386C6F-F867-80FB-22E7-6A523B00E5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4144879"/>
              </p:ext>
            </p:extLst>
          </p:nvPr>
        </p:nvGraphicFramePr>
        <p:xfrm>
          <a:off x="267058" y="3590701"/>
          <a:ext cx="9371884" cy="27168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0451">
                  <a:extLst>
                    <a:ext uri="{9D8B030D-6E8A-4147-A177-3AD203B41FA5}">
                      <a16:colId xmlns:a16="http://schemas.microsoft.com/office/drawing/2014/main" val="382826469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357151765"/>
                    </a:ext>
                  </a:extLst>
                </a:gridCol>
                <a:gridCol w="3716748">
                  <a:extLst>
                    <a:ext uri="{9D8B030D-6E8A-4147-A177-3AD203B41FA5}">
                      <a16:colId xmlns:a16="http://schemas.microsoft.com/office/drawing/2014/main" val="1287076246"/>
                    </a:ext>
                  </a:extLst>
                </a:gridCol>
                <a:gridCol w="780990">
                  <a:extLst>
                    <a:ext uri="{9D8B030D-6E8A-4147-A177-3AD203B41FA5}">
                      <a16:colId xmlns:a16="http://schemas.microsoft.com/office/drawing/2014/main" val="95811163"/>
                    </a:ext>
                  </a:extLst>
                </a:gridCol>
                <a:gridCol w="780991">
                  <a:extLst>
                    <a:ext uri="{9D8B030D-6E8A-4147-A177-3AD203B41FA5}">
                      <a16:colId xmlns:a16="http://schemas.microsoft.com/office/drawing/2014/main" val="2299743348"/>
                    </a:ext>
                  </a:extLst>
                </a:gridCol>
                <a:gridCol w="780990">
                  <a:extLst>
                    <a:ext uri="{9D8B030D-6E8A-4147-A177-3AD203B41FA5}">
                      <a16:colId xmlns:a16="http://schemas.microsoft.com/office/drawing/2014/main" val="4041698369"/>
                    </a:ext>
                  </a:extLst>
                </a:gridCol>
              </a:tblGrid>
              <a:tr h="2658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전략 과제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세부 과제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세부 과제 목표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i="0" spc="-15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</a:t>
                      </a:r>
                      <a:endParaRPr lang="ko-KR" altLang="en-US" sz="12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i="0" spc="-15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2027</a:t>
                      </a:r>
                      <a:endParaRPr lang="ko-KR" altLang="en-US" sz="12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i="0" spc="-15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2028</a:t>
                      </a:r>
                      <a:endParaRPr lang="ko-KR" altLang="en-US" sz="12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0150470"/>
                  </a:ext>
                </a:extLst>
              </a:tr>
              <a:tr h="210914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글로벌 서비스 개발 및 출시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현지 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최적화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고객 설문조사 및 웹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앱 서비스 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UI/UX 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A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158162"/>
                  </a:ext>
                </a:extLst>
              </a:tr>
              <a:tr h="26380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1200" b="1" i="0" kern="120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해외 서비스 출시</a:t>
                      </a:r>
                      <a:endParaRPr sz="1200" b="1" i="0" kern="120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일본 숙박 예약 플랫폼 런칭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A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338223"/>
                  </a:ext>
                </a:extLst>
              </a:tr>
              <a:tr h="2638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일본 특허 출원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A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14323"/>
                  </a:ext>
                </a:extLst>
              </a:tr>
              <a:tr h="4686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 확보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브랜드 마케팅을 통한 </a:t>
                      </a:r>
                      <a:endParaRPr lang="en-US" altLang="ko-KR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인지도 제고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SNS 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키워드 검색광고 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00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건 진행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수도권 팝업스토어 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00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회 운영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A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707556"/>
                  </a:ext>
                </a:extLst>
              </a:tr>
              <a:tr h="3279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영업 조직 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인력 채용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CMO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</a:t>
                      </a:r>
                      <a:endParaRPr lang="en-US" altLang="ko-KR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A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07722"/>
                  </a:ext>
                </a:extLst>
              </a:tr>
              <a:tr h="265891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836605"/>
                  </a:ext>
                </a:extLst>
              </a:tr>
              <a:tr h="265891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766739"/>
                  </a:ext>
                </a:extLst>
              </a:tr>
              <a:tr h="265891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091396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65CB487-AD14-C430-DDEF-3E9AF74682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710" y="217617"/>
            <a:ext cx="1757386" cy="224783"/>
          </a:xfrm>
          <a:prstGeom prst="roundRect">
            <a:avLst>
              <a:gd name="adj" fmla="val 50000"/>
            </a:avLst>
          </a:prstGeom>
          <a:solidFill>
            <a:srgbClr val="2393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742950" latinLnBrk="1">
              <a:defRPr/>
            </a:pPr>
            <a:r>
              <a:rPr lang="ko-KR" altLang="en-US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제</a:t>
            </a:r>
            <a:r>
              <a:rPr lang="en-US" altLang="ko-KR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18</a:t>
            </a:r>
            <a:r>
              <a:rPr lang="ko-KR" altLang="en-US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회 </a:t>
            </a: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관광벤처사업 공모  </a:t>
            </a:r>
          </a:p>
        </p:txBody>
      </p:sp>
    </p:spTree>
    <p:extLst>
      <p:ext uri="{BB962C8B-B14F-4D97-AF65-F5344CB8AC3E}">
        <p14:creationId xmlns:p14="http://schemas.microsoft.com/office/powerpoint/2010/main" val="269843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37DFF-BF20-0F08-3B53-A96B9BA70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442DDE73-1BF7-8797-A3C9-726819879FB3}"/>
              </a:ext>
            </a:extLst>
          </p:cNvPr>
          <p:cNvGrpSpPr/>
          <p:nvPr/>
        </p:nvGrpSpPr>
        <p:grpSpPr>
          <a:xfrm>
            <a:off x="8642231" y="118686"/>
            <a:ext cx="535107" cy="185921"/>
            <a:chOff x="10399341" y="124622"/>
            <a:chExt cx="861590" cy="299357"/>
          </a:xfrm>
        </p:grpSpPr>
        <p:pic>
          <p:nvPicPr>
            <p:cNvPr id="25" name="그래픽 83">
              <a:extLst>
                <a:ext uri="{FF2B5EF4-FFF2-40B4-BE49-F238E27FC236}">
                  <a16:creationId xmlns:a16="http://schemas.microsoft.com/office/drawing/2014/main" id="{C42EF2C1-D772-94F6-EA3E-71F598A102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rcRect r="49942"/>
            <a:stretch/>
          </p:blipFill>
          <p:spPr>
            <a:xfrm>
              <a:off x="10399341" y="124622"/>
              <a:ext cx="302431" cy="299357"/>
            </a:xfrm>
            <a:prstGeom prst="rect">
              <a:avLst/>
            </a:prstGeom>
          </p:spPr>
        </p:pic>
        <p:pic>
          <p:nvPicPr>
            <p:cNvPr id="26" name="그래픽 84">
              <a:extLst>
                <a:ext uri="{FF2B5EF4-FFF2-40B4-BE49-F238E27FC236}">
                  <a16:creationId xmlns:a16="http://schemas.microsoft.com/office/drawing/2014/main" id="{A3DE0735-701C-2DF6-9AC1-28BF51AC6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733879" y="165616"/>
              <a:ext cx="527052" cy="217370"/>
            </a:xfrm>
            <a:prstGeom prst="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1919ABF6-FC1D-CFB1-C9A7-2DDED4624E6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9200" y="598750"/>
            <a:ext cx="32430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en-US" altLang="ko-KR" sz="2000" b="1" dirty="0">
                <a:solidFill>
                  <a:srgbClr val="2393C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02.</a:t>
            </a:r>
            <a:endParaRPr lang="ko-KR" altLang="en-US" sz="2000" b="1" dirty="0">
              <a:solidFill>
                <a:srgbClr val="2393C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7C7D6DC-C405-9F08-C551-164084EE18D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1599" y="598750"/>
            <a:ext cx="39274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사업전략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A42924-E7CA-4845-1F6B-2D863A6E2989}"/>
              </a:ext>
            </a:extLst>
          </p:cNvPr>
          <p:cNvSpPr txBox="1"/>
          <p:nvPr/>
        </p:nvSpPr>
        <p:spPr>
          <a:xfrm>
            <a:off x="644909" y="1526065"/>
            <a:ext cx="898714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just" defTabSz="4572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2-4-(2).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협약기간 내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400" b="1" kern="0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2026. 7</a:t>
            </a:r>
            <a:r>
              <a:rPr lang="ko-KR" altLang="en-US" sz="1400" b="1" kern="0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~11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 예정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사업 추진 계획 </a:t>
            </a: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85800" lvl="1" indent="-228600" algn="just" fontAlgn="base" latinLnBrk="1">
              <a:lnSpc>
                <a:spcPct val="150000"/>
              </a:lnSpc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  협약기간 내 달성하고자 하는 성과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및 서비스개발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홍보 및 판로개척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인력 및 조직수립 등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기재 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 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참조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6" name="사각형: 둥근 모서리 12">
            <a:extLst>
              <a:ext uri="{FF2B5EF4-FFF2-40B4-BE49-F238E27FC236}">
                <a16:creationId xmlns:a16="http://schemas.microsoft.com/office/drawing/2014/main" id="{72F32131-213C-8FB9-22B9-986E5BFCD6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4909" y="1050498"/>
            <a:ext cx="5400000" cy="412346"/>
          </a:xfrm>
          <a:prstGeom prst="roundRect">
            <a:avLst>
              <a:gd name="adj" fmla="val 50000"/>
            </a:avLst>
          </a:prstGeom>
          <a:solidFill>
            <a:srgbClr val="FFF7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742950" latinLnBrk="1">
              <a:defRPr/>
            </a:pP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 2-4. 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일정계획 </a:t>
            </a: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| (2) 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협약기간 내</a:t>
            </a: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 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사업 추진 계획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7581BB-E49B-8C00-EEF2-BC8BA9BDB57E}"/>
              </a:ext>
            </a:extLst>
          </p:cNvPr>
          <p:cNvSpPr txBox="1"/>
          <p:nvPr/>
        </p:nvSpPr>
        <p:spPr>
          <a:xfrm>
            <a:off x="267057" y="2346523"/>
            <a:ext cx="93649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US" altLang="ko-KR" sz="1400" b="1" i="0" u="none" strike="noStrike" kern="0" cap="none" spc="-15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400" b="1" i="0" u="none" strike="noStrike" kern="0" cap="none" spc="-15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표</a:t>
            </a:r>
            <a:r>
              <a:rPr kumimoji="0" lang="en-US" altLang="ko-KR" sz="1400" b="1" i="0" u="none" strike="noStrike" kern="0" cap="none" spc="-15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3] </a:t>
            </a:r>
            <a:r>
              <a:rPr kumimoji="0" lang="ko-KR" altLang="en-US" sz="1400" b="1" i="0" u="none" strike="noStrike" kern="0" cap="none" spc="-15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협약기간 내 사업 추진 계획</a:t>
            </a:r>
            <a:endParaRPr lang="ko-KR" altLang="en-US" b="1" spc="-15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BCF0FD1-4E2C-0240-39EF-01E613518F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4168625" y="3225801"/>
            <a:ext cx="4068000" cy="2800670"/>
          </a:xfrm>
          <a:prstGeom prst="rect">
            <a:avLst/>
          </a:prstGeom>
          <a:solidFill>
            <a:schemeClr val="bg2"/>
          </a:solidFill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en-US" altLang="ko-KR" sz="1050" b="1" dirty="0">
                <a:solidFill>
                  <a:schemeClr val="tx1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050" b="1" dirty="0">
                <a:solidFill>
                  <a:schemeClr val="tx1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표</a:t>
            </a:r>
            <a:r>
              <a:rPr lang="en-US" altLang="ko-KR" sz="1050" b="1" dirty="0">
                <a:solidFill>
                  <a:schemeClr val="tx1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3] </a:t>
            </a:r>
            <a:r>
              <a:rPr lang="ko-KR" altLang="en-US" sz="1050" b="1" dirty="0">
                <a:solidFill>
                  <a:schemeClr val="tx1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세부 작성 가이드</a:t>
            </a:r>
            <a:endParaRPr lang="en-US" altLang="ko-KR" sz="1050" b="1" dirty="0">
              <a:solidFill>
                <a:schemeClr val="tx1"/>
              </a:solidFill>
              <a:highlight>
                <a:srgbClr val="FFFF00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협약기간</a:t>
            </a:r>
            <a:r>
              <a:rPr lang="en-US" altLang="ko-KR" sz="1050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(7</a:t>
            </a:r>
            <a:r>
              <a:rPr lang="ko-KR" altLang="en-US" sz="1050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r>
              <a:rPr lang="en-US" altLang="ko-KR" sz="10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~11</a:t>
            </a:r>
            <a:r>
              <a:rPr lang="ko-KR" altLang="en-US" sz="10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r>
              <a:rPr lang="en-US" altLang="ko-KR" sz="10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0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내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추진 예정인 사업 계획 작성</a:t>
            </a:r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추진 내용에 대한 월별 </a:t>
            </a:r>
            <a:r>
              <a:rPr lang="ko-KR" altLang="en-US" sz="1050" u="sng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진행계획을 추정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하여 기재</a:t>
            </a:r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 기업의 특성에 맞게 가감하여 작성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표의 행 추가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가능하나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업종 및 종목 추가 행을 삭제 불가</a:t>
            </a:r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초기관광벤처 사업 참여기업의 </a:t>
            </a:r>
            <a:r>
              <a:rPr lang="ko-KR" altLang="en-US" sz="105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경우</a:t>
            </a:r>
            <a:r>
              <a:rPr lang="en-US" altLang="ko-KR" sz="105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105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1050" b="1" u="sng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협약종료</a:t>
            </a:r>
            <a:r>
              <a:rPr lang="ko-KR" altLang="en-US" sz="1050" b="1" u="sng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b="1" u="sng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050" b="1" u="sng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 전까지</a:t>
            </a:r>
            <a:r>
              <a:rPr lang="en-US" altLang="ko-KR" sz="1050" b="1" u="sng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sz="1050" b="1" u="sng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본점 기준 사업자등록증상 </a:t>
            </a:r>
            <a:r>
              <a:rPr lang="ko-KR" altLang="en-US" sz="105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창업아이템과 관련된 신규 업종을</a:t>
            </a:r>
            <a:r>
              <a:rPr lang="ko-KR" altLang="en-US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5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반드시 </a:t>
            </a:r>
            <a:r>
              <a:rPr lang="ko-KR" altLang="en-US" sz="1050" b="1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추가해야함</a:t>
            </a:r>
            <a:r>
              <a:rPr lang="en-US" altLang="ko-KR" sz="105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5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최소 </a:t>
            </a:r>
            <a:r>
              <a:rPr lang="en-US" altLang="ko-KR" sz="105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5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업종</a:t>
            </a:r>
            <a:r>
              <a:rPr lang="en-US" altLang="ko-KR" sz="105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70388D43-BFB1-0C3A-8397-8D98DC23D8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6523374"/>
              </p:ext>
            </p:extLst>
          </p:nvPr>
        </p:nvGraphicFramePr>
        <p:xfrm>
          <a:off x="267058" y="2730500"/>
          <a:ext cx="9229368" cy="35782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8909">
                  <a:extLst>
                    <a:ext uri="{9D8B030D-6E8A-4147-A177-3AD203B41FA5}">
                      <a16:colId xmlns:a16="http://schemas.microsoft.com/office/drawing/2014/main" val="95811163"/>
                    </a:ext>
                  </a:extLst>
                </a:gridCol>
                <a:gridCol w="2857369">
                  <a:extLst>
                    <a:ext uri="{9D8B030D-6E8A-4147-A177-3AD203B41FA5}">
                      <a16:colId xmlns:a16="http://schemas.microsoft.com/office/drawing/2014/main" val="1028737888"/>
                    </a:ext>
                  </a:extLst>
                </a:gridCol>
                <a:gridCol w="1026618">
                  <a:extLst>
                    <a:ext uri="{9D8B030D-6E8A-4147-A177-3AD203B41FA5}">
                      <a16:colId xmlns:a16="http://schemas.microsoft.com/office/drawing/2014/main" val="2881744402"/>
                    </a:ext>
                  </a:extLst>
                </a:gridCol>
                <a:gridCol w="1026618">
                  <a:extLst>
                    <a:ext uri="{9D8B030D-6E8A-4147-A177-3AD203B41FA5}">
                      <a16:colId xmlns:a16="http://schemas.microsoft.com/office/drawing/2014/main" val="3464906357"/>
                    </a:ext>
                  </a:extLst>
                </a:gridCol>
                <a:gridCol w="1026618">
                  <a:extLst>
                    <a:ext uri="{9D8B030D-6E8A-4147-A177-3AD203B41FA5}">
                      <a16:colId xmlns:a16="http://schemas.microsoft.com/office/drawing/2014/main" val="4022672486"/>
                    </a:ext>
                  </a:extLst>
                </a:gridCol>
                <a:gridCol w="1026618">
                  <a:extLst>
                    <a:ext uri="{9D8B030D-6E8A-4147-A177-3AD203B41FA5}">
                      <a16:colId xmlns:a16="http://schemas.microsoft.com/office/drawing/2014/main" val="3433426078"/>
                    </a:ext>
                  </a:extLst>
                </a:gridCol>
                <a:gridCol w="1026618">
                  <a:extLst>
                    <a:ext uri="{9D8B030D-6E8A-4147-A177-3AD203B41FA5}">
                      <a16:colId xmlns:a16="http://schemas.microsoft.com/office/drawing/2014/main" val="2610076288"/>
                    </a:ext>
                  </a:extLst>
                </a:gridCol>
              </a:tblGrid>
              <a:tr h="36911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kern="0" spc="-15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추진 내용</a:t>
                      </a:r>
                      <a:endParaRPr lang="ko-KR" altLang="en-US" sz="1200" b="1" spc="-1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altLang="ko-KR" sz="1200" b="1" kern="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r>
                        <a:rPr lang="ko-KR" altLang="en-US" sz="1200" b="1" kern="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altLang="ko-KR" sz="1200" b="1" kern="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r>
                        <a:rPr lang="ko-KR" altLang="en-US" sz="1200" b="1" kern="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altLang="ko-KR" sz="1200" b="1" kern="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lang="ko-KR" altLang="en-US" sz="1200" b="1" kern="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altLang="ko-KR" sz="1200" b="1" kern="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1200" b="1" kern="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altLang="ko-KR" sz="1200" b="1" kern="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r>
                        <a:rPr lang="ko-KR" altLang="en-US" sz="1200" b="1" kern="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88293"/>
                  </a:ext>
                </a:extLst>
              </a:tr>
              <a:tr h="369115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</a:pPr>
                      <a:r>
                        <a:rPr lang="ko-KR" altLang="en-US" sz="1200" b="1" kern="0" spc="-15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</a:t>
                      </a:r>
                      <a:r>
                        <a:rPr lang="en-US" altLang="ko-KR" sz="1200" b="1" kern="0" spc="-15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‧</a:t>
                      </a:r>
                      <a:r>
                        <a:rPr lang="ko-KR" altLang="en-US" sz="1200" b="1" kern="0" spc="-15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 개발</a:t>
                      </a: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</a:pPr>
                      <a:r>
                        <a:rPr lang="ko-KR" altLang="en-US" sz="1200" b="1" kern="0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신제품 촬영 및 상세페이지 제작</a:t>
                      </a: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0" spc="-150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촬영 </a:t>
                      </a:r>
                      <a:r>
                        <a:rPr lang="en-US" altLang="ko-KR" sz="1200" b="1" kern="0" spc="-150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r>
                        <a:rPr lang="ko-KR" altLang="en-US" sz="1200" b="1" kern="0" spc="-150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건</a:t>
                      </a: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0" spc="-150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제작 용역</a:t>
                      </a: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endParaRPr lang="ko-KR" altLang="en-US" sz="12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endParaRPr lang="ko-KR" altLang="en-US" sz="12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endParaRPr lang="ko-KR" altLang="en-US" sz="12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158162"/>
                  </a:ext>
                </a:extLst>
              </a:tr>
              <a:tr h="369115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</a:pPr>
                      <a:endParaRPr lang="ko-KR" altLang="en-US" sz="1400" b="0" kern="0" spc="0" dirty="0">
                        <a:solidFill>
                          <a:schemeClr val="tx1"/>
                        </a:solidFill>
                        <a:effectLst/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</a:pPr>
                      <a:endParaRPr lang="ko-KR" altLang="en-US" sz="12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endParaRPr lang="ko-KR" altLang="en-US" sz="12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endParaRPr lang="ko-KR" altLang="en-US" sz="12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endParaRPr lang="ko-KR" altLang="en-US" sz="12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endParaRPr lang="ko-KR" altLang="en-US" sz="12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endParaRPr lang="ko-KR" altLang="en-US" sz="12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4409152"/>
                  </a:ext>
                </a:extLst>
              </a:tr>
              <a:tr h="369115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</a:pPr>
                      <a:r>
                        <a:rPr lang="ko-KR" altLang="en-US" sz="1200" b="1" kern="0" spc="-15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홍보</a:t>
                      </a:r>
                      <a:r>
                        <a:rPr lang="en-US" altLang="ko-KR" sz="1200" b="1" kern="0" spc="-15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‧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</a:pPr>
                      <a:r>
                        <a:rPr lang="ko-KR" altLang="en-US" sz="1200" b="1" kern="0" spc="-15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판로</a:t>
                      </a:r>
                      <a:r>
                        <a:rPr lang="en-US" altLang="ko-KR" sz="1200" b="1" kern="0" spc="-15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="1" kern="0" spc="-15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개척</a:t>
                      </a: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</a:pPr>
                      <a:r>
                        <a:rPr lang="ko-KR" altLang="en-US" sz="1200" b="1" kern="0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해외향 숏츠 제작</a:t>
                      </a: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0" spc="-150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시장조사</a:t>
                      </a: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r>
                        <a:rPr lang="ko-KR" altLang="en-US" sz="1200" b="1" kern="0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영상 편집</a:t>
                      </a: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r>
                        <a:rPr lang="en-US" altLang="ko-KR" sz="1200" b="1" kern="0" spc="-30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A/B  </a:t>
                      </a:r>
                      <a:r>
                        <a:rPr lang="ko-KR" altLang="en-US" sz="1200" b="1" kern="0" spc="-30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</a:t>
                      </a: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r>
                        <a:rPr lang="ko-KR" altLang="en-US" sz="1200" b="1" kern="0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지표 분석</a:t>
                      </a: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r>
                        <a:rPr lang="ko-KR" altLang="en-US" sz="1200" b="1" kern="0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업로드</a:t>
                      </a: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264196"/>
                  </a:ext>
                </a:extLst>
              </a:tr>
              <a:tr h="369115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</a:pPr>
                      <a:endParaRPr lang="ko-KR" altLang="en-US" sz="1400" b="0" kern="0" spc="-150" dirty="0">
                        <a:solidFill>
                          <a:schemeClr val="tx1"/>
                        </a:solidFill>
                        <a:effectLst/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</a:pPr>
                      <a:r>
                        <a:rPr lang="ko-KR" altLang="en-US" sz="1200" b="1" kern="0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국내 </a:t>
                      </a:r>
                      <a:r>
                        <a:rPr lang="en-US" altLang="ko-KR" sz="1200" b="1" kern="0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</a:t>
                      </a:r>
                      <a:r>
                        <a:rPr lang="ko-KR" altLang="en-US" sz="1200" b="1" kern="0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박람회 참가</a:t>
                      </a: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r>
                        <a:rPr lang="ko-KR" altLang="en-US" sz="1200" b="1" kern="0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지원</a:t>
                      </a: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r>
                        <a:rPr lang="ko-KR" altLang="en-US" sz="1200" b="1" kern="0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선정</a:t>
                      </a: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r>
                        <a:rPr lang="ko-KR" altLang="en-US" sz="1200" b="1" kern="0" spc="-30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참가</a:t>
                      </a: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endParaRPr lang="ko-KR" altLang="en-US" sz="12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endParaRPr lang="ko-KR" altLang="en-US" sz="12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409900"/>
                  </a:ext>
                </a:extLst>
              </a:tr>
              <a:tr h="369115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</a:pPr>
                      <a:r>
                        <a:rPr lang="ko-KR" altLang="en-US" sz="1200" b="1" kern="0" spc="-15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조직 구성</a:t>
                      </a: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</a:pPr>
                      <a:r>
                        <a:rPr lang="ko-KR" altLang="en-US" sz="1200" b="1" kern="0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개발자 </a:t>
                      </a:r>
                      <a:r>
                        <a:rPr lang="en-US" altLang="ko-KR" sz="1200" b="1" kern="0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</a:t>
                      </a:r>
                      <a:r>
                        <a:rPr lang="ko-KR" altLang="en-US" sz="1200" b="1" kern="0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 채용</a:t>
                      </a: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r>
                        <a:rPr lang="ko-KR" altLang="en-US" sz="1200" b="1" kern="0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인턴쉽</a:t>
                      </a: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endParaRPr lang="ko-KR" altLang="en-US" sz="1400" b="0" kern="0" spc="-150" dirty="0">
                        <a:solidFill>
                          <a:srgbClr val="FF0000"/>
                        </a:solidFill>
                        <a:effectLst/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r>
                        <a:rPr lang="ko-KR" altLang="en-US" sz="1200" b="1" kern="0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전환검토</a:t>
                      </a: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r>
                        <a:rPr lang="ko-KR" altLang="en-US" sz="1200" b="1" kern="0" spc="-30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정규직 전환</a:t>
                      </a: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endParaRPr lang="ko-KR" altLang="en-US" sz="12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338223"/>
                  </a:ext>
                </a:extLst>
              </a:tr>
              <a:tr h="369115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</a:pPr>
                      <a:endParaRPr lang="ko-KR" altLang="en-US" sz="1400" b="0" kern="0" spc="-150" dirty="0">
                        <a:solidFill>
                          <a:schemeClr val="tx1"/>
                        </a:solidFill>
                        <a:effectLst/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</a:pPr>
                      <a:endParaRPr lang="ko-KR" altLang="en-US" sz="12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endParaRPr lang="ko-KR" altLang="en-US" sz="12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endParaRPr lang="ko-KR" altLang="en-US" sz="12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endParaRPr lang="ko-KR" altLang="en-US" sz="12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endParaRPr lang="ko-KR" altLang="en-US" sz="12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endParaRPr lang="ko-KR" altLang="en-US" sz="12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872621"/>
                  </a:ext>
                </a:extLst>
              </a:tr>
              <a:tr h="62530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</a:pPr>
                      <a:r>
                        <a:rPr lang="ko-KR" altLang="en-US" sz="1200" b="1" kern="0" spc="-15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업종 또는 종목 </a:t>
                      </a:r>
                      <a:r>
                        <a:rPr lang="ko-KR" altLang="en-US" sz="1200" b="1" kern="0" spc="-15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추가（필수</a:t>
                      </a:r>
                      <a:r>
                        <a:rPr lang="ko-KR" altLang="en-US" sz="1200" b="1" kern="0" spc="-15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）</a:t>
                      </a: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</a:pPr>
                      <a:endParaRPr lang="ko-KR" altLang="en-US" sz="12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endParaRPr lang="ko-KR" altLang="en-US" sz="12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endParaRPr lang="ko-KR" altLang="en-US" sz="12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endParaRPr lang="ko-KR" altLang="en-US" sz="12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endParaRPr lang="ko-KR" altLang="en-US" sz="12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endParaRPr lang="ko-KR" altLang="en-US" sz="12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9609099"/>
                  </a:ext>
                </a:extLst>
              </a:tr>
              <a:tr h="369115">
                <a:tc gridSpan="2">
                  <a:txBody>
                    <a:bodyPr/>
                    <a:lstStyle/>
                    <a:p>
                      <a:pPr marL="215900" marR="0" indent="-21590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200" b="1" kern="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협약기간 내 목표</a:t>
                      </a: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kern="0" spc="-150" dirty="0" err="1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상품서비스</a:t>
                      </a:r>
                      <a:r>
                        <a:rPr lang="ko-KR" altLang="en-US" sz="1200" b="1" i="0" kern="0" spc="-150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출시</a:t>
                      </a:r>
                      <a:r>
                        <a:rPr lang="en-US" altLang="ko-KR" sz="1200" b="1" i="0" kern="0" spc="-150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(00</a:t>
                      </a:r>
                      <a:r>
                        <a:rPr lang="ko-KR" altLang="en-US" sz="1200" b="1" i="0" kern="0" spc="-150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건</a:t>
                      </a:r>
                      <a:r>
                        <a:rPr lang="en-US" altLang="ko-KR" sz="1200" b="1" i="0" kern="0" spc="-150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), </a:t>
                      </a:r>
                      <a:r>
                        <a:rPr lang="ko-KR" altLang="en-US" sz="1200" b="1" i="0" kern="0" spc="-150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아이템 검증</a:t>
                      </a:r>
                      <a:r>
                        <a:rPr lang="en-US" altLang="ko-KR" sz="1200" b="1" i="0" kern="0" spc="-150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(00</a:t>
                      </a:r>
                      <a:r>
                        <a:rPr lang="ko-KR" altLang="en-US" sz="1200" b="1" i="0" kern="0" spc="-150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회</a:t>
                      </a:r>
                      <a:r>
                        <a:rPr lang="en-US" altLang="ko-KR" sz="1200" b="1" i="0" kern="0" spc="-150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), </a:t>
                      </a:r>
                      <a:r>
                        <a:rPr lang="ko-KR" altLang="en-US" sz="1200" b="1" i="0" kern="0" spc="-150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고객 확보</a:t>
                      </a:r>
                      <a:r>
                        <a:rPr lang="en-US" altLang="ko-KR" sz="1200" b="1" i="0" kern="0" spc="-150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(00</a:t>
                      </a:r>
                      <a:r>
                        <a:rPr lang="ko-KR" altLang="en-US" sz="1200" b="1" i="0" kern="0" spc="-150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명</a:t>
                      </a:r>
                      <a:r>
                        <a:rPr lang="en-US" altLang="ko-KR" sz="1200" b="1" i="0" kern="0" spc="-150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200" b="1" i="0" kern="0" spc="-150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등</a:t>
                      </a: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</a:pPr>
                      <a:endParaRPr lang="ko-KR" altLang="en-US" sz="1200" b="1" i="0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</a:pPr>
                      <a:endParaRPr lang="ko-KR" altLang="en-US" sz="1200" b="1" i="0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</a:pPr>
                      <a:endParaRPr lang="ko-KR" altLang="en-US" sz="1200" b="1" i="0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</a:pPr>
                      <a:endParaRPr lang="ko-KR" altLang="en-US" sz="1200" b="1" i="0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726826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65CB487-AD14-C430-DDEF-3E9AF74682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710" y="217617"/>
            <a:ext cx="1757386" cy="224783"/>
          </a:xfrm>
          <a:prstGeom prst="roundRect">
            <a:avLst>
              <a:gd name="adj" fmla="val 50000"/>
            </a:avLst>
          </a:prstGeom>
          <a:solidFill>
            <a:srgbClr val="2393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742950" latinLnBrk="1">
              <a:defRPr/>
            </a:pPr>
            <a:r>
              <a:rPr lang="ko-KR" altLang="en-US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제</a:t>
            </a:r>
            <a:r>
              <a:rPr lang="en-US" altLang="ko-KR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18</a:t>
            </a:r>
            <a:r>
              <a:rPr lang="ko-KR" altLang="en-US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회 </a:t>
            </a: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관광벤처사업 공모  </a:t>
            </a:r>
          </a:p>
        </p:txBody>
      </p:sp>
    </p:spTree>
    <p:extLst>
      <p:ext uri="{BB962C8B-B14F-4D97-AF65-F5344CB8AC3E}">
        <p14:creationId xmlns:p14="http://schemas.microsoft.com/office/powerpoint/2010/main" val="3337939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A1FEC-5739-6E69-5717-1640EA486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F31D382-D910-8FDA-4E40-A7CB6BFDEF68}"/>
              </a:ext>
            </a:extLst>
          </p:cNvPr>
          <p:cNvSpPr txBox="1"/>
          <p:nvPr/>
        </p:nvSpPr>
        <p:spPr>
          <a:xfrm>
            <a:off x="1228403" y="1526258"/>
            <a:ext cx="852519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just" defTabSz="4572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2-5.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사업의 수익성 및 성장성 전망 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지난 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년간 실적 및 향후 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년간 예상 성과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매출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수익 등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기재</a:t>
            </a: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85800" lvl="1" indent="-228600" algn="just" fontAlgn="base" latinLnBrk="1">
              <a:lnSpc>
                <a:spcPct val="150000"/>
              </a:lnSpc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 사업을 지속운영 가능하고 수익 창출 가능한 현실적인 실행계획 제시</a:t>
            </a: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85800" lvl="1" indent="-228600" algn="just" fontAlgn="base" latinLnBrk="1">
              <a:lnSpc>
                <a:spcPct val="150000"/>
              </a:lnSpc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매출 사례와 구체적인 실행계획을 바탕으로 한 예상 매출 기입 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 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참조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685800" lvl="1" indent="-228600" algn="just" fontAlgn="base" latinLnBrk="1">
              <a:lnSpc>
                <a:spcPct val="150000"/>
              </a:lnSpc>
              <a:defRPr/>
            </a:pP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-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매출이 없는 해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400" b="1" kern="0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26. 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en-US" altLang="ko-KR" sz="1400" b="1" kern="0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31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 사업자등록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출시 전 등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경우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‘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없음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기재 </a:t>
            </a: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E0A866-999C-0FB9-BE2C-874518ACD32F}"/>
              </a:ext>
            </a:extLst>
          </p:cNvPr>
          <p:cNvSpPr txBox="1"/>
          <p:nvPr/>
        </p:nvSpPr>
        <p:spPr>
          <a:xfrm>
            <a:off x="538297" y="2886339"/>
            <a:ext cx="90971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US" altLang="ko-KR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표</a:t>
            </a:r>
            <a:r>
              <a:rPr lang="en-US" altLang="ko-KR" sz="1400" b="1" kern="0" spc="-12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kumimoji="0" lang="en-US" altLang="ko-KR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] </a:t>
            </a:r>
            <a:r>
              <a:rPr kumimoji="0" lang="ko-KR" altLang="en-US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지난  </a:t>
            </a:r>
            <a:r>
              <a:rPr kumimoji="0" lang="en-US" altLang="ko-KR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r>
              <a:rPr kumimoji="0" lang="ko-KR" altLang="en-US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년간 실적 및  향후 </a:t>
            </a:r>
            <a:r>
              <a:rPr kumimoji="0" lang="en-US" altLang="ko-KR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</a:t>
            </a:r>
            <a:r>
              <a:rPr kumimoji="0" lang="ko-KR" altLang="en-US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년간 예상 성과 </a:t>
            </a:r>
            <a:r>
              <a:rPr kumimoji="0" lang="en-US" altLang="ko-KR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단위</a:t>
            </a:r>
            <a:r>
              <a:rPr kumimoji="0" lang="en-US" altLang="ko-KR" sz="1400" b="1" i="0" u="none" strike="noStrike" kern="0" cap="none" spc="-12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400" b="1" i="0" u="none" strike="noStrike" kern="0" cap="none" spc="-12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원</a:t>
            </a:r>
            <a:r>
              <a:rPr kumimoji="0" lang="en-US" altLang="ko-KR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lang="ko-KR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EFBC06AA-D3FD-8832-E1EE-DF21DA76D0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-4225924" y="3477747"/>
                <a:ext cx="4068000" cy="2819218"/>
              </a:xfrm>
              <a:prstGeom prst="rect">
                <a:avLst/>
              </a:prstGeom>
              <a:solidFill>
                <a:schemeClr val="bg2"/>
              </a:solidFill>
              <a:ln w="28575"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altLang="ko-KR" sz="105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※ </a:t>
                </a:r>
                <a:r>
                  <a:rPr lang="en-US" altLang="ko-KR" sz="1050" b="1" dirty="0">
                    <a:solidFill>
                      <a:schemeClr val="tx1"/>
                    </a:solidFill>
                    <a:highlight>
                      <a:srgbClr val="FFFF00"/>
                    </a:highlight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[</a:t>
                </a:r>
                <a:r>
                  <a:rPr lang="ko-KR" altLang="en-US" sz="1050" b="1" dirty="0">
                    <a:solidFill>
                      <a:schemeClr val="tx1"/>
                    </a:solidFill>
                    <a:highlight>
                      <a:srgbClr val="FFFF00"/>
                    </a:highlight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표</a:t>
                </a:r>
                <a:r>
                  <a:rPr lang="en-US" altLang="ko-KR" sz="1050" b="1" dirty="0">
                    <a:solidFill>
                      <a:schemeClr val="tx1"/>
                    </a:solidFill>
                    <a:highlight>
                      <a:srgbClr val="FFFF00"/>
                    </a:highlight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4] </a:t>
                </a:r>
                <a:r>
                  <a:rPr lang="ko-KR" altLang="en-US" sz="1050" b="1" dirty="0">
                    <a:solidFill>
                      <a:schemeClr val="tx1"/>
                    </a:solidFill>
                    <a:highlight>
                      <a:srgbClr val="FFFF00"/>
                    </a:highlight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세부 작성 가이드</a:t>
                </a:r>
                <a:endParaRPr lang="en-US" altLang="ko-KR" sz="1050" b="1" dirty="0">
                  <a:solidFill>
                    <a:schemeClr val="tx1"/>
                  </a:solidFill>
                  <a:highlight>
                    <a:srgbClr val="FFFF00"/>
                  </a:highlight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지난 </a:t>
                </a:r>
                <a:r>
                  <a:rPr lang="en-US" altLang="ko-KR" sz="1050" u="sng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</a:t>
                </a:r>
                <a:r>
                  <a:rPr lang="ko-KR" altLang="en-US" sz="1050" u="sng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년간</a:t>
                </a:r>
                <a:r>
                  <a:rPr lang="en-US" altLang="ko-KR" sz="1050" u="sng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en-US" altLang="ko-KR" sz="1050" u="sng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2024~2025</a:t>
                </a:r>
                <a:r>
                  <a:rPr lang="ko-KR" altLang="en-US" sz="1050" u="sng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년</a:t>
                </a:r>
                <a:r>
                  <a:rPr lang="en-US" altLang="ko-KR" sz="1050" u="sng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</a:t>
                </a:r>
                <a:r>
                  <a:rPr lang="ko-KR" altLang="en-US" sz="1050" u="sng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실적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은 재무제표 등 </a:t>
                </a:r>
                <a:r>
                  <a:rPr lang="ko-KR" altLang="en-US" sz="1050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객관적인 근거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를 바탕으로 작성하며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50" u="sng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향후 </a:t>
                </a:r>
                <a:r>
                  <a:rPr lang="en-US" altLang="ko-KR" sz="1050" u="sng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3</a:t>
                </a:r>
                <a:r>
                  <a:rPr lang="ko-KR" altLang="en-US" sz="1050" u="sng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년간</a:t>
                </a:r>
                <a:r>
                  <a:rPr lang="en-US" altLang="ko-KR" sz="1050" u="sng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en-US" altLang="ko-KR" sz="1050" u="sng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2026~2028) </a:t>
                </a:r>
                <a:r>
                  <a:rPr lang="ko-KR" altLang="en-US" sz="1050" u="sng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예상 성과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는 구체적인 실행계획을 바탕으로 매출액 등을 </a:t>
                </a:r>
                <a:r>
                  <a:rPr lang="ko-KR" altLang="en-US" sz="1050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추정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하여 작성</a:t>
                </a:r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계산식</a:t>
                </a:r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171450" indent="-171450">
                  <a:buFontTx/>
                  <a:buChar char="-"/>
                </a:pP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4.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매출액 증가율</a:t>
                </a:r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5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05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HY견고딕" panose="02030600000101010101" pitchFamily="18" charset="-127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105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HY견고딕" panose="02030600000101010101" pitchFamily="18" charset="-127"/>
                                </a:rPr>
                              </m:ctrlPr>
                            </m:fPr>
                            <m:num>
                              <m:r>
                                <a:rPr lang="ko-KR" altLang="en-US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HY견고딕" panose="02030600000101010101" pitchFamily="18" charset="-127"/>
                                </a:rPr>
                                <m:t>해당</m:t>
                              </m:r>
                              <m:r>
                                <a:rPr lang="ko-KR" altLang="en-US" sz="105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HY견고딕" panose="02030600000101010101" pitchFamily="18" charset="-127"/>
                                </a:rPr>
                                <m:t>연도</m:t>
                              </m:r>
                              <m:r>
                                <a:rPr lang="en-US" altLang="ko-KR" sz="105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HY견고딕" panose="02030600000101010101" pitchFamily="18" charset="-127"/>
                                </a:rPr>
                                <m:t> </m:t>
                              </m:r>
                              <m:r>
                                <a:rPr lang="ko-KR" altLang="en-US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HY견고딕" panose="02030600000101010101" pitchFamily="18" charset="-127"/>
                                </a:rPr>
                                <m:t>매출액</m:t>
                              </m:r>
                              <m:r>
                                <a:rPr lang="en-US" altLang="ko-KR" sz="105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HY견고딕" panose="02030600000101010101" pitchFamily="18" charset="-127"/>
                                </a:rPr>
                                <m:t>−</m:t>
                              </m:r>
                              <m:r>
                                <a:rPr lang="ko-KR" altLang="en-US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HY견고딕" panose="02030600000101010101" pitchFamily="18" charset="-127"/>
                                </a:rPr>
                                <m:t>전년도</m:t>
                              </m:r>
                              <m:r>
                                <a:rPr lang="en-US" altLang="ko-KR" sz="105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HY견고딕" panose="02030600000101010101" pitchFamily="18" charset="-127"/>
                                </a:rPr>
                                <m:t> </m:t>
                              </m:r>
                              <m:r>
                                <a:rPr lang="ko-KR" altLang="en-US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HY견고딕" panose="02030600000101010101" pitchFamily="18" charset="-127"/>
                                </a:rPr>
                                <m:t>매출액</m:t>
                              </m:r>
                            </m:num>
                            <m:den>
                              <m:r>
                                <a:rPr lang="ko-KR" altLang="en-US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HY견고딕" panose="02030600000101010101" pitchFamily="18" charset="-127"/>
                                </a:rPr>
                                <m:t>전년도</m:t>
                              </m:r>
                              <m:r>
                                <a:rPr lang="en-US" altLang="ko-KR" sz="105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HY견고딕" panose="02030600000101010101" pitchFamily="18" charset="-127"/>
                                </a:rPr>
                                <m:t> </m:t>
                              </m:r>
                              <m:r>
                                <a:rPr lang="ko-KR" altLang="en-US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HY견고딕" panose="02030600000101010101" pitchFamily="18" charset="-127"/>
                                </a:rPr>
                                <m:t>매출액</m:t>
                              </m:r>
                            </m:den>
                          </m:f>
                        </m:e>
                      </m:d>
                      <m:r>
                        <a:rPr lang="en-US" altLang="ko-KR" sz="105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sz="105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171450" indent="-171450">
                  <a:buFontTx/>
                  <a:buChar char="-"/>
                </a:pP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6.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판관비율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05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05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105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</m:ctrlPr>
                          </m:fPr>
                          <m:num>
                            <m:r>
                              <a:rPr lang="ko-KR" altLang="en-US" sz="105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판매비</m:t>
                            </m:r>
                            <m:r>
                              <a:rPr lang="en-US" altLang="ko-KR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+</m:t>
                            </m:r>
                            <m:r>
                              <a:rPr lang="ko-KR" altLang="en-US" sz="105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관리비</m:t>
                            </m:r>
                          </m:num>
                          <m:den>
                            <m:r>
                              <a:rPr lang="ko-KR" altLang="en-US" sz="105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매출</m:t>
                            </m:r>
                          </m:den>
                        </m:f>
                      </m:e>
                    </m:d>
                    <m:r>
                      <a:rPr lang="en-US" altLang="ko-KR" sz="105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100</m:t>
                    </m:r>
                  </m:oMath>
                </a14:m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171450" indent="-171450">
                  <a:buFontTx/>
                  <a:buChar char="-"/>
                </a:pP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7.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영업이익율 </a:t>
                </a:r>
                <a14:m>
                  <m:oMath xmlns:m="http://schemas.openxmlformats.org/officeDocument/2006/math">
                    <m:r>
                      <a:rPr lang="en-US" altLang="ko-KR" sz="105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05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105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</m:ctrlPr>
                          </m:fPr>
                          <m:num>
                            <m:r>
                              <a:rPr lang="ko-KR" altLang="en-US" sz="105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영업이익</m:t>
                            </m:r>
                          </m:num>
                          <m:den>
                            <m:r>
                              <a:rPr lang="ko-KR" altLang="en-US" sz="105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매출</m:t>
                            </m:r>
                          </m:den>
                        </m:f>
                      </m:e>
                    </m:d>
                    <m:r>
                      <a:rPr lang="en-US" altLang="ko-KR" sz="105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100</m:t>
                    </m:r>
                  </m:oMath>
                </a14:m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171450" indent="-171450">
                  <a:buFontTx/>
                  <a:buChar char="-"/>
                </a:pPr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mc:Choice>
        <mc:Fallback xmlns="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EFBC06AA-D3FD-8832-E1EE-DF21DA76D0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225924" y="3477747"/>
                <a:ext cx="4068000" cy="28192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FF0000"/>
                </a:solidFill>
                <a:prstDash val="sysDash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5490ECA6-E5AA-9D54-4B02-318579A0B4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258214"/>
              </p:ext>
            </p:extLst>
          </p:nvPr>
        </p:nvGraphicFramePr>
        <p:xfrm>
          <a:off x="270503" y="3279445"/>
          <a:ext cx="9364993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593">
                  <a:extLst>
                    <a:ext uri="{9D8B030D-6E8A-4147-A177-3AD203B41FA5}">
                      <a16:colId xmlns:a16="http://schemas.microsoft.com/office/drawing/2014/main" val="95811163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1028737888"/>
                    </a:ext>
                  </a:extLst>
                </a:gridCol>
                <a:gridCol w="1436825">
                  <a:extLst>
                    <a:ext uri="{9D8B030D-6E8A-4147-A177-3AD203B41FA5}">
                      <a16:colId xmlns:a16="http://schemas.microsoft.com/office/drawing/2014/main" val="2881744402"/>
                    </a:ext>
                  </a:extLst>
                </a:gridCol>
                <a:gridCol w="1436825">
                  <a:extLst>
                    <a:ext uri="{9D8B030D-6E8A-4147-A177-3AD203B41FA5}">
                      <a16:colId xmlns:a16="http://schemas.microsoft.com/office/drawing/2014/main" val="3983801066"/>
                    </a:ext>
                  </a:extLst>
                </a:gridCol>
                <a:gridCol w="1436825">
                  <a:extLst>
                    <a:ext uri="{9D8B030D-6E8A-4147-A177-3AD203B41FA5}">
                      <a16:colId xmlns:a16="http://schemas.microsoft.com/office/drawing/2014/main" val="370184491"/>
                    </a:ext>
                  </a:extLst>
                </a:gridCol>
                <a:gridCol w="1436825">
                  <a:extLst>
                    <a:ext uri="{9D8B030D-6E8A-4147-A177-3AD203B41FA5}">
                      <a16:colId xmlns:a16="http://schemas.microsoft.com/office/drawing/2014/main" val="1179788974"/>
                    </a:ext>
                  </a:extLst>
                </a:gridCol>
                <a:gridCol w="1436825">
                  <a:extLst>
                    <a:ext uri="{9D8B030D-6E8A-4147-A177-3AD203B41FA5}">
                      <a16:colId xmlns:a16="http://schemas.microsoft.com/office/drawing/2014/main" val="1679161365"/>
                    </a:ext>
                  </a:extLst>
                </a:gridCol>
              </a:tblGrid>
              <a:tr h="23866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2024</a:t>
                      </a:r>
                      <a:endParaRPr lang="ko-KR" altLang="en-US" sz="1200" b="1" i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  <a:endParaRPr lang="ko-KR" altLang="en-US" sz="1200" b="1" i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</a:t>
                      </a:r>
                      <a:endParaRPr lang="ko-KR" altLang="en-US" sz="1200" b="1" i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b="1" i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2027</a:t>
                      </a:r>
                      <a:endParaRPr lang="ko-KR" altLang="en-US" sz="1200" b="1" i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2028</a:t>
                      </a:r>
                      <a:endParaRPr lang="ko-KR" altLang="en-US" sz="1200" b="1" i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0150470"/>
                  </a:ext>
                </a:extLst>
              </a:tr>
              <a:tr h="238662">
                <a:tc rowSpan="8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경영성과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매출액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000,000,000,000</a:t>
                      </a:r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000,000,000,000</a:t>
                      </a:r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000,000,000,000</a:t>
                      </a:r>
                      <a:endParaRPr kumimoji="0" lang="ko-KR" altLang="en-US" sz="12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000,000,000,000</a:t>
                      </a:r>
                      <a:endParaRPr kumimoji="0" lang="ko-KR" altLang="en-US" sz="12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1200" cap="none" spc="-15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000,000,000,000</a:t>
                      </a:r>
                      <a:endParaRPr kumimoji="0" lang="ko-KR" altLang="en-US" sz="12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158162"/>
                  </a:ext>
                </a:extLst>
              </a:tr>
              <a:tr h="2386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매출 원가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330737"/>
                  </a:ext>
                </a:extLst>
              </a:tr>
              <a:tr h="2386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</a:t>
                      </a:r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매출 총이익</a:t>
                      </a:r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(1-2)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338223"/>
                  </a:ext>
                </a:extLst>
              </a:tr>
              <a:tr h="2386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</a:t>
                      </a:r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매출액 증가율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실제 </a:t>
                      </a:r>
                      <a:r>
                        <a:rPr kumimoji="0" lang="en-US" altLang="ko-KR" sz="12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%</a:t>
                      </a:r>
                      <a:endParaRPr kumimoji="0" lang="ko-KR" altLang="en-US" sz="12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예상 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</a:t>
                      </a:r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예상 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</a:t>
                      </a:r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예상 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</a:t>
                      </a:r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1498929"/>
                  </a:ext>
                </a:extLst>
              </a:tr>
              <a:tr h="2386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 </a:t>
                      </a:r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판매비와 관리비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993503"/>
                  </a:ext>
                </a:extLst>
              </a:tr>
              <a:tr h="2386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0" i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 </a:t>
                      </a:r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판관비율</a:t>
                      </a:r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(5÷1)</a:t>
                      </a:r>
                      <a:endParaRPr lang="ko-KR" altLang="en-US" sz="1200" b="1" i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실제 </a:t>
                      </a:r>
                      <a:r>
                        <a:rPr kumimoji="0" lang="en-US" altLang="ko-KR" sz="12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%</a:t>
                      </a:r>
                      <a:endParaRPr kumimoji="0" lang="ko-KR" altLang="en-US" sz="12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실제 </a:t>
                      </a:r>
                      <a:r>
                        <a:rPr kumimoji="0" lang="en-US" altLang="ko-KR" sz="12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%</a:t>
                      </a:r>
                      <a:endParaRPr kumimoji="0" lang="ko-KR" altLang="en-US" sz="12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예상 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</a:t>
                      </a:r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예상 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</a:t>
                      </a:r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예상 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</a:t>
                      </a:r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090453"/>
                  </a:ext>
                </a:extLst>
              </a:tr>
              <a:tr h="23866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 </a:t>
                      </a:r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영업이익</a:t>
                      </a:r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(3-5)</a:t>
                      </a:r>
                      <a:endParaRPr lang="ko-KR" altLang="en-US" sz="1200" b="1" i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9408623"/>
                  </a:ext>
                </a:extLst>
              </a:tr>
              <a:tr h="2386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0" i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 </a:t>
                      </a:r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영업이익율</a:t>
                      </a:r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(7÷1)</a:t>
                      </a:r>
                      <a:endParaRPr lang="ko-KR" altLang="en-US" sz="1200" b="1" i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실제 </a:t>
                      </a:r>
                      <a:r>
                        <a:rPr kumimoji="0" lang="en-US" altLang="ko-KR" sz="12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%</a:t>
                      </a:r>
                      <a:endParaRPr kumimoji="0" lang="ko-KR" altLang="en-US" sz="12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실제 </a:t>
                      </a:r>
                      <a:r>
                        <a:rPr kumimoji="0" lang="en-US" altLang="ko-KR" sz="12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%</a:t>
                      </a:r>
                      <a:endParaRPr kumimoji="0" lang="ko-KR" altLang="en-US" sz="12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예상 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</a:t>
                      </a:r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예상 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</a:t>
                      </a:r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예상 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</a:t>
                      </a:r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272498"/>
                  </a:ext>
                </a:extLst>
              </a:tr>
              <a:tr h="23866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 </a:t>
                      </a:r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신규고용</a:t>
                      </a:r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i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192317"/>
                  </a:ext>
                </a:extLst>
              </a:tr>
              <a:tr h="2386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0" i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11. </a:t>
                      </a:r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투자유치</a:t>
                      </a:r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</a:t>
                      </a:r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i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559844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9A1ED489-7A0F-570C-BBEF-472FC7A64FC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9200" y="598750"/>
            <a:ext cx="32430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en-US" altLang="ko-KR" sz="2000" b="1" dirty="0">
                <a:solidFill>
                  <a:srgbClr val="2393C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02.</a:t>
            </a:r>
            <a:endParaRPr lang="ko-KR" altLang="en-US" sz="2000" b="1" dirty="0">
              <a:solidFill>
                <a:srgbClr val="2393C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15B370-4F0D-468C-479A-30428DAD350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1599" y="598750"/>
            <a:ext cx="39274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사업전략</a:t>
            </a:r>
          </a:p>
        </p:txBody>
      </p:sp>
      <p:sp>
        <p:nvSpPr>
          <p:cNvPr id="17" name="사각형: 둥근 모서리 12">
            <a:extLst>
              <a:ext uri="{FF2B5EF4-FFF2-40B4-BE49-F238E27FC236}">
                <a16:creationId xmlns:a16="http://schemas.microsoft.com/office/drawing/2014/main" id="{1103E0F0-E609-04A0-740E-9293D19B1A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4909" y="1050498"/>
            <a:ext cx="5400000" cy="412346"/>
          </a:xfrm>
          <a:prstGeom prst="roundRect">
            <a:avLst>
              <a:gd name="adj" fmla="val 50000"/>
            </a:avLst>
          </a:prstGeom>
          <a:solidFill>
            <a:srgbClr val="FFF7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742950" latinLnBrk="1">
              <a:defRPr/>
            </a:pP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 2-5. 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사업의 수익성 및 성장성 전망</a:t>
            </a:r>
          </a:p>
        </p:txBody>
      </p:sp>
      <p:sp>
        <p:nvSpPr>
          <p:cNvPr id="10" name="사각형: 둥근 모서리 12">
            <a:extLst>
              <a:ext uri="{FF2B5EF4-FFF2-40B4-BE49-F238E27FC236}">
                <a16:creationId xmlns:a16="http://schemas.microsoft.com/office/drawing/2014/main" id="{A65CB487-AD14-C430-DDEF-3E9AF74682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710" y="217617"/>
            <a:ext cx="1757386" cy="224783"/>
          </a:xfrm>
          <a:prstGeom prst="roundRect">
            <a:avLst>
              <a:gd name="adj" fmla="val 50000"/>
            </a:avLst>
          </a:prstGeom>
          <a:solidFill>
            <a:srgbClr val="2393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742950" latinLnBrk="1">
              <a:defRPr/>
            </a:pPr>
            <a:r>
              <a:rPr lang="ko-KR" altLang="en-US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제</a:t>
            </a:r>
            <a:r>
              <a:rPr lang="en-US" altLang="ko-KR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18</a:t>
            </a:r>
            <a:r>
              <a:rPr lang="ko-KR" altLang="en-US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회 </a:t>
            </a: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관광벤처사업 공모  </a:t>
            </a:r>
          </a:p>
        </p:txBody>
      </p:sp>
    </p:spTree>
    <p:extLst>
      <p:ext uri="{BB962C8B-B14F-4D97-AF65-F5344CB8AC3E}">
        <p14:creationId xmlns:p14="http://schemas.microsoft.com/office/powerpoint/2010/main" val="350375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8F353-69A0-BBB7-1F63-8A24B9B3D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98A5B761-97DF-0854-DBAF-4E2669F8F937}"/>
              </a:ext>
            </a:extLst>
          </p:cNvPr>
          <p:cNvGrpSpPr/>
          <p:nvPr/>
        </p:nvGrpSpPr>
        <p:grpSpPr>
          <a:xfrm>
            <a:off x="8642231" y="118686"/>
            <a:ext cx="535107" cy="185921"/>
            <a:chOff x="10399341" y="124622"/>
            <a:chExt cx="861590" cy="299357"/>
          </a:xfrm>
        </p:grpSpPr>
        <p:pic>
          <p:nvPicPr>
            <p:cNvPr id="25" name="그래픽 83">
              <a:extLst>
                <a:ext uri="{FF2B5EF4-FFF2-40B4-BE49-F238E27FC236}">
                  <a16:creationId xmlns:a16="http://schemas.microsoft.com/office/drawing/2014/main" id="{70D0A1AA-CB6D-52D3-3312-3850EBDC694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rcRect r="49942"/>
            <a:stretch/>
          </p:blipFill>
          <p:spPr>
            <a:xfrm>
              <a:off x="10399341" y="124622"/>
              <a:ext cx="302431" cy="299357"/>
            </a:xfrm>
            <a:prstGeom prst="rect">
              <a:avLst/>
            </a:prstGeom>
          </p:spPr>
        </p:pic>
        <p:pic>
          <p:nvPicPr>
            <p:cNvPr id="26" name="그래픽 84">
              <a:extLst>
                <a:ext uri="{FF2B5EF4-FFF2-40B4-BE49-F238E27FC236}">
                  <a16:creationId xmlns:a16="http://schemas.microsoft.com/office/drawing/2014/main" id="{1C7F22D2-9AF4-6613-636C-DBB79AB7DD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733879" y="165616"/>
              <a:ext cx="527052" cy="217370"/>
            </a:xfrm>
            <a:prstGeom prst="rect">
              <a:avLst/>
            </a:prstGeom>
          </p:spPr>
        </p:pic>
      </p:grpSp>
      <p:sp>
        <p:nvSpPr>
          <p:cNvPr id="14" name="Rectangle 2">
            <a:extLst>
              <a:ext uri="{FF2B5EF4-FFF2-40B4-BE49-F238E27FC236}">
                <a16:creationId xmlns:a16="http://schemas.microsoft.com/office/drawing/2014/main" id="{2262DD2E-C18F-936B-1960-69128503FF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973" y="3614557"/>
            <a:ext cx="1419420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31F24A-B2B5-4AB7-C49A-111421A13F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9200" y="598750"/>
            <a:ext cx="32430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en-US" altLang="ko-KR" sz="2000" b="1" dirty="0">
                <a:solidFill>
                  <a:srgbClr val="2393C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03.</a:t>
            </a:r>
            <a:endParaRPr lang="ko-KR" altLang="en-US" sz="2000" b="1" dirty="0">
              <a:solidFill>
                <a:srgbClr val="2393C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5DA9AA-DE98-2AAA-4AFB-959BA6AA1EF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1599" y="598750"/>
            <a:ext cx="39274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관광산업 파급효과 </a:t>
            </a:r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(2P </a:t>
            </a:r>
            <a:r>
              <a:rPr lang="ko-KR" altLang="en-US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이내</a:t>
            </a:r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)</a:t>
            </a:r>
            <a:endParaRPr lang="ko-KR" altLang="en-US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19" name="사각형: 둥근 모서리 12">
            <a:extLst>
              <a:ext uri="{FF2B5EF4-FFF2-40B4-BE49-F238E27FC236}">
                <a16:creationId xmlns:a16="http://schemas.microsoft.com/office/drawing/2014/main" id="{11E76D17-4943-414D-3E23-C714D0413E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4909" y="1050498"/>
            <a:ext cx="5400000" cy="412346"/>
          </a:xfrm>
          <a:prstGeom prst="roundRect">
            <a:avLst>
              <a:gd name="adj" fmla="val 50000"/>
            </a:avLst>
          </a:prstGeom>
          <a:solidFill>
            <a:srgbClr val="FFF7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742950" latinLnBrk="1">
              <a:defRPr/>
            </a:pP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 3-1. 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관광산업과의 연관성 및 지속가능성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D98244-2B75-5FE5-D11E-E278ED28C0F5}"/>
              </a:ext>
            </a:extLst>
          </p:cNvPr>
          <p:cNvSpPr txBox="1"/>
          <p:nvPr/>
        </p:nvSpPr>
        <p:spPr>
          <a:xfrm>
            <a:off x="1311966" y="1606815"/>
            <a:ext cx="8051110" cy="1343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just" defTabSz="4572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3-1.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관광산업과의 연관성 및 지속가능성</a:t>
            </a: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85800" lvl="1" indent="-228600" algn="just" fontAlgn="base" latinLnBrk="1">
              <a:lnSpc>
                <a:spcPct val="150000"/>
              </a:lnSpc>
              <a:defRPr/>
            </a:pP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○ 사업 아이템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관광산업 간의 연관성에 대해 기술</a:t>
            </a: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85800" lvl="1" indent="-228600" algn="just" fontAlgn="base" latinLnBrk="1">
              <a:lnSpc>
                <a:spcPct val="150000"/>
              </a:lnSpc>
              <a:defRPr/>
            </a:pP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○ 관광 산업이 </a:t>
            </a:r>
            <a:r>
              <a:rPr lang="ko-KR" altLang="en-US" sz="1400" b="1" kern="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지속가능하게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성장할 수 있도록 기여할 수 있는 방안에 대해 기술 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관광객 만족도 제고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관광 비활성화 지역 활성화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관광 업체 성장 기여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관광 인프라 구축 등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둥근 모서리 12">
            <a:extLst>
              <a:ext uri="{FF2B5EF4-FFF2-40B4-BE49-F238E27FC236}">
                <a16:creationId xmlns:a16="http://schemas.microsoft.com/office/drawing/2014/main" id="{A65CB487-AD14-C430-DDEF-3E9AF74682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710" y="217617"/>
            <a:ext cx="1757386" cy="224783"/>
          </a:xfrm>
          <a:prstGeom prst="roundRect">
            <a:avLst>
              <a:gd name="adj" fmla="val 50000"/>
            </a:avLst>
          </a:prstGeom>
          <a:solidFill>
            <a:srgbClr val="2393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742950" latinLnBrk="1">
              <a:defRPr/>
            </a:pPr>
            <a:r>
              <a:rPr lang="ko-KR" altLang="en-US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제</a:t>
            </a:r>
            <a:r>
              <a:rPr lang="en-US" altLang="ko-KR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18</a:t>
            </a:r>
            <a:r>
              <a:rPr lang="ko-KR" altLang="en-US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회 </a:t>
            </a: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관광벤처사업 공모  </a:t>
            </a:r>
          </a:p>
        </p:txBody>
      </p:sp>
    </p:spTree>
    <p:extLst>
      <p:ext uri="{BB962C8B-B14F-4D97-AF65-F5344CB8AC3E}">
        <p14:creationId xmlns:p14="http://schemas.microsoft.com/office/powerpoint/2010/main" val="885765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A42C7-7DDE-314C-BE78-9AB28150A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F5ED99B9-5EAF-E655-19D1-3C6AED6E1281}"/>
              </a:ext>
            </a:extLst>
          </p:cNvPr>
          <p:cNvGrpSpPr/>
          <p:nvPr/>
        </p:nvGrpSpPr>
        <p:grpSpPr>
          <a:xfrm>
            <a:off x="8642231" y="118686"/>
            <a:ext cx="535107" cy="185921"/>
            <a:chOff x="10399341" y="124622"/>
            <a:chExt cx="861590" cy="299357"/>
          </a:xfrm>
        </p:grpSpPr>
        <p:pic>
          <p:nvPicPr>
            <p:cNvPr id="25" name="그래픽 83">
              <a:extLst>
                <a:ext uri="{FF2B5EF4-FFF2-40B4-BE49-F238E27FC236}">
                  <a16:creationId xmlns:a16="http://schemas.microsoft.com/office/drawing/2014/main" id="{21813CBC-CBE8-B268-E4FF-D97580B8D8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rcRect r="49942"/>
            <a:stretch/>
          </p:blipFill>
          <p:spPr>
            <a:xfrm>
              <a:off x="10399341" y="124622"/>
              <a:ext cx="302431" cy="299357"/>
            </a:xfrm>
            <a:prstGeom prst="rect">
              <a:avLst/>
            </a:prstGeom>
          </p:spPr>
        </p:pic>
        <p:pic>
          <p:nvPicPr>
            <p:cNvPr id="26" name="그래픽 84">
              <a:extLst>
                <a:ext uri="{FF2B5EF4-FFF2-40B4-BE49-F238E27FC236}">
                  <a16:creationId xmlns:a16="http://schemas.microsoft.com/office/drawing/2014/main" id="{9EB7FE70-7F7E-2A36-83F4-549DE8EC4D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733879" y="165616"/>
              <a:ext cx="527052" cy="217370"/>
            </a:xfrm>
            <a:prstGeom prst="rect">
              <a:avLst/>
            </a:prstGeom>
          </p:spPr>
        </p:pic>
      </p:grpSp>
      <p:sp>
        <p:nvSpPr>
          <p:cNvPr id="14" name="Rectangle 2">
            <a:extLst>
              <a:ext uri="{FF2B5EF4-FFF2-40B4-BE49-F238E27FC236}">
                <a16:creationId xmlns:a16="http://schemas.microsoft.com/office/drawing/2014/main" id="{2D7C4D90-334F-AE39-3F8D-3AFA20AEE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973" y="3614557"/>
            <a:ext cx="1419420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C0BED3-B256-438C-F0D9-B731EF273F2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9200" y="598750"/>
            <a:ext cx="32430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en-US" altLang="ko-KR" sz="2000" b="1" dirty="0">
                <a:solidFill>
                  <a:srgbClr val="2393C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03.</a:t>
            </a:r>
            <a:endParaRPr lang="ko-KR" altLang="en-US" sz="2000" b="1" dirty="0">
              <a:solidFill>
                <a:srgbClr val="2393C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443CCF-4303-DA4D-EE10-39B4564725C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1599" y="598750"/>
            <a:ext cx="39274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관광산업 파급효과</a:t>
            </a:r>
            <a:endParaRPr lang="ko-KR" altLang="en-US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19" name="사각형: 둥근 모서리 12">
            <a:extLst>
              <a:ext uri="{FF2B5EF4-FFF2-40B4-BE49-F238E27FC236}">
                <a16:creationId xmlns:a16="http://schemas.microsoft.com/office/drawing/2014/main" id="{DD3AB7A3-7896-77B7-7DFF-C130F9DA2E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4909" y="1050498"/>
            <a:ext cx="5400000" cy="412346"/>
          </a:xfrm>
          <a:prstGeom prst="roundRect">
            <a:avLst>
              <a:gd name="adj" fmla="val 50000"/>
            </a:avLst>
          </a:prstGeom>
          <a:solidFill>
            <a:srgbClr val="FFF7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742950" latinLnBrk="1">
              <a:defRPr/>
            </a:pP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 3-2. 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관광산업 확장 가능성 및 기대효과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21213C-1907-153F-CBDF-9954E143B220}"/>
              </a:ext>
            </a:extLst>
          </p:cNvPr>
          <p:cNvSpPr txBox="1"/>
          <p:nvPr/>
        </p:nvSpPr>
        <p:spPr>
          <a:xfrm>
            <a:off x="644909" y="1606815"/>
            <a:ext cx="8841991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just" defTabSz="4572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3-2.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관광산업 확장 가능성 및 기대효과 </a:t>
            </a: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85800" lvl="1" indent="-228600" algn="just" fontAlgn="base" latinLnBrk="1">
              <a:lnSpc>
                <a:spcPct val="150000"/>
              </a:lnSpc>
              <a:defRPr/>
            </a:pP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○ 관광산업 확장에 기여할 수 있는 방안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새로운 관광 시장 창출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협력 가능성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대표 사례 공유 등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기술</a:t>
            </a: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85800" lvl="1" indent="-228600" algn="just" fontAlgn="base" latinLnBrk="1">
              <a:lnSpc>
                <a:spcPct val="150000"/>
              </a:lnSpc>
              <a:defRPr/>
            </a:pP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○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관광 산업 및 지역 경제에 미치는 긍정적인 영향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일자리 창출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지역 상권 활성화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지역 홍보 등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설명</a:t>
            </a:r>
          </a:p>
        </p:txBody>
      </p:sp>
      <p:sp>
        <p:nvSpPr>
          <p:cNvPr id="12" name="사각형: 둥근 모서리 12">
            <a:extLst>
              <a:ext uri="{FF2B5EF4-FFF2-40B4-BE49-F238E27FC236}">
                <a16:creationId xmlns:a16="http://schemas.microsoft.com/office/drawing/2014/main" id="{A65CB487-AD14-C430-DDEF-3E9AF74682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710" y="217617"/>
            <a:ext cx="1757386" cy="224783"/>
          </a:xfrm>
          <a:prstGeom prst="roundRect">
            <a:avLst>
              <a:gd name="adj" fmla="val 50000"/>
            </a:avLst>
          </a:prstGeom>
          <a:solidFill>
            <a:srgbClr val="2393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742950" latinLnBrk="1">
              <a:defRPr/>
            </a:pPr>
            <a:r>
              <a:rPr lang="ko-KR" altLang="en-US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제</a:t>
            </a:r>
            <a:r>
              <a:rPr lang="en-US" altLang="ko-KR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18</a:t>
            </a:r>
            <a:r>
              <a:rPr lang="ko-KR" altLang="en-US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회 </a:t>
            </a: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관광벤처사업 공모  </a:t>
            </a:r>
          </a:p>
        </p:txBody>
      </p:sp>
    </p:spTree>
    <p:extLst>
      <p:ext uri="{BB962C8B-B14F-4D97-AF65-F5344CB8AC3E}">
        <p14:creationId xmlns:p14="http://schemas.microsoft.com/office/powerpoint/2010/main" val="2174476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AC472-FFF5-2A06-21EA-D5B0E1188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C0642999-1A36-49A5-05E8-A2BEF8F03401}"/>
              </a:ext>
            </a:extLst>
          </p:cNvPr>
          <p:cNvGrpSpPr/>
          <p:nvPr/>
        </p:nvGrpSpPr>
        <p:grpSpPr>
          <a:xfrm>
            <a:off x="8642231" y="118686"/>
            <a:ext cx="535107" cy="185921"/>
            <a:chOff x="10399341" y="124622"/>
            <a:chExt cx="861590" cy="299357"/>
          </a:xfrm>
        </p:grpSpPr>
        <p:pic>
          <p:nvPicPr>
            <p:cNvPr id="25" name="그래픽 83">
              <a:extLst>
                <a:ext uri="{FF2B5EF4-FFF2-40B4-BE49-F238E27FC236}">
                  <a16:creationId xmlns:a16="http://schemas.microsoft.com/office/drawing/2014/main" id="{35372BBB-0D38-5860-2C9C-C29326917F3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rcRect r="49942"/>
            <a:stretch/>
          </p:blipFill>
          <p:spPr>
            <a:xfrm>
              <a:off x="10399341" y="124622"/>
              <a:ext cx="302431" cy="299357"/>
            </a:xfrm>
            <a:prstGeom prst="rect">
              <a:avLst/>
            </a:prstGeom>
          </p:spPr>
        </p:pic>
        <p:pic>
          <p:nvPicPr>
            <p:cNvPr id="26" name="그래픽 84">
              <a:extLst>
                <a:ext uri="{FF2B5EF4-FFF2-40B4-BE49-F238E27FC236}">
                  <a16:creationId xmlns:a16="http://schemas.microsoft.com/office/drawing/2014/main" id="{7CB14F66-0F52-EC44-7061-61FF6CBCA4F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733879" y="165616"/>
              <a:ext cx="527052" cy="217370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1F41C18-217D-5DA7-E9ED-C2F584B5001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9200" y="598750"/>
            <a:ext cx="32430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en-US" altLang="ko-KR" sz="2000" b="1" dirty="0">
                <a:solidFill>
                  <a:srgbClr val="2393C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04.</a:t>
            </a:r>
            <a:endParaRPr lang="ko-KR" altLang="en-US" sz="2000" b="1" dirty="0">
              <a:solidFill>
                <a:srgbClr val="2393C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DEE0D4-4562-919E-EED5-F4AC107843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1599" y="598750"/>
            <a:ext cx="39274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팀 역량 </a:t>
            </a:r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(3P </a:t>
            </a:r>
            <a:r>
              <a:rPr lang="ko-KR" altLang="en-US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이내</a:t>
            </a:r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)</a:t>
            </a:r>
            <a:endParaRPr lang="ko-KR" altLang="en-US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19" name="사각형: 둥근 모서리 12">
            <a:extLst>
              <a:ext uri="{FF2B5EF4-FFF2-40B4-BE49-F238E27FC236}">
                <a16:creationId xmlns:a16="http://schemas.microsoft.com/office/drawing/2014/main" id="{309905E8-77DE-D60B-EFD8-A4CA8F3BDF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4909" y="1050498"/>
            <a:ext cx="5400000" cy="412346"/>
          </a:xfrm>
          <a:prstGeom prst="roundRect">
            <a:avLst>
              <a:gd name="adj" fmla="val 50000"/>
            </a:avLst>
          </a:prstGeom>
          <a:solidFill>
            <a:srgbClr val="FFF7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742950" latinLnBrk="1">
              <a:defRPr/>
            </a:pP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 4-1. 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사업자의 전문성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C062CF-55D2-64E7-4AA9-7881A058DC27}"/>
              </a:ext>
            </a:extLst>
          </p:cNvPr>
          <p:cNvSpPr txBox="1"/>
          <p:nvPr/>
        </p:nvSpPr>
        <p:spPr>
          <a:xfrm>
            <a:off x="1311966" y="1606815"/>
            <a:ext cx="7622484" cy="1666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just" defTabSz="4572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4-1.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사업자의 전문성</a:t>
            </a: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85800" lvl="1" indent="-228600" algn="just" fontAlgn="base" latinLnBrk="1">
              <a:lnSpc>
                <a:spcPct val="150000"/>
              </a:lnSpc>
              <a:defRPr/>
            </a:pP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○ 사업 대표자의 보유 역량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경영 능력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경험 및 학력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기술력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네트워크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수상실적 등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전문성을 설명 </a:t>
            </a: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85800" lvl="1" indent="-228600" algn="just" fontAlgn="base" latinLnBrk="1">
              <a:lnSpc>
                <a:spcPct val="150000"/>
              </a:lnSpc>
              <a:defRPr/>
            </a:pP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○ 사업운영 능력을 제시하고 사업화 의지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도전정신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유사 경험 등을 설명</a:t>
            </a: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85800" lvl="1" indent="-228600" algn="just" fontAlgn="base" latinLnBrk="1">
              <a:lnSpc>
                <a:spcPct val="150000"/>
              </a:lnSpc>
              <a:defRPr/>
            </a:pPr>
            <a:endParaRPr lang="ko-KR" altLang="en-US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둥근 모서리 12">
            <a:extLst>
              <a:ext uri="{FF2B5EF4-FFF2-40B4-BE49-F238E27FC236}">
                <a16:creationId xmlns:a16="http://schemas.microsoft.com/office/drawing/2014/main" id="{A65CB487-AD14-C430-DDEF-3E9AF74682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710" y="217617"/>
            <a:ext cx="1757386" cy="224783"/>
          </a:xfrm>
          <a:prstGeom prst="roundRect">
            <a:avLst>
              <a:gd name="adj" fmla="val 50000"/>
            </a:avLst>
          </a:prstGeom>
          <a:solidFill>
            <a:srgbClr val="2393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742950" latinLnBrk="1">
              <a:defRPr/>
            </a:pPr>
            <a:r>
              <a:rPr lang="ko-KR" altLang="en-US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제</a:t>
            </a:r>
            <a:r>
              <a:rPr lang="en-US" altLang="ko-KR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18</a:t>
            </a:r>
            <a:r>
              <a:rPr lang="ko-KR" altLang="en-US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회 </a:t>
            </a: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관광벤처사업 공모  </a:t>
            </a:r>
          </a:p>
        </p:txBody>
      </p:sp>
    </p:spTree>
    <p:extLst>
      <p:ext uri="{BB962C8B-B14F-4D97-AF65-F5344CB8AC3E}">
        <p14:creationId xmlns:p14="http://schemas.microsoft.com/office/powerpoint/2010/main" val="3176337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64587-D0AB-27D7-154C-F6350BC79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C3E76115-D3DB-0808-CF9D-C39CA5931486}"/>
              </a:ext>
            </a:extLst>
          </p:cNvPr>
          <p:cNvGrpSpPr/>
          <p:nvPr/>
        </p:nvGrpSpPr>
        <p:grpSpPr>
          <a:xfrm>
            <a:off x="8642231" y="118686"/>
            <a:ext cx="535107" cy="185921"/>
            <a:chOff x="10399341" y="124622"/>
            <a:chExt cx="861590" cy="299357"/>
          </a:xfrm>
        </p:grpSpPr>
        <p:pic>
          <p:nvPicPr>
            <p:cNvPr id="25" name="그래픽 83">
              <a:extLst>
                <a:ext uri="{FF2B5EF4-FFF2-40B4-BE49-F238E27FC236}">
                  <a16:creationId xmlns:a16="http://schemas.microsoft.com/office/drawing/2014/main" id="{E22F07B4-E811-4DB1-D06A-D41E40947B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rcRect r="49942"/>
            <a:stretch/>
          </p:blipFill>
          <p:spPr>
            <a:xfrm>
              <a:off x="10399341" y="124622"/>
              <a:ext cx="302431" cy="299357"/>
            </a:xfrm>
            <a:prstGeom prst="rect">
              <a:avLst/>
            </a:prstGeom>
          </p:spPr>
        </p:pic>
        <p:pic>
          <p:nvPicPr>
            <p:cNvPr id="26" name="그래픽 84">
              <a:extLst>
                <a:ext uri="{FF2B5EF4-FFF2-40B4-BE49-F238E27FC236}">
                  <a16:creationId xmlns:a16="http://schemas.microsoft.com/office/drawing/2014/main" id="{25242D56-3EBE-F3DC-48BA-C840F700CF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733879" y="165616"/>
              <a:ext cx="527052" cy="217370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05A2BE7-94F9-99E5-512D-78A081E5B08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9200" y="598750"/>
            <a:ext cx="32430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en-US" altLang="ko-KR" sz="2000" b="1" dirty="0">
                <a:solidFill>
                  <a:srgbClr val="2393C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04.</a:t>
            </a:r>
            <a:endParaRPr lang="ko-KR" altLang="en-US" sz="2000" b="1" dirty="0">
              <a:solidFill>
                <a:srgbClr val="2393C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DA5300-9EE5-2E87-024D-A8809979F1B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1599" y="598750"/>
            <a:ext cx="39274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팀 역량</a:t>
            </a:r>
            <a:endParaRPr lang="ko-KR" altLang="en-US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19" name="사각형: 둥근 모서리 12">
            <a:extLst>
              <a:ext uri="{FF2B5EF4-FFF2-40B4-BE49-F238E27FC236}">
                <a16:creationId xmlns:a16="http://schemas.microsoft.com/office/drawing/2014/main" id="{1BE32C0B-9CEE-0B68-B731-66290014EB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4909" y="1050498"/>
            <a:ext cx="5400000" cy="412346"/>
          </a:xfrm>
          <a:prstGeom prst="roundRect">
            <a:avLst>
              <a:gd name="adj" fmla="val 50000"/>
            </a:avLst>
          </a:prstGeom>
          <a:solidFill>
            <a:srgbClr val="FFF7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742950" latinLnBrk="1">
              <a:defRPr/>
            </a:pP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 4-2. 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사업운영 능력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3A75E1-046B-BFC5-FB9A-BA580A7DB506}"/>
              </a:ext>
            </a:extLst>
          </p:cNvPr>
          <p:cNvSpPr txBox="1"/>
          <p:nvPr/>
        </p:nvSpPr>
        <p:spPr>
          <a:xfrm>
            <a:off x="1311966" y="1606815"/>
            <a:ext cx="7622484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just" defTabSz="4572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4-2.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사업운영 능력</a:t>
            </a: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85800" lvl="1" indent="-228600" algn="just" fontAlgn="base" latinLnBrk="1">
              <a:lnSpc>
                <a:spcPct val="150000"/>
              </a:lnSpc>
              <a:defRPr/>
            </a:pP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○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자사에서 보유하고 있는 장비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시설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특허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파트너십 등 활용할 수 있는 자원 </a:t>
            </a:r>
            <a:r>
              <a:rPr lang="ko-KR" altLang="en-US" sz="1400" b="1" kern="0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기재</a:t>
            </a:r>
            <a:endParaRPr lang="en-US" altLang="ko-KR" sz="1400" b="1" kern="0" dirty="0" smtClean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85800" lvl="1" indent="-228600" algn="just" fontAlgn="base" latinLnBrk="1">
              <a:lnSpc>
                <a:spcPct val="150000"/>
              </a:lnSpc>
              <a:defRPr/>
            </a:pPr>
            <a:r>
              <a:rPr lang="ko-KR" altLang="en-US" sz="1400" b="1" kern="0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○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</a:rPr>
              <a:t>구성원의 직무역량 강화 활동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</a:rPr>
              <a:t>조직 운영 시스템 개선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</a:rPr>
              <a:t>내부 프로세스 등</a:t>
            </a:r>
            <a:r>
              <a:rPr lang="en-US" altLang="ko-KR" sz="1400" b="1" kern="0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)</a:t>
            </a: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사각형: 둥근 모서리 12">
            <a:extLst>
              <a:ext uri="{FF2B5EF4-FFF2-40B4-BE49-F238E27FC236}">
                <a16:creationId xmlns:a16="http://schemas.microsoft.com/office/drawing/2014/main" id="{A65CB487-AD14-C430-DDEF-3E9AF74682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710" y="217617"/>
            <a:ext cx="1757386" cy="224783"/>
          </a:xfrm>
          <a:prstGeom prst="roundRect">
            <a:avLst>
              <a:gd name="adj" fmla="val 50000"/>
            </a:avLst>
          </a:prstGeom>
          <a:solidFill>
            <a:srgbClr val="2393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742950" latinLnBrk="1">
              <a:defRPr/>
            </a:pPr>
            <a:r>
              <a:rPr lang="ko-KR" altLang="en-US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제</a:t>
            </a:r>
            <a:r>
              <a:rPr lang="en-US" altLang="ko-KR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18</a:t>
            </a:r>
            <a:r>
              <a:rPr lang="ko-KR" altLang="en-US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회 </a:t>
            </a: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관광벤처사업 공모  </a:t>
            </a:r>
          </a:p>
        </p:txBody>
      </p:sp>
    </p:spTree>
    <p:extLst>
      <p:ext uri="{BB962C8B-B14F-4D97-AF65-F5344CB8AC3E}">
        <p14:creationId xmlns:p14="http://schemas.microsoft.com/office/powerpoint/2010/main" val="238746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ECCD2-2C4D-520A-0740-23920D5F9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FD0EF6A0-2AF0-3317-C032-65E6776F88FB}"/>
              </a:ext>
            </a:extLst>
          </p:cNvPr>
          <p:cNvGrpSpPr/>
          <p:nvPr/>
        </p:nvGrpSpPr>
        <p:grpSpPr>
          <a:xfrm>
            <a:off x="8642231" y="118686"/>
            <a:ext cx="535107" cy="185921"/>
            <a:chOff x="10399341" y="124622"/>
            <a:chExt cx="861590" cy="299357"/>
          </a:xfrm>
        </p:grpSpPr>
        <p:pic>
          <p:nvPicPr>
            <p:cNvPr id="25" name="그래픽 83">
              <a:extLst>
                <a:ext uri="{FF2B5EF4-FFF2-40B4-BE49-F238E27FC236}">
                  <a16:creationId xmlns:a16="http://schemas.microsoft.com/office/drawing/2014/main" id="{500130FC-F5B9-FA5C-C33C-31F11BECBB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rcRect r="49942"/>
            <a:stretch/>
          </p:blipFill>
          <p:spPr>
            <a:xfrm>
              <a:off x="10399341" y="124622"/>
              <a:ext cx="302431" cy="299357"/>
            </a:xfrm>
            <a:prstGeom prst="rect">
              <a:avLst/>
            </a:prstGeom>
          </p:spPr>
        </p:pic>
        <p:pic>
          <p:nvPicPr>
            <p:cNvPr id="26" name="그래픽 84">
              <a:extLst>
                <a:ext uri="{FF2B5EF4-FFF2-40B4-BE49-F238E27FC236}">
                  <a16:creationId xmlns:a16="http://schemas.microsoft.com/office/drawing/2014/main" id="{E4B4204A-7DC0-C830-290A-E657A69A53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733879" y="165616"/>
              <a:ext cx="527052" cy="217370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3D23918-A92B-8253-EB22-A6F792074F0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9200" y="598750"/>
            <a:ext cx="32430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en-US" altLang="ko-KR" sz="2000" b="1" dirty="0">
                <a:solidFill>
                  <a:srgbClr val="2393C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04.</a:t>
            </a:r>
            <a:endParaRPr lang="ko-KR" altLang="en-US" sz="2000" b="1" dirty="0">
              <a:solidFill>
                <a:srgbClr val="2393C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BC77A2-A077-18A4-4B6E-F30B650CC40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1599" y="598750"/>
            <a:ext cx="39274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팀 역량</a:t>
            </a:r>
            <a:endParaRPr lang="ko-KR" altLang="en-US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19" name="사각형: 둥근 모서리 12">
            <a:extLst>
              <a:ext uri="{FF2B5EF4-FFF2-40B4-BE49-F238E27FC236}">
                <a16:creationId xmlns:a16="http://schemas.microsoft.com/office/drawing/2014/main" id="{62D1F984-D1DE-D307-43C4-0CB8D4098B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4909" y="1050498"/>
            <a:ext cx="5400000" cy="412346"/>
          </a:xfrm>
          <a:prstGeom prst="roundRect">
            <a:avLst>
              <a:gd name="adj" fmla="val 50000"/>
            </a:avLst>
          </a:prstGeom>
          <a:solidFill>
            <a:srgbClr val="FFF7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742950" latinLnBrk="1">
              <a:defRPr/>
            </a:pP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 4-3. 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인력 및 조직 운영 계획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36B7C8-D302-459A-ACF3-BFAEF686BEC4}"/>
              </a:ext>
            </a:extLst>
          </p:cNvPr>
          <p:cNvSpPr txBox="1"/>
          <p:nvPr/>
        </p:nvSpPr>
        <p:spPr>
          <a:xfrm>
            <a:off x="1311966" y="1606815"/>
            <a:ext cx="7622484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just" defTabSz="4572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4-3.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인력 및 조직 운영 계획</a:t>
            </a: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85800" lvl="1" indent="-228600" algn="just" fontAlgn="base" latinLnBrk="1">
              <a:lnSpc>
                <a:spcPct val="150000"/>
              </a:lnSpc>
              <a:defRPr/>
            </a:pP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(1)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현재 보유 중인 역량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전문기술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경력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네트워크 등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활용방안과 부족한 역량 극복 방안 등 사업 조직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신규인력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외부파트너 협력 등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계획을 서술</a:t>
            </a: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143000" lvl="2" indent="-228600" algn="just" fontAlgn="base" latinLnBrk="1">
              <a:lnSpc>
                <a:spcPct val="150000"/>
              </a:lnSpc>
              <a:defRPr/>
            </a:pPr>
            <a:r>
              <a:rPr lang="ko-KR" altLang="en-US" sz="1400" b="1" kern="0" dirty="0">
                <a:solidFill>
                  <a:srgbClr val="FF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○</a:t>
            </a:r>
            <a:r>
              <a:rPr lang="en-US" altLang="ko-KR" sz="1400" b="1" kern="0" dirty="0">
                <a:solidFill>
                  <a:srgbClr val="FF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ko-KR" altLang="en-US" sz="1400" b="1" kern="0" dirty="0">
                <a:solidFill>
                  <a:srgbClr val="FF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필수</a:t>
            </a:r>
            <a:r>
              <a:rPr lang="en-US" altLang="ko-KR" sz="1400" b="1" kern="0" dirty="0">
                <a:solidFill>
                  <a:srgbClr val="FF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en-US" altLang="ko-KR" sz="1400" b="1" kern="0" dirty="0" smtClean="0">
                <a:solidFill>
                  <a:srgbClr val="FF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26</a:t>
            </a:r>
            <a:r>
              <a:rPr lang="ko-KR" altLang="en-US" sz="1400" b="1" kern="0" dirty="0" smtClean="0">
                <a:solidFill>
                  <a:srgbClr val="FF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ko-KR" altLang="en-US" sz="1400" b="1" kern="0" dirty="0">
                <a:solidFill>
                  <a:srgbClr val="FF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신규 고용 계획</a:t>
            </a:r>
            <a:r>
              <a:rPr lang="en-US" altLang="ko-KR" sz="1400" b="1" kern="0" dirty="0">
                <a:solidFill>
                  <a:srgbClr val="FF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kern="0" dirty="0">
                <a:solidFill>
                  <a:srgbClr val="FF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직무</a:t>
            </a:r>
            <a:r>
              <a:rPr lang="en-US" altLang="ko-KR" sz="1400" b="1" kern="0" dirty="0">
                <a:solidFill>
                  <a:srgbClr val="FF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kern="0" dirty="0">
                <a:solidFill>
                  <a:srgbClr val="FF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시기 등</a:t>
            </a:r>
            <a:r>
              <a:rPr lang="en-US" altLang="ko-KR" sz="1400" b="1" kern="0" dirty="0">
                <a:solidFill>
                  <a:srgbClr val="FF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400" b="1" kern="0" dirty="0">
                <a:solidFill>
                  <a:srgbClr val="FF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반드시 기재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marL="685800" lvl="1" indent="-228600" algn="just" fontAlgn="base" latinLnBrk="1">
              <a:lnSpc>
                <a:spcPct val="150000"/>
              </a:lnSpc>
              <a:defRPr/>
            </a:pP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(2)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 구성 현황 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5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참조</a:t>
            </a:r>
            <a:r>
              <a:rPr lang="en-US" altLang="ko-KR" sz="1400" b="1" kern="0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1400" b="1" kern="0" dirty="0">
              <a:solidFill>
                <a:srgbClr val="FF0000"/>
              </a:solidFill>
              <a:highlight>
                <a:srgbClr val="FFFF00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E6C927-ABB7-6B5F-CAC0-DEBA147C002F}"/>
              </a:ext>
            </a:extLst>
          </p:cNvPr>
          <p:cNvSpPr txBox="1"/>
          <p:nvPr/>
        </p:nvSpPr>
        <p:spPr>
          <a:xfrm>
            <a:off x="273949" y="3924659"/>
            <a:ext cx="93581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US" altLang="ko-KR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표</a:t>
            </a:r>
            <a:r>
              <a:rPr kumimoji="0" lang="en-US" altLang="ko-KR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5] </a:t>
            </a:r>
            <a:r>
              <a:rPr kumimoji="0" lang="ko-KR" altLang="en-US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팀 구성 현황</a:t>
            </a:r>
            <a:endParaRPr lang="ko-KR" altLang="en-US" b="1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49CF0A5-7F71-241F-F773-249D17B52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347471"/>
              </p:ext>
            </p:extLst>
          </p:nvPr>
        </p:nvGraphicFramePr>
        <p:xfrm>
          <a:off x="230798" y="4201850"/>
          <a:ext cx="9358100" cy="2047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5516">
                  <a:extLst>
                    <a:ext uri="{9D8B030D-6E8A-4147-A177-3AD203B41FA5}">
                      <a16:colId xmlns:a16="http://schemas.microsoft.com/office/drawing/2014/main" val="1198301924"/>
                    </a:ext>
                  </a:extLst>
                </a:gridCol>
                <a:gridCol w="1065516">
                  <a:extLst>
                    <a:ext uri="{9D8B030D-6E8A-4147-A177-3AD203B41FA5}">
                      <a16:colId xmlns:a16="http://schemas.microsoft.com/office/drawing/2014/main" val="95811163"/>
                    </a:ext>
                  </a:extLst>
                </a:gridCol>
                <a:gridCol w="1401120">
                  <a:extLst>
                    <a:ext uri="{9D8B030D-6E8A-4147-A177-3AD203B41FA5}">
                      <a16:colId xmlns:a16="http://schemas.microsoft.com/office/drawing/2014/main" val="1028737888"/>
                    </a:ext>
                  </a:extLst>
                </a:gridCol>
                <a:gridCol w="1299834">
                  <a:extLst>
                    <a:ext uri="{9D8B030D-6E8A-4147-A177-3AD203B41FA5}">
                      <a16:colId xmlns:a16="http://schemas.microsoft.com/office/drawing/2014/main" val="1587058688"/>
                    </a:ext>
                  </a:extLst>
                </a:gridCol>
                <a:gridCol w="3271319">
                  <a:extLst>
                    <a:ext uri="{9D8B030D-6E8A-4147-A177-3AD203B41FA5}">
                      <a16:colId xmlns:a16="http://schemas.microsoft.com/office/drawing/2014/main" val="2881744402"/>
                    </a:ext>
                  </a:extLst>
                </a:gridCol>
                <a:gridCol w="1254795">
                  <a:extLst>
                    <a:ext uri="{9D8B030D-6E8A-4147-A177-3AD203B41FA5}">
                      <a16:colId xmlns:a16="http://schemas.microsoft.com/office/drawing/2014/main" val="3235106151"/>
                    </a:ext>
                  </a:extLst>
                </a:gridCol>
              </a:tblGrid>
              <a:tr h="2925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담당업무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보유역량</a:t>
                      </a:r>
                      <a:r>
                        <a:rPr lang="en-US" altLang="ko-KR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경력</a:t>
                      </a:r>
                      <a:r>
                        <a:rPr lang="en-US" altLang="ko-KR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학력 등</a:t>
                      </a:r>
                      <a:r>
                        <a:rPr lang="en-US" altLang="ko-KR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채용상태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0150470"/>
                  </a:ext>
                </a:extLst>
              </a:tr>
              <a:tr h="2925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정규직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공동대표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SW 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 총괄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 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 교수 재직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(00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158162"/>
                  </a:ext>
                </a:extLst>
              </a:tr>
              <a:tr h="2925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정규직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김영희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홍보 및 마케팅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 전공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00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기업 </a:t>
                      </a:r>
                      <a:r>
                        <a:rPr lang="ko-KR" altLang="en-US" sz="1200" b="1" i="0" spc="-150" dirty="0" err="1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홍보팀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경력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(0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이상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330737"/>
                  </a:ext>
                </a:extLst>
              </a:tr>
              <a:tr h="2925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비정규직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 err="1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박춘식</a:t>
                      </a:r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해외 수출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기업 해외영업팀 경력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(00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338223"/>
                  </a:ext>
                </a:extLst>
              </a:tr>
              <a:tr h="2925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정규직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신규채용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1)</a:t>
                      </a:r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해외 수출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해외영업 경력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(4</a:t>
                      </a:r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년 이상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예정</a:t>
                      </a:r>
                      <a:r>
                        <a:rPr lang="en-US" altLang="ko-KR" sz="1200" b="1" i="0" spc="-15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altLang="ko-KR" sz="1200" b="1" i="0" spc="-150" dirty="0" smtClean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2026. 8</a:t>
                      </a:r>
                      <a:r>
                        <a:rPr lang="ko-KR" altLang="en-US" sz="1200" b="1" i="0" spc="-150" dirty="0" smtClean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r>
                        <a:rPr lang="en-US" altLang="ko-KR" sz="1200" b="1" i="0" spc="-150" dirty="0" smtClean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844958"/>
                  </a:ext>
                </a:extLst>
              </a:tr>
              <a:tr h="2925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736858"/>
                  </a:ext>
                </a:extLst>
              </a:tr>
              <a:tr h="2925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72047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9C86A2F8-F102-BA74-2EBB-7A316CEDCC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4200524" y="4232435"/>
            <a:ext cx="4068000" cy="2016915"/>
          </a:xfrm>
          <a:prstGeom prst="rect">
            <a:avLst/>
          </a:prstGeom>
          <a:solidFill>
            <a:schemeClr val="bg2"/>
          </a:solidFill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en-US" altLang="ko-KR" sz="1050" b="1" dirty="0">
                <a:solidFill>
                  <a:schemeClr val="tx1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050" b="1" dirty="0">
                <a:solidFill>
                  <a:schemeClr val="tx1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표</a:t>
            </a:r>
            <a:r>
              <a:rPr lang="en-US" altLang="ko-KR" sz="1050" b="1" dirty="0">
                <a:solidFill>
                  <a:schemeClr val="tx1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5] </a:t>
            </a:r>
            <a:r>
              <a:rPr lang="ko-KR" altLang="en-US" sz="1050" b="1" dirty="0">
                <a:solidFill>
                  <a:schemeClr val="tx1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세부 작성 가이드</a:t>
            </a:r>
            <a:endParaRPr lang="en-US" altLang="ko-KR" sz="1050" b="1" dirty="0">
              <a:solidFill>
                <a:schemeClr val="tx1"/>
              </a:solidFill>
              <a:highlight>
                <a:srgbClr val="FFFF00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 기업의 특성에 맞게 가감하여 작성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표의 행 추가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14" name="사각형: 둥근 모서리 12">
            <a:extLst>
              <a:ext uri="{FF2B5EF4-FFF2-40B4-BE49-F238E27FC236}">
                <a16:creationId xmlns:a16="http://schemas.microsoft.com/office/drawing/2014/main" id="{A65CB487-AD14-C430-DDEF-3E9AF74682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710" y="217617"/>
            <a:ext cx="1757386" cy="224783"/>
          </a:xfrm>
          <a:prstGeom prst="roundRect">
            <a:avLst>
              <a:gd name="adj" fmla="val 50000"/>
            </a:avLst>
          </a:prstGeom>
          <a:solidFill>
            <a:srgbClr val="2393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742950" latinLnBrk="1">
              <a:defRPr/>
            </a:pPr>
            <a:r>
              <a:rPr lang="ko-KR" altLang="en-US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제</a:t>
            </a:r>
            <a:r>
              <a:rPr lang="en-US" altLang="ko-KR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18</a:t>
            </a:r>
            <a:r>
              <a:rPr lang="ko-KR" altLang="en-US" sz="1050" b="1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회 </a:t>
            </a: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관광벤처사업 공모  </a:t>
            </a:r>
          </a:p>
        </p:txBody>
      </p:sp>
    </p:spTree>
    <p:extLst>
      <p:ext uri="{BB962C8B-B14F-4D97-AF65-F5344CB8AC3E}">
        <p14:creationId xmlns:p14="http://schemas.microsoft.com/office/powerpoint/2010/main" val="3089263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FF827555-E272-ADDA-3F64-ED16C4E96790}"/>
              </a:ext>
            </a:extLst>
          </p:cNvPr>
          <p:cNvSpPr txBox="1"/>
          <p:nvPr/>
        </p:nvSpPr>
        <p:spPr>
          <a:xfrm>
            <a:off x="3368018" y="2347779"/>
            <a:ext cx="3282309" cy="7201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defTabSz="742950" latinLnBrk="1">
              <a:lnSpc>
                <a:spcPct val="90000"/>
              </a:lnSpc>
              <a:defRPr/>
            </a:pPr>
            <a:r>
              <a:rPr lang="ko-KR" altLang="en-US" sz="5200" b="1" spc="-81" dirty="0">
                <a:solidFill>
                  <a:srgbClr val="2696C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감사합니다</a:t>
            </a:r>
          </a:p>
        </p:txBody>
      </p:sp>
      <p:pic>
        <p:nvPicPr>
          <p:cNvPr id="10" name="그림 9" descr="텍스트이(가) 표시된 사진&#10;&#10;자동 생성된 설명">
            <a:extLst>
              <a:ext uri="{FF2B5EF4-FFF2-40B4-BE49-F238E27FC236}">
                <a16:creationId xmlns:a16="http://schemas.microsoft.com/office/drawing/2014/main" id="{458B1287-B1CF-1898-B405-552D90C909B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8871" y="370427"/>
            <a:ext cx="1130017" cy="379686"/>
          </a:xfrm>
          <a:prstGeom prst="rect">
            <a:avLst/>
          </a:prstGeom>
        </p:spPr>
      </p:pic>
      <p:pic>
        <p:nvPicPr>
          <p:cNvPr id="5" name="Picture 2" descr="관광벤처지원사업_로고(세로조합)_2026년.png">
            <a:extLst>
              <a:ext uri="{FF2B5EF4-FFF2-40B4-BE49-F238E27FC236}">
                <a16:creationId xmlns:a16="http://schemas.microsoft.com/office/drawing/2014/main" id="{0EC1808C-EC12-4FE3-8D98-479F4E9BF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2729" y="360711"/>
            <a:ext cx="752694" cy="435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663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17240</TotalTime>
  <Words>2913</Words>
  <Application>Microsoft Office PowerPoint</Application>
  <PresentationFormat>A4 용지(210x297mm)</PresentationFormat>
  <Paragraphs>462</Paragraphs>
  <Slides>20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30" baseType="lpstr">
      <vt:lpstr>Cambria Math</vt:lpstr>
      <vt:lpstr>맑은 고딕</vt:lpstr>
      <vt:lpstr>Arial</vt:lpstr>
      <vt:lpstr>Calibri</vt:lpstr>
      <vt:lpstr>Wingdings</vt:lpstr>
      <vt:lpstr>Calibri Light</vt:lpstr>
      <vt:lpstr>Pretendard Black</vt:lpstr>
      <vt:lpstr>HY견고딕</vt:lpstr>
      <vt:lpstr>맑은 고딕 Semilight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meanofours@naver.com</dc:creator>
  <cp:lastModifiedBy>USER</cp:lastModifiedBy>
  <cp:revision>498</cp:revision>
  <cp:lastPrinted>2024-03-13T09:35:33Z</cp:lastPrinted>
  <dcterms:created xsi:type="dcterms:W3CDTF">2020-02-26T06:57:46Z</dcterms:created>
  <dcterms:modified xsi:type="dcterms:W3CDTF">2026-04-27T10:32:14Z</dcterms:modified>
</cp:coreProperties>
</file>