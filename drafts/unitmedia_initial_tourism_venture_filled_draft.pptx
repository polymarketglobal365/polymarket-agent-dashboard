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64" r:id="rId2"/>
    <p:sldId id="362" r:id="rId3"/>
    <p:sldId id="343" r:id="rId4"/>
    <p:sldId id="361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8" r:id="rId14"/>
    <p:sldId id="387" r:id="rId15"/>
    <p:sldId id="373" r:id="rId16"/>
    <p:sldId id="389" r:id="rId17"/>
    <p:sldId id="390" r:id="rId18"/>
    <p:sldId id="391" r:id="rId19"/>
    <p:sldId id="392" r:id="rId20"/>
    <p:sldId id="350" r:id="rId21"/>
  </p:sldIdLst>
  <p:sldSz cx="9906000" cy="6858000" type="A4"/>
  <p:notesSz cx="6797675" cy="9926638"/>
  <p:embeddedFontLst>
    <p:embeddedFont>
      <p:font typeface="Cambria Math" panose="02040503050406030204" pitchFamily="18" charset="0"/>
      <p:regular r:id="rId24"/>
    </p:embeddedFont>
    <p:embeddedFont>
      <p:font typeface="HY견고딕" panose="02030600000101010101" pitchFamily="18" charset="-127"/>
      <p:regular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2" userDrawn="1">
          <p15:clr>
            <a:srgbClr val="A4A3A4"/>
          </p15:clr>
        </p15:guide>
        <p15:guide id="2" pos="3097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6000" userDrawn="1">
          <p15:clr>
            <a:srgbClr val="A4A3A4"/>
          </p15:clr>
        </p15:guide>
        <p15:guide id="5" orient="horz" pos="572" userDrawn="1">
          <p15:clr>
            <a:srgbClr val="A4A3A4"/>
          </p15:clr>
        </p15:guide>
        <p15:guide id="6" orient="horz" pos="3385" userDrawn="1">
          <p15:clr>
            <a:srgbClr val="A4A3A4"/>
          </p15:clr>
        </p15:guide>
        <p15:guide id="7" orient="horz" pos="3974" userDrawn="1">
          <p15:clr>
            <a:srgbClr val="A4A3A4"/>
          </p15:clr>
        </p15:guide>
        <p15:guide id="8" orient="horz" pos="7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8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D9D9D9"/>
    <a:srgbClr val="FFF7A2"/>
    <a:srgbClr val="FFF7A0"/>
    <a:srgbClr val="B4DFF2"/>
    <a:srgbClr val="2393C5"/>
    <a:srgbClr val="2696C8"/>
    <a:srgbClr val="3E3E3E"/>
    <a:srgbClr val="3B6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4" autoAdjust="0"/>
    <p:restoredTop sz="96046" autoAdjust="0"/>
  </p:normalViewPr>
  <p:slideViewPr>
    <p:cSldViewPr snapToGrid="0">
      <p:cViewPr>
        <p:scale>
          <a:sx n="100" d="100"/>
          <a:sy n="100" d="100"/>
        </p:scale>
        <p:origin x="1800" y="396"/>
      </p:cViewPr>
      <p:guideLst>
        <p:guide orient="horz" pos="2432"/>
        <p:guide pos="3097"/>
        <p:guide pos="240"/>
        <p:guide pos="6000"/>
        <p:guide orient="horz" pos="572"/>
        <p:guide orient="horz" pos="3385"/>
        <p:guide orient="horz" pos="3974"/>
        <p:guide orient="horz" pos="77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34702-056B-476C-9177-3F0C5237826B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1AB61-240D-4192-8072-98E893CB87F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3661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528CD394-D876-4511-81A7-1809C747AAB4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BA01EAC8-16D7-40AB-9B39-1FA8314D28F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4692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613">
              <a:defRPr/>
            </a:pPr>
            <a:r>
              <a:rPr lang="ko-KR" altLang="en-US" dirty="0"/>
              <a:t>관광벤처사업이란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/>
              <a:t>관광객이</a:t>
            </a:r>
            <a:r>
              <a:rPr lang="en-US" altLang="ko-KR" baseline="0" dirty="0"/>
              <a:t>…..</a:t>
            </a:r>
            <a:r>
              <a:rPr lang="ko-KR" altLang="en-US" baseline="0" dirty="0"/>
              <a:t>사업</a:t>
            </a:r>
            <a:endParaRPr lang="en-US" altLang="ko-KR" baseline="0" dirty="0"/>
          </a:p>
          <a:p>
            <a:pPr defTabSz="955613">
              <a:defRPr/>
            </a:pPr>
            <a:r>
              <a:rPr lang="ko-KR" altLang="en-US" baseline="0" dirty="0"/>
              <a:t>체험콘텐츠형</a:t>
            </a:r>
            <a:r>
              <a:rPr lang="en-US" altLang="ko-KR" baseline="0" dirty="0"/>
              <a:t>, </a:t>
            </a:r>
            <a:r>
              <a:rPr lang="ko-KR" altLang="en-US" baseline="0" dirty="0"/>
              <a:t>기술혁신형</a:t>
            </a:r>
            <a:r>
              <a:rPr lang="en-US" altLang="ko-KR" baseline="0" dirty="0"/>
              <a:t>, </a:t>
            </a:r>
            <a:r>
              <a:rPr lang="ko-KR" altLang="en-US" baseline="0" dirty="0"/>
              <a:t>시설기반형 그리고 세가지 유형에 속하지 않는 창의적인 관광사업은 기타형으로 분류하고 있음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882213" latinLnBrk="1">
              <a:defRPr/>
            </a:pPr>
            <a:fld id="{7FB34BD7-4BD3-4ED4-A1FE-F231BBDA2C2B}" type="slidenum">
              <a:rPr lang="ko-KR" altLang="en-US" sz="12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882213" latinLnBrk="1">
                <a:defRPr/>
              </a:pPr>
              <a:t>3</a:t>
            </a:fld>
            <a:endParaRPr lang="ko-KR" altLang="en-US" sz="12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0276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8839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A5FA-9D9E-C6AA-D00C-774D44ED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F6E3A9-D0AE-FD71-B685-13C3282CD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9E8404-0389-9176-DFE6-0ACD5B433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349D4-723F-2ED3-3D59-A06B19A2C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2633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17DF-9F71-B620-21E2-D22C3C3A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160B22-0CE7-0E6A-2943-C3770807D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3F9238-46B7-6C8D-0C09-9646F83F2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FE8C25-C186-E091-BC27-B0ED9566F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1221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0E439-04A8-7005-6AB6-4E51173A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A6C61A-26C6-73DB-207E-39D29C963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E7AA3D-1FE6-374F-D1BE-AE1C5FD06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594FB-10EF-871C-765D-D235993A7F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7196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FD39-B297-F16C-30BB-A359198C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93A92-8702-FE8C-A321-DCC94F450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E87DA1-B8CD-54E0-464E-B2B70C26A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A52EB-A81F-089E-75E8-3C0560120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681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4C71-4D0C-B158-C2BE-C14FEFAB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A40185-C179-DE60-E104-7A1B04211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78456A-3C39-187A-581F-8AD88B552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7219A5-ECDB-E69D-244D-C21E67EEC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1457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DBC17-414E-D1D0-D48A-5D8F7865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6AD2F-FA82-9F63-61AB-63D9DE6F9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3E89FC-EB86-3A14-C3AD-7A4DC7231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A5C3C-F8D8-6C68-7139-DAF4DDEB9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2300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E5066-DD80-8C3C-C3B4-10A6C5F1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8BAC64-3DDD-2E93-D192-19E2276A7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06C41D-EBEB-E93F-244C-4537732FC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0DFAE4-D92D-FB16-B42A-A82C61870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0627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791A2-0660-EF68-2E8F-0AAC53CF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3E847C-E52A-DB5A-18C5-B422A6DD4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21F17E-88EA-0946-6449-F9F851256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BDEEB5-E098-15D0-3D5D-95E5BCA1E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3336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746C1-EB11-73FC-7BDC-0BFD71C1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297E6C-3DC9-EDCE-3C01-2CDE2B49B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12DF16-0E67-88A9-7833-A717B4803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B3CCA9-BD5F-017E-AA08-0369EE21F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2663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3D08-AB52-3500-C89F-CA74323A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5DEE39-4BFC-251A-4BC4-99A469C25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32F52F-A789-9856-7787-2EB64851C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CC332-1C76-2A2C-6758-3C6A1233D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3017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A1A87-C3B0-4A49-C411-5E339AC53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6C043E-9F73-6567-ACE6-E60759A73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075F90-CFBC-234D-0DBD-7CAEAF9AD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4BDB45-1D35-21FA-95E2-4FB78D533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6960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75350-339D-8F36-7F86-33B13035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A3387-727C-EA7A-5AA7-39B109569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F7273F-7152-0DF8-5DA1-CC40EC6B5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A1FD66-7E01-D0A9-400C-CAAF678AB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447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838A-96AC-6BB9-0AFC-8316CD564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95F03E-C229-6127-F9F1-0A82B0FB0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208F8-67DE-41AA-7572-6070C0460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9DF9A8-0ACC-B1E2-CCFF-C42422BDA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448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293E-57E3-7082-81C1-0BDD0F94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FB99C9-0F3F-9A5D-0126-D86E3F7F2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8EF896-4ECD-D95D-9085-75F577137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30D73-22BE-E16E-80F2-8281E47609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75061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709E-8C1D-3E24-8881-82A4103F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2F7402-A572-3AD5-3E3B-75D710F76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330D6F-FECE-B76F-6C4F-798AECDAD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D77E1-3C0C-197A-51A0-FDE2A7DDB2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BB6F-D118-4B01-A295-CD904A59D47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4924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11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9533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881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215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3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86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083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105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4496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44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821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369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3E98C-806F-4D03-834C-82C208916B02}" type="datetimeFigureOut">
              <a:rPr lang="ko-KR" altLang="en-US" smtClean="0"/>
              <a:t>2026-05-06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CCBA6-625B-4DE6-B997-775AB8FC195E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A7523D-E5C9-2735-9D1D-31DDDD9D69FA}"/>
              </a:ext>
            </a:extLst>
          </p:cNvPr>
          <p:cNvSpPr/>
          <p:nvPr/>
        </p:nvSpPr>
        <p:spPr>
          <a:xfrm>
            <a:off x="0" y="6438221"/>
            <a:ext cx="9906000" cy="422886"/>
          </a:xfrm>
          <a:prstGeom prst="rect">
            <a:avLst/>
          </a:prstGeom>
          <a:solidFill>
            <a:srgbClr val="27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latinLnBrk="1">
              <a:defRPr/>
            </a:pPr>
            <a:endParaRPr lang="ko-KR" altLang="en-US" sz="1463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6624638" y="6559372"/>
            <a:ext cx="28440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The</a:t>
            </a:r>
            <a:r>
              <a:rPr lang="en-US" altLang="ko-KR" sz="800" b="0" baseline="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18</a:t>
            </a:r>
            <a:r>
              <a:rPr lang="en-US" altLang="ko-KR" sz="800" b="0" baseline="30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th</a:t>
            </a:r>
            <a:r>
              <a:rPr lang="en-US" altLang="ko-KR" sz="800" b="0" baseline="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Tourism Venture Accelerating Program</a:t>
            </a:r>
            <a:endParaRPr lang="ko-KR" altLang="en-US" sz="800" b="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55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74C61-A7DA-9E95-9641-47E4E384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0D45BC33-8F28-5CE0-10EB-21F75E4E626B}"/>
              </a:ext>
            </a:extLst>
          </p:cNvPr>
          <p:cNvSpPr>
            <a:spLocks/>
          </p:cNvSpPr>
          <p:nvPr/>
        </p:nvSpPr>
        <p:spPr>
          <a:xfrm>
            <a:off x="2586446" y="5593035"/>
            <a:ext cx="1367245" cy="291431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908E5A-9DF4-5CD3-C23C-5089F29FF5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1975" y="1467443"/>
            <a:ext cx="9344025" cy="4768062"/>
          </a:xfrm>
          <a:prstGeom prst="rect">
            <a:avLst/>
          </a:prstGeom>
          <a:noFill/>
        </p:spPr>
        <p:txBody>
          <a:bodyPr wrap="square" lIns="40500" tIns="27000" rIns="40500" bIns="27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사업계획서 분량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총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20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페이지 이내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앞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&amp;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뒤 표지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목차 포함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★분량 엄수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PT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발표 시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본 자료로 발표하며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총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분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발표시간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5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분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질의응답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10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분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진행 예정 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5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본문 글꼴 및 줄 간격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본문 글꼴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제한 없음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본문 내용의 글꼴 크기 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14pt~18pt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권장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내용이나 상황에 따라 조절 가능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본문 내용의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줄 간격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1.5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배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권장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내용이나 상황에 따라 조절 가능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5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3.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작성내용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객관적으로 입증 가능한 근거에 따른 정확한 사실이어야 함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미 작성 또는 누락 시 감점 함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설명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제시하고자 하는 내용 및 의미가 명료하고 간결해야 함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본 작성 안내 페이지는 삭제 후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PDF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파일로 변환하여 제출</a:t>
            </a: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빨간색 글씨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 작성된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작성요령 및 예시는 참고하여 작성 후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제출 시 삭제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하고 검정 글씨로 작성하여 제출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○ 사업계획서 양식은 변경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·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삭제할 수 없으며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추가 설명을 위한 이미지 또는 표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행 추가 등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등은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삽입 가능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동영상 삽입 불가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*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상황에 따라 고정된 소제목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노란색 도형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의 위치는 변경 가능하나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삭제는 불가하며 목차별 지정된 페이지 수 엄수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*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노란색 도형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소제목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위치변경 방법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네모박스 클릭 → 마우스 우 클릭 → 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잠금 해제</a:t>
            </a:r>
            <a:r>
              <a:rPr lang="en-US" altLang="ko-KR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(L)’</a:t>
            </a:r>
            <a:r>
              <a:rPr lang="ko-KR" altLang="en-US" sz="1400" b="1" kern="100" spc="-150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선택</a:t>
            </a:r>
            <a:endParaRPr lang="en-US" altLang="ko-KR" sz="1400" b="1" kern="100" spc="-150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755D05-25E1-8276-5A76-AC2CE504D8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334" y="405146"/>
            <a:ext cx="3758721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742950" latinLnBrk="1">
              <a:lnSpc>
                <a:spcPct val="90000"/>
              </a:lnSpc>
              <a:defRPr/>
            </a:pPr>
            <a:r>
              <a:rPr lang="ko-KR" altLang="en-US" sz="25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제</a:t>
            </a:r>
            <a:r>
              <a:rPr lang="en-US" altLang="ko-KR" sz="25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18</a:t>
            </a:r>
            <a:r>
              <a:rPr lang="ko-KR" altLang="en-US" sz="25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회</a:t>
            </a:r>
            <a:r>
              <a:rPr lang="en-US" altLang="ko-KR" sz="25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5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관광벤처사업 공모 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D14EB6E-F1A3-4E8C-EB7C-7547B1B58C6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23334" y="809149"/>
            <a:ext cx="3661649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A741E2BE-EEDB-BCB2-4467-ECA3F8CF5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5703" y="971955"/>
            <a:ext cx="6069600" cy="411079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en-US" altLang="ko-KR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※ </a:t>
            </a:r>
            <a:r>
              <a: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초기 관광벤처 사업계획서 및 발표심사 자료 작성 안내</a:t>
            </a: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458B1287-B1CF-1898-B405-552D90C909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871" y="370427"/>
            <a:ext cx="1130017" cy="379686"/>
          </a:xfrm>
          <a:prstGeom prst="rect">
            <a:avLst/>
          </a:prstGeom>
        </p:spPr>
      </p:pic>
      <p:pic>
        <p:nvPicPr>
          <p:cNvPr id="14" name="Picture 2" descr="관광벤처지원사업_로고(세로조합)_2026년.png">
            <a:extLst>
              <a:ext uri="{FF2B5EF4-FFF2-40B4-BE49-F238E27FC236}">
                <a16:creationId xmlns:a16="http://schemas.microsoft.com/office/drawing/2014/main" id="{0EC1808C-EC12-4FE3-8D98-479F4E9BF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129" y="356473"/>
            <a:ext cx="752694" cy="43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465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24D0-79E6-1E74-EF2B-650D3E63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6126F62-FF4A-8916-00F6-53A7F64559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6425" y="1674577"/>
            <a:ext cx="6737101" cy="6093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742950" latinLnBrk="1">
              <a:lnSpc>
                <a:spcPct val="90000"/>
              </a:lnSpc>
              <a:defRPr/>
            </a:pPr>
            <a:r>
              <a:rPr lang="ko-KR" altLang="en-US" sz="44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44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44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</a:t>
            </a:r>
            <a:r>
              <a:rPr lang="en-US" altLang="ko-KR" sz="44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</a:t>
            </a:r>
            <a:r>
              <a:rPr lang="ko-KR" altLang="en-US" sz="4400" b="1" spc="-81" dirty="0">
                <a:solidFill>
                  <a:srgbClr val="51A3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관광벤처사업 공모 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459C17F-83DC-A60A-5056-F28F47567E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6425" y="2431004"/>
            <a:ext cx="5111900" cy="1410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B4A552DD-36B4-7617-22DD-C5413C6CA5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435" y="2793136"/>
            <a:ext cx="5346441" cy="881882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ko-KR" altLang="en-US" sz="2000" b="1">
                <a:solidFill>
                  <a:srgbClr val="FFF7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기업명 </a:t>
            </a:r>
            <a:r>
              <a:rPr lang="en-US" altLang="ko-KR" sz="2000" b="1">
                <a:solidFill>
                  <a:srgbClr val="FFF7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: </a:t>
            </a:r>
            <a:r>
              <a:rPr lang="ko-KR" altLang="en-US" sz="2000" b="1">
                <a:solidFill>
                  <a:srgbClr val="FFF7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유니트미디어</a:t>
            </a:r>
            <a:r>
              <a:rPr lang="en-US" altLang="ko-KR" sz="2000" b="1">
                <a:solidFill>
                  <a:srgbClr val="FFF7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(UNITEMEDIA)</a:t>
            </a:r>
          </a:p>
          <a:p>
            <a:pPr defTabSz="742950" latinLnBrk="1">
              <a:defRPr/>
            </a:pPr>
            <a:r>
              <a:rPr lang="ko-KR" altLang="en-US" sz="2000" b="1">
                <a:solidFill>
                  <a:srgbClr val="FFF7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서비스명 </a:t>
            </a:r>
            <a:r>
              <a:rPr lang="en-US" altLang="ko-KR" sz="2000" b="1">
                <a:solidFill>
                  <a:srgbClr val="FFF7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: Heritage Alive</a:t>
            </a:r>
            <a:endParaRPr lang="en-US" altLang="ko-KR" sz="2000" b="1" dirty="0">
              <a:solidFill>
                <a:srgbClr val="FFF7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CCFDF-406A-80F9-952F-6B54C06567C4}"/>
              </a:ext>
            </a:extLst>
          </p:cNvPr>
          <p:cNvSpPr txBox="1">
            <a:spLocks/>
          </p:cNvSpPr>
          <p:nvPr/>
        </p:nvSpPr>
        <p:spPr>
          <a:xfrm>
            <a:off x="511435" y="3896886"/>
            <a:ext cx="4227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※ 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빈 칸에 귀하의 기업명을 입력해주세요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.</a:t>
            </a: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F11A8B72-1CCA-3E7A-49B0-D19636AF7B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89476" y="4826145"/>
            <a:ext cx="3694340" cy="1151813"/>
          </a:xfrm>
          <a:prstGeom prst="roundRect">
            <a:avLst>
              <a:gd name="adj" fmla="val 11133"/>
            </a:avLst>
          </a:prstGeom>
          <a:solidFill>
            <a:srgbClr val="B4D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endParaRPr lang="ko-KR" altLang="en-US" sz="2400" b="1" dirty="0">
              <a:solidFill>
                <a:srgbClr val="FFF7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68470-BD8F-6278-2F4A-5CD5CF57F922}"/>
              </a:ext>
            </a:extLst>
          </p:cNvPr>
          <p:cNvSpPr txBox="1">
            <a:spLocks/>
          </p:cNvSpPr>
          <p:nvPr/>
        </p:nvSpPr>
        <p:spPr>
          <a:xfrm>
            <a:off x="5857876" y="4876731"/>
            <a:ext cx="362479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* 담당자 명</a:t>
            </a:r>
            <a:r>
              <a:rPr lang="en-US" altLang="ko-KR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직책 </a:t>
            </a:r>
            <a:r>
              <a:rPr lang="en-US" altLang="ko-KR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[</a:t>
            </a: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대표자명</a:t>
            </a:r>
            <a:r>
              <a:rPr lang="en-US" altLang="ko-KR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대표</a:t>
            </a:r>
          </a:p>
          <a:p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* 연락처 </a:t>
            </a:r>
            <a:r>
              <a:rPr lang="en-US" altLang="ko-KR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[</a:t>
            </a: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입력</a:t>
            </a:r>
            <a:r>
              <a:rPr lang="en-US" altLang="ko-KR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r>
              <a:rPr lang="en-US" altLang="ko-KR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이메일 </a:t>
            </a:r>
            <a:r>
              <a:rPr lang="en-US" altLang="ko-KR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: [</a:t>
            </a: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이메일 입력</a:t>
            </a:r>
            <a:r>
              <a:rPr lang="en-US" altLang="ko-KR" sz="1500" b="1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5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E9614-589E-8A0F-C359-9AE40B2067C1}"/>
              </a:ext>
            </a:extLst>
          </p:cNvPr>
          <p:cNvSpPr txBox="1">
            <a:spLocks/>
          </p:cNvSpPr>
          <p:nvPr/>
        </p:nvSpPr>
        <p:spPr>
          <a:xfrm>
            <a:off x="5610225" y="6025233"/>
            <a:ext cx="4295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※ 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공모 관련 소통 담당자 정보를 기입해주세요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.</a:t>
            </a:r>
          </a:p>
        </p:txBody>
      </p: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458B1287-B1CF-1898-B405-552D90C909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871" y="370427"/>
            <a:ext cx="1130017" cy="379686"/>
          </a:xfrm>
          <a:prstGeom prst="rect">
            <a:avLst/>
          </a:prstGeom>
        </p:spPr>
      </p:pic>
      <p:pic>
        <p:nvPicPr>
          <p:cNvPr id="16" name="Picture 2" descr="관광벤처지원사업_로고(세로조합)_2026년.png">
            <a:extLst>
              <a:ext uri="{FF2B5EF4-FFF2-40B4-BE49-F238E27FC236}">
                <a16:creationId xmlns:a16="http://schemas.microsoft.com/office/drawing/2014/main" id="{0EC1808C-EC12-4FE3-8D98-479F4E9BF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479" y="340804"/>
            <a:ext cx="752694" cy="43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751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4C2A1A7C-9EB1-46D2-9A02-C1C38057BA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89439" y="2487930"/>
            <a:ext cx="1812586" cy="608525"/>
          </a:xfrm>
          <a:prstGeom prst="rect">
            <a:avLst/>
          </a:prstGeom>
          <a:noFill/>
        </p:spPr>
        <p:txBody>
          <a:bodyPr wrap="none" lIns="40500" tIns="27000" rIns="40500" bIns="27000" rtlCol="0">
            <a:spAutoFit/>
          </a:bodyPr>
          <a:lstStyle/>
          <a:p>
            <a:pPr algn="ctr"/>
            <a:r>
              <a:rPr lang="en-US" altLang="ko-KR" sz="3600" b="1" kern="100" spc="-225" dirty="0">
                <a:ln w="3175" cap="rnd"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2C36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Contents</a:t>
            </a:r>
            <a:endParaRPr lang="ko-KR" altLang="en-US" sz="3600" b="1" kern="100" spc="-225" dirty="0">
              <a:ln w="3175" cap="rnd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rgbClr val="2C364D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3" name="모서리가 둥근 직사각형 5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92738" y="3463483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시장 및 사업모델</a:t>
            </a:r>
          </a:p>
        </p:txBody>
      </p:sp>
      <p:sp>
        <p:nvSpPr>
          <p:cNvPr id="54" name="타원 5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471" y="3420620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01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5" name="모서리가 둥근 직사각형 5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92737" y="4139757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사업전략</a:t>
            </a:r>
          </a:p>
        </p:txBody>
      </p:sp>
      <p:sp>
        <p:nvSpPr>
          <p:cNvPr id="56" name="타원 5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470" y="4096895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02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7" name="모서리가 둥근 직사각형 5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92736" y="4830319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관광산업 파급효과</a:t>
            </a:r>
          </a:p>
        </p:txBody>
      </p:sp>
      <p:sp>
        <p:nvSpPr>
          <p:cNvPr id="58" name="타원 5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470" y="4787457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03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9" name="모서리가 둥근 직사각형 5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05438" y="5499437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팀 역량</a:t>
            </a:r>
          </a:p>
        </p:txBody>
      </p:sp>
      <p:sp>
        <p:nvSpPr>
          <p:cNvPr id="60" name="타원 5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470" y="5499437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04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3" name="모서리가 둥근 직사각형 6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92735" y="2744345"/>
            <a:ext cx="3714837" cy="468000"/>
          </a:xfrm>
          <a:prstGeom prst="roundRect">
            <a:avLst>
              <a:gd name="adj" fmla="val 50000"/>
            </a:avLst>
          </a:prstGeom>
          <a:solidFill>
            <a:srgbClr val="3E3E3E"/>
          </a:solidFill>
          <a:ln w="317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  기업소개 </a:t>
            </a:r>
          </a:p>
        </p:txBody>
      </p:sp>
      <p:sp>
        <p:nvSpPr>
          <p:cNvPr id="64" name="타원 6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16171" y="2709420"/>
            <a:ext cx="468000" cy="468000"/>
          </a:xfrm>
          <a:prstGeom prst="ellipse">
            <a:avLst/>
          </a:prstGeom>
          <a:solidFill>
            <a:srgbClr val="FFF7A2"/>
          </a:solidFill>
          <a:ln w="38100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 kern="100" spc="-60" dirty="0">
                <a:ln w="3175" cap="rnd"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00</a:t>
            </a:r>
            <a:endParaRPr lang="ko-KR" altLang="en-US" sz="1600" b="1" kern="100" spc="-60" dirty="0">
              <a:ln w="3175" cap="rnd"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E10216B-D249-400B-B4CF-03AFD2C04B1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115795" y="1899516"/>
            <a:ext cx="0" cy="4015325"/>
          </a:xfrm>
          <a:prstGeom prst="line">
            <a:avLst/>
          </a:prstGeom>
          <a:ln w="3175" cap="rnd">
            <a:solidFill>
              <a:srgbClr val="3E3E3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D476A-03A3-EA46-9636-95FB42FDC2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6470" y="598750"/>
            <a:ext cx="420256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목차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FFD181-90B6-D398-F8C9-028478A5C6E8}"/>
              </a:ext>
            </a:extLst>
          </p:cNvPr>
          <p:cNvSpPr txBox="1"/>
          <p:nvPr/>
        </p:nvSpPr>
        <p:spPr>
          <a:xfrm>
            <a:off x="353871" y="4529846"/>
            <a:ext cx="37967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항목 별 페이지 구성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총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17p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00.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기업소개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(1p)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01.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(5p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02.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(6p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03.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 파급효과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(2p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	04.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팀 역량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(3p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781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2FB27231-E44E-4CA3-B05A-57EDFA9DF658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1EDB8508-97C6-4286-A9BA-E81C12A379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CE38E3EE-CC50-4D9E-A2A0-BA3533252A0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F5CF43F-59CE-B859-303D-D907CE6F0D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00.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BF3235-F3D2-124B-5F1E-ADF507BC18C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기업소개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(1P)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C146083-21E1-49E1-BA6E-58144FF07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151306"/>
              </p:ext>
            </p:extLst>
          </p:nvPr>
        </p:nvGraphicFramePr>
        <p:xfrm>
          <a:off x="270508" y="4527320"/>
          <a:ext cx="9364982" cy="174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618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1922841">
                  <a:extLst>
                    <a:ext uri="{9D8B030D-6E8A-4147-A177-3AD203B41FA5}">
                      <a16:colId xmlns:a16="http://schemas.microsoft.com/office/drawing/2014/main" val="1028737888"/>
                    </a:ext>
                  </a:extLst>
                </a:gridCol>
                <a:gridCol w="1922841">
                  <a:extLst>
                    <a:ext uri="{9D8B030D-6E8A-4147-A177-3AD203B41FA5}">
                      <a16:colId xmlns:a16="http://schemas.microsoft.com/office/drawing/2014/main" val="2881744402"/>
                    </a:ext>
                  </a:extLst>
                </a:gridCol>
                <a:gridCol w="1922841">
                  <a:extLst>
                    <a:ext uri="{9D8B030D-6E8A-4147-A177-3AD203B41FA5}">
                      <a16:colId xmlns:a16="http://schemas.microsoft.com/office/drawing/2014/main" val="1179788974"/>
                    </a:ext>
                  </a:extLst>
                </a:gridCol>
                <a:gridCol w="1922841">
                  <a:extLst>
                    <a:ext uri="{9D8B030D-6E8A-4147-A177-3AD203B41FA5}">
                      <a16:colId xmlns:a16="http://schemas.microsoft.com/office/drawing/2014/main" val="2770385332"/>
                    </a:ext>
                  </a:extLst>
                </a:gridCol>
              </a:tblGrid>
              <a:tr h="33374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및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개년 주요성과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0" i="1" dirty="0">
                        <a:solidFill>
                          <a:srgbClr val="2393C5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0" i="1" dirty="0">
                        <a:solidFill>
                          <a:srgbClr val="2393C5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341816"/>
                  </a:ext>
                </a:extLst>
              </a:tr>
              <a:tr h="3524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50470"/>
                  </a:ext>
                </a:extLst>
              </a:tr>
              <a:tr h="3524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 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80 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백만 원</a:t>
                      </a:r>
                      <a:endParaRPr lang="ko-KR" altLang="en-US" sz="1100" b="1" i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 원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 원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 원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3524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투자유치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 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  <a:endParaRPr lang="ko-KR" altLang="en-US" sz="11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없음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330737"/>
                  </a:ext>
                </a:extLst>
              </a:tr>
              <a:tr h="3524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신규고용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ko-KR" altLang="en-US" sz="11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ko-KR" altLang="en-US" sz="11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ko-KR" altLang="en-US" sz="11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73C1F2F-A5BB-E101-CD99-CD4ED5B72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826119"/>
              </p:ext>
            </p:extLst>
          </p:nvPr>
        </p:nvGraphicFramePr>
        <p:xfrm>
          <a:off x="270508" y="1022120"/>
          <a:ext cx="9364984" cy="3464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652">
                  <a:extLst>
                    <a:ext uri="{9D8B030D-6E8A-4147-A177-3AD203B41FA5}">
                      <a16:colId xmlns:a16="http://schemas.microsoft.com/office/drawing/2014/main" val="3933755392"/>
                    </a:ext>
                  </a:extLst>
                </a:gridCol>
                <a:gridCol w="2760810">
                  <a:extLst>
                    <a:ext uri="{9D8B030D-6E8A-4147-A177-3AD203B41FA5}">
                      <a16:colId xmlns:a16="http://schemas.microsoft.com/office/drawing/2014/main" val="3408359598"/>
                    </a:ext>
                  </a:extLst>
                </a:gridCol>
                <a:gridCol w="1545222">
                  <a:extLst>
                    <a:ext uri="{9D8B030D-6E8A-4147-A177-3AD203B41FA5}">
                      <a16:colId xmlns:a16="http://schemas.microsoft.com/office/drawing/2014/main" val="1817799139"/>
                    </a:ext>
                  </a:extLst>
                </a:gridCol>
                <a:gridCol w="1782449">
                  <a:extLst>
                    <a:ext uri="{9D8B030D-6E8A-4147-A177-3AD203B41FA5}">
                      <a16:colId xmlns:a16="http://schemas.microsoft.com/office/drawing/2014/main" val="2027460412"/>
                    </a:ext>
                  </a:extLst>
                </a:gridCol>
                <a:gridCol w="774541">
                  <a:extLst>
                    <a:ext uri="{9D8B030D-6E8A-4147-A177-3AD203B41FA5}">
                      <a16:colId xmlns:a16="http://schemas.microsoft.com/office/drawing/2014/main" val="1937257663"/>
                    </a:ext>
                  </a:extLst>
                </a:gridCol>
                <a:gridCol w="786310">
                  <a:extLst>
                    <a:ext uri="{9D8B030D-6E8A-4147-A177-3AD203B41FA5}">
                      <a16:colId xmlns:a16="http://schemas.microsoft.com/office/drawing/2014/main" val="3579103415"/>
                    </a:ext>
                  </a:extLst>
                </a:gridCol>
              </a:tblGrid>
              <a:tr h="2950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대표자명</a:t>
                      </a:r>
                      <a:r>
                        <a:rPr lang="en-US" altLang="ko-KR" sz="11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 입력</a:t>
                      </a:r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endParaRPr lang="ko-KR" altLang="en-US" sz="11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 입력</a:t>
                      </a:r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endParaRPr lang="ko-KR" altLang="en-US" sz="11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564083"/>
                  </a:ext>
                </a:extLst>
              </a:tr>
              <a:tr h="2655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유니트미디어</a:t>
                      </a:r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(UNITEMEDIA)</a:t>
                      </a:r>
                      <a:endParaRPr lang="ko-KR" altLang="en-US" sz="11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본사 소재지</a:t>
                      </a:r>
                      <a:endParaRPr lang="en-US" altLang="ko-KR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사업장 소재지 입력</a:t>
                      </a:r>
                      <a:r>
                        <a:rPr lang="en-US" altLang="ko-KR" sz="11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965129"/>
                  </a:ext>
                </a:extLst>
              </a:tr>
              <a:tr h="4425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en-US" altLang="ko-KR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8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사업공고일</a:t>
                      </a: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(’26. 4. 29.)</a:t>
                      </a: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기준</a:t>
                      </a:r>
                      <a:endParaRPr kumimoji="0" lang="en-US" altLang="ko-KR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(○) </a:t>
                      </a:r>
                      <a:r>
                        <a:rPr lang="ko-KR" altLang="en-US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개인사업자 </a:t>
                      </a: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(   ) </a:t>
                      </a:r>
                      <a:r>
                        <a:rPr lang="ko-KR" altLang="en-US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법인사업자</a:t>
                      </a:r>
                      <a:endParaRPr lang="en-US" altLang="ko-KR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사업자번호</a:t>
                      </a:r>
                      <a:endParaRPr lang="en-US" altLang="ko-KR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/>
                      <a:r>
                        <a:rPr 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법인등록번호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1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사업자등록번호 입력</a:t>
                      </a:r>
                      <a:r>
                        <a:rPr kumimoji="0" lang="en-US" altLang="ko-KR" sz="11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1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82760"/>
                  </a:ext>
                </a:extLst>
              </a:tr>
              <a:tr h="4425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공동대표 여부</a:t>
                      </a:r>
                      <a:endParaRPr lang="en-US" altLang="ko-KR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ko-KR" altLang="en-US" sz="800" b="1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사업공고일</a:t>
                      </a: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(’26. 4. 29.)</a:t>
                      </a: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기준</a:t>
                      </a:r>
                      <a:endParaRPr kumimoji="0" lang="en-US" altLang="ko-KR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   ) </a:t>
                      </a:r>
                      <a:r>
                        <a:rPr lang="ko-KR" altLang="en-US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공동대표 여 </a:t>
                      </a: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(○) </a:t>
                      </a:r>
                      <a:r>
                        <a:rPr lang="ko-KR" altLang="en-US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공동대표 부</a:t>
                      </a:r>
                      <a:endParaRPr lang="en-US" altLang="ko-KR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개업연월일</a:t>
                      </a:r>
                      <a:endParaRPr kumimoji="0" lang="en-US" altLang="ko-KR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회사성립연월일</a:t>
                      </a:r>
                      <a:r>
                        <a:rPr kumimoji="0" lang="en-US" altLang="ko-KR" sz="12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12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1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개업연월일 입력</a:t>
                      </a:r>
                      <a:r>
                        <a:rPr kumimoji="0" lang="en-US" altLang="ko-KR" sz="11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1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333174"/>
                  </a:ext>
                </a:extLst>
              </a:tr>
              <a:tr h="619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신청유형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해당하는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algn="ctr" latinLnBrk="1"/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유형에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(O)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  <a:endParaRPr lang="en-US" altLang="ko-KR" sz="8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  ) </a:t>
                      </a:r>
                      <a:r>
                        <a:rPr lang="ko-KR" altLang="en-US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관광체험서비스   </a:t>
                      </a: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(○) </a:t>
                      </a:r>
                      <a:r>
                        <a:rPr lang="ko-KR" altLang="en-US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실감형 관광콘텐츠   </a:t>
                      </a: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  ) </a:t>
                      </a:r>
                      <a:r>
                        <a:rPr lang="ko-KR" altLang="en-US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관광인프라   </a:t>
                      </a: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  ) </a:t>
                      </a:r>
                      <a:r>
                        <a:rPr lang="ko-KR" altLang="en-US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관광딥테크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35855079"/>
                  </a:ext>
                </a:extLst>
              </a:tr>
              <a:tr h="2655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헤리티지 얼라이브</a:t>
                      </a:r>
                      <a:r>
                        <a:rPr lang="en-US" altLang="ko-KR" sz="11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(Heritage Alive)</a:t>
                      </a:r>
                      <a:endParaRPr lang="ko-KR" altLang="en-US" sz="11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1802446"/>
                  </a:ext>
                </a:extLst>
              </a:tr>
              <a:tr h="619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 줄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AI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실감형 숏폼 콘텐츠로 한국 문화유산과 문화유적지에 대한 관심을 높이고 실제 지역관광으로 연결하는 미디어 서비스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1970390"/>
                  </a:ext>
                </a:extLst>
              </a:tr>
              <a:tr h="4425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협약기간 내</a:t>
                      </a:r>
                      <a:endParaRPr lang="en-US" altLang="ko-KR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성과지표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(KPI)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숏폼 콘텐츠 </a:t>
                      </a:r>
                      <a:r>
                        <a:rPr lang="en-US" altLang="ko-KR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35</a:t>
                      </a: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편 제작</a:t>
                      </a:r>
                      <a:r>
                        <a:rPr lang="en-US" altLang="ko-KR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누적 조회수 </a:t>
                      </a:r>
                      <a:r>
                        <a:rPr lang="en-US" altLang="ko-KR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100</a:t>
                      </a: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만 회</a:t>
                      </a:r>
                      <a:r>
                        <a:rPr lang="en-US" altLang="ko-KR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협업 제안 </a:t>
                      </a:r>
                      <a:r>
                        <a:rPr lang="en-US" altLang="ko-KR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</a:t>
                      </a: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건</a:t>
                      </a:r>
                      <a:r>
                        <a:rPr lang="en-US" altLang="ko-KR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후속 계약 또는 협의 </a:t>
                      </a:r>
                      <a:r>
                        <a:rPr lang="en-US" altLang="ko-KR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건</a:t>
                      </a:r>
                      <a:r>
                        <a:rPr lang="en-US" altLang="ko-KR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신규고용 </a:t>
                      </a:r>
                      <a:r>
                        <a:rPr lang="en-US" altLang="ko-KR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ko-KR" altLang="en-US" sz="1000" b="1" i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명</a:t>
                      </a:r>
                      <a:endParaRPr lang="ko-KR" altLang="en-US" sz="1000" b="1" i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3551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92D4B48-C63E-2202-5EA6-4EF717F397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48960" y="2933700"/>
            <a:ext cx="4068000" cy="3337104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[00.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기업소개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신청유형 개념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관광체험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서비스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정보탐색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숙박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 등 </a:t>
            </a:r>
            <a:r>
              <a:rPr lang="ko-KR" altLang="en-US" sz="10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관광여정에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플랫폼 기반의 예약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 서비스 제공 등 혁신적 기술로 </a:t>
            </a:r>
            <a:r>
              <a:rPr lang="ko-KR" altLang="en-US" sz="10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관광편의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제공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실감형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관광콘텐츠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관광객이 직접 참여하여 즐기고 공감할 수 있는 새로운 체험 프로그램 및 관광 콘텐츠의 개발과 운영에 관련된 사업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관광인프라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오프라인 기반시설 또는 물적 자원을 핵심기반으로 하는 관광사업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b="1" dirty="0" err="1">
                <a:solidFill>
                  <a:schemeClr val="tx1"/>
                </a:solidFill>
                <a:latin typeface="+mn-ea"/>
              </a:rPr>
              <a:t>관광딥테크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: AI·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빅데이터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 등 첨단 기술을 활용하여 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</a:rPr>
              <a:t>관광기업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 운영 효율화 및 관광산업 고도화를 지원하는 기술 중심 사업</a:t>
            </a:r>
          </a:p>
          <a:p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 아이템이 해당하는 유형을 선택하며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융</a:t>
            </a:r>
            <a:r>
              <a:rPr lang="en-US" altLang="ko-KR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복합 아이템일 경우 모집유형 중 주력부문 </a:t>
            </a:r>
            <a:r>
              <a:rPr lang="en-US" altLang="ko-KR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가지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선택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목표 및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개년 주요성과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투자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고용이 발생하지 않았을 경우 </a:t>
            </a:r>
            <a:r>
              <a:rPr lang="en-US" altLang="ko-KR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r>
              <a:rPr lang="en-US" altLang="ko-KR" sz="105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기재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639087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83A73-1D32-6B13-B267-89995BE72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6A5AD99A-92F5-1611-535B-3D70BBD70C62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289994DA-7DD4-8B8C-F90F-F044286EF2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954A88E1-E892-E73B-3D42-6BE01A97E07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D94FBE8-6903-0316-B43C-505E4B51D2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01.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2FB819-6E3E-60A0-6DF6-74F9AEBA9F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５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P 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F8C34-23E1-187A-8176-77087E136DBA}"/>
              </a:ext>
            </a:extLst>
          </p:cNvPr>
          <p:cNvSpPr txBox="1"/>
          <p:nvPr/>
        </p:nvSpPr>
        <p:spPr>
          <a:xfrm>
            <a:off x="851599" y="1606815"/>
            <a:ext cx="8442777" cy="566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배경 및 필요성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많은 문화유산과 문화유적지는 역사적 가치가 높지만 젊은 관광객에게는 정보 접근성이 낮고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홍보물은 정적 이미지와 설명문 중심이라 방문 욕구를 빠르게 자극하기 어렵습니다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여행 목적지는 이제 검색보다 숏폼 영상으로 먼저 발견되는 경우가 많아졌고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문화유산 역시 모바일에서 먼저 몰입하고 실제 방문으로 이어지는 콘텐츠 설계가 중요해졌습니다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대표자는 한국 문화유산 및 문화유적지 사진 데이터를 기반으로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제작이 가능하며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이를 통해 저비용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고속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다품종의 실감형 관광콘텐츠를 제작할 수 있습니다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시장 현황 및 전망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여행 의사결정 과정에서 유튜브 쇼츠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인스타그램 릴스 등 세로형 영상 영향력이 빠르게 확대되고 있습니다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지자체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관광재단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문화기관은 젊은 층 반응이 높은 디지털 홍보 수단을 필요로 하지만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 중심 제작 방식은 시간과 비용 한계가 큽니다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AI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관광콘텐츠는 제작 효율과 확장성이 높아 지역별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테마별 시리즈 사업으로 성장 가능성이 큽니다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고객 및 제공 가치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B2C: 20~39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 문화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감성 여행 선호층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숨은 명소 탐험 수요층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B2B/B2G: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지자체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관광재단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문화기관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지역축제 운영 주체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제공 가치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문화유산을 짧고 몰입감 있게 경험하게 하여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 싶다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가보고 싶다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전환하고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기관에는 빠르고 확장성 있는 홍보콘텐츠 솔루션을 제공합니다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09AB2E99-844F-0A07-0AA1-6F09FB4E04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 1-1.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시장현황 및 목표고객</a:t>
            </a: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936492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A50F-2806-A555-D649-9341C82E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D4D02B-4979-F8A3-66EB-F3AB7979B4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01.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31A714-8BAA-60E3-060F-0A15A3A3D4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</a:t>
            </a:r>
            <a:endParaRPr lang="ko-KR" altLang="en-US" sz="2000" b="1" dirty="0">
              <a:solidFill>
                <a:srgbClr val="0033C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D8040-C948-DC98-7D22-DE9A9418DB79}"/>
              </a:ext>
            </a:extLst>
          </p:cNvPr>
          <p:cNvSpPr txBox="1"/>
          <p:nvPr/>
        </p:nvSpPr>
        <p:spPr>
          <a:xfrm>
            <a:off x="1311965" y="1606815"/>
            <a:ext cx="8594035" cy="7090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관광객 여정 기준 사업모델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3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여행 전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문화유산 사진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스토리 데이터 확보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AI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실감형 영상 제작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유튜브 쇼츠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틱톡 배포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관심 유입 및 지역 인지도 형성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3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여행 중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내 지역 동선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명소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축제 정보 연계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랜딩페이지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지도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링크 연결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방문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소비 유도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3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여행 후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시리즈 재노출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확산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재방문 유도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구독 및 지역 브랜드 기억 강화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3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창출 방식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지자체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기관 대상 문화유산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홍보영상 제작 납품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 채널 운영 광고수익 및 협찬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여행상품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축제 연계 성과형 제휴 수익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문화유산 영상 아카이브 라이선스 판매</a:t>
            </a:r>
            <a:endParaRPr lang="en-US" altLang="ko-KR" sz="13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78D413EE-982A-B8B0-2B4B-59593E81EB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1-2.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사업모델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(Business Model) -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도식화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102C98-814F-1E05-F26F-A33DF0EF41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48960" y="2933700"/>
            <a:ext cx="4068000" cy="3337104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[01.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시장 및 사업모델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 가이드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ko-KR" sz="1050" dirty="0">
                <a:solidFill>
                  <a:schemeClr val="tx1"/>
                </a:solidFill>
                <a:latin typeface="Arial" panose="020B0604020202020204" pitchFamily="34" charset="0"/>
              </a:rPr>
              <a:t>관광객은 언제 이 문제를 겪는가?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ko-KR" sz="1050" dirty="0">
                <a:solidFill>
                  <a:schemeClr val="tx1"/>
                </a:solidFill>
                <a:latin typeface="Arial" panose="020B0604020202020204" pitchFamily="34" charset="0"/>
              </a:rPr>
              <a:t>왜 여행 중에는 이 문제 해결에 비용을 지불하는가?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ko-KR" sz="1050" dirty="0">
                <a:solidFill>
                  <a:schemeClr val="tx1"/>
                </a:solidFill>
                <a:latin typeface="Arial" panose="020B0604020202020204" pitchFamily="34" charset="0"/>
              </a:rPr>
              <a:t>관광이 아닌 상황에서도 동일한 문제가 성립하는가?</a:t>
            </a:r>
            <a:endParaRPr lang="en-US" altLang="ko-KR" sz="105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ko-KR" sz="105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</a:rPr>
              <a:t>수익모델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사업모델 도식에는 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관광객 여정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여행 전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중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+mn-ea"/>
              </a:rPr>
              <a:t>후</a:t>
            </a:r>
            <a:r>
              <a:rPr lang="en-US" altLang="ko-KR" sz="105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 중</a:t>
            </a:r>
            <a:br>
              <a:rPr lang="ko-KR" altLang="en-US" sz="1050" dirty="0">
                <a:solidFill>
                  <a:schemeClr val="tx1"/>
                </a:solidFill>
                <a:latin typeface="+mn-ea"/>
              </a:rPr>
            </a:b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어느 단계에서 수익이 발생하는지 명확히 표시 바랍니다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ko-KR" sz="1050" dirty="0">
              <a:solidFill>
                <a:schemeClr val="tx1"/>
              </a:solidFill>
              <a:latin typeface="+mn-ea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1651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3322-AFC0-4A56-107F-0CE68FF1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6320145E-727B-72AA-DF43-124E4C9056FB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378B3395-34C3-D237-6ADF-AA0467C5FD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0C0CEA59-964C-926D-80E7-AC7A4C214082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CAAF9FE-D990-9E6C-4E5B-C0E48568FC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01.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570A32-D3B4-A288-91A8-C3B851CB741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</a:t>
            </a:r>
            <a:endParaRPr lang="ko-KR" altLang="en-US" sz="2000" b="1" dirty="0">
              <a:solidFill>
                <a:srgbClr val="0033C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81B1D-3EAE-770A-E430-63EB0D41EF23}"/>
              </a:ext>
            </a:extLst>
          </p:cNvPr>
          <p:cNvSpPr txBox="1"/>
          <p:nvPr/>
        </p:nvSpPr>
        <p:spPr>
          <a:xfrm>
            <a:off x="1311966" y="1606815"/>
            <a:ext cx="6539948" cy="3893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차별화된 경쟁력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유니트미디어는 한국 문화유산 및 문화유적지 사진 데이터를 기반으로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실감형 숏폼을 제작할 수 있어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 관광홍보 영상보다 빠른 제작과 다양한 버전 확장이 가능합니다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 조회수형 콘텐츠가 아니라 문화유산 관심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 인지도 상승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방문 유도까지 연결하는 관광 전환형 콘텐츠를 설계합니다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잘 알려지지 않은 지역 유산도 스토리와 몰입감을 부여해 관광 가치가 있는 디지털 자산으로 재해석할 수 있습니다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보유기술 및 실행 방식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AI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생성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숏폼 편집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자막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사운드 후반작업을 결합한 표준 제작 프로세스 보유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세로형 숏폼 포맷 중심으로 채널별 최적화 가능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소재를 다국어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시즌형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기관 납품형으로 재가공할 수 있어 확장성과 반복 매출 가능성이 높습니다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2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0E35653B-89B5-F123-8648-CA12EB8886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1-3.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사업모델의 경쟁력</a:t>
            </a: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741933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DE648-0A8F-0984-BEF0-2E4C7755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D29A22B6-ED91-082E-E6E4-D3844B2DD122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6C139166-89BD-156E-AA50-756920383D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EB920812-8267-6ECC-E716-8B052E2C8DB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30CE3E6-F62F-0E20-BB2F-182C6410AA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01.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EB2513-7941-A60F-E45E-EF72BEB4ED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gradFill>
                  <a:gsLst>
                    <a:gs pos="22000">
                      <a:prstClr val="black"/>
                    </a:gs>
                    <a:gs pos="0">
                      <a:prstClr val="black"/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시장 및 사업모델</a:t>
            </a:r>
            <a:endParaRPr lang="ko-KR" altLang="en-US" sz="2000" b="1" dirty="0">
              <a:solidFill>
                <a:srgbClr val="0033C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80FE7-36E7-7FA3-DF26-69B72226475E}"/>
              </a:ext>
            </a:extLst>
          </p:cNvPr>
          <p:cNvSpPr txBox="1"/>
          <p:nvPr/>
        </p:nvSpPr>
        <p:spPr>
          <a:xfrm>
            <a:off x="1311965" y="1606815"/>
            <a:ext cx="7677541" cy="5370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역사 왜곡 및 사실성 리스크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문화재청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지자체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기관 자료 등 검증 가능한 사료 중심으로 스토리 구성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연출 요소와 사실 정보 분리 표기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endParaRPr lang="ko-KR" altLang="en-US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조회수 대비 관광 전환 저조 리스크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내 방문 포인트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체험요소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 축제 정보와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CTA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함께 설계하고 클릭률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저장률 기반으로 포맷을 개선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endParaRPr lang="ko-KR" altLang="en-US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저작권 및 데이터 사용 리스크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 보유 사진 데이터 또는 적법하게 확보한 자료만 활용하고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출처관리 및 생성물 관리대장을 운영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endParaRPr lang="ko-KR" altLang="en-US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 매출처 확보 지연 리스크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 채널 성과를 먼저 축적한 뒤 지자체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관광재단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문화기관 대상으로 파일럿 제안 및 후속 계약 전환 추진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endParaRPr lang="ko-KR" altLang="en-US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5. 2026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협약기간 내 집행 리스크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 내 제작 가능한 숏폼 시리즈 중심으로 범위를 명확히 설정하고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외주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운영 계획을 사전 표준화하여 집행 가능성을 높임</a:t>
            </a:r>
            <a:endParaRPr kumimoji="0" lang="ko-KR" altLang="en-US" sz="12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FCED77FF-271B-D716-6B44-E35034E158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1-4.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잠재리스크 및 대응방안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2E16BF-92C7-8983-494C-40D4EC92A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48960" y="2933700"/>
            <a:ext cx="4068000" cy="3337104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[01.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시장 및 사업모델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Arial" panose="020B0604020202020204" pitchFamily="34" charset="0"/>
              </a:rPr>
              <a:t>주의사항</a:t>
            </a:r>
            <a:endParaRPr lang="en-US" altLang="ko-KR" sz="105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50" dirty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금번 사업 해당년도에 해당하는 리스크 중심으로 기재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4347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E7D2-BCEC-75EA-CF5F-642111F2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0D97A97-18D2-8D26-C7BB-7B31B8D56047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2B3D061F-2236-6AA4-2E88-8C9F598332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E20DF2C3-F910-7507-A332-79ECDCA2F423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BB77DAF-034C-5528-29AC-5C97107669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17738B-6560-2BAD-FF76-C382617A3E7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(6P 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03B32-9D7E-B31E-D80E-8FEC3AA09B52}"/>
              </a:ext>
            </a:extLst>
          </p:cNvPr>
          <p:cNvSpPr txBox="1"/>
          <p:nvPr/>
        </p:nvSpPr>
        <p:spPr>
          <a:xfrm>
            <a:off x="1311966" y="1606815"/>
            <a:ext cx="8060634" cy="418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상품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AI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문화유산 숏폼 시리즈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30~60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세로형 영상으로 문화유산의 분위기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역사적 상상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방문 포인트를 압축 전달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테마형 미니 시리즈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'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밤에 더 아름다운 문화유산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', '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숨은 역사 여행지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 연속 시청형 포맷 운영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기관 맞춤형 홍보 패키지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 문화유산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5~20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 단위 시리즈 제작 및 다국어 버전 제공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endParaRPr lang="ko-KR" altLang="en-US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및 운영 인프라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 사진 데이터 아카이브 정리 및 콘텐츠 분류 체계 구축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AI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자막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사운드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배포의 제작 파이프라인 운영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저장공간과 편집 툴을 활용한 파일 관리 및 납품 체계 마련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endParaRPr lang="ko-KR" altLang="en-US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협약기간 내 개발 목표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파일럿 숏폼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 제작 후 성과 측정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성과 우수 포맷 중심으로 추가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 제작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랜딩페이지 및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CTA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구조를 연동해 관광 유입형 콘텐츠로 고도화</a:t>
            </a:r>
            <a:endParaRPr lang="ko-KR" altLang="en-US" sz="12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14D1F638-58FD-A210-7D83-624228C2FB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2-1.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상품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‧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서비스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‧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인프라 개발 계획</a:t>
            </a: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1677271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F4F92-2559-6DA3-A45D-91F7FBCF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97F9E0D6-2BD2-3173-DBAF-4BA4829E7ECA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6A6D9C48-8103-68F0-5569-285D27D89B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DF98770E-7F9A-4F61-EA86-CFEFAF618E3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0433088-016E-94CE-49B6-E42121FABD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5F37F-8ECA-8288-8AD8-FCD5E20A9F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2752C-87DE-3035-BEB6-D3E97871E375}"/>
              </a:ext>
            </a:extLst>
          </p:cNvPr>
          <p:cNvSpPr txBox="1"/>
          <p:nvPr/>
        </p:nvSpPr>
        <p:spPr>
          <a:xfrm>
            <a:off x="1311966" y="1606815"/>
            <a:ext cx="7538036" cy="448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 채널 홍보 전략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유튜브 쇼츠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인스타그램 릴스 등 세로형 채널을 중심으로 지역별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테마별 시리즈를 운영합니다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말미와 설명란에 지역 방문 정보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지도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 또는 축제 정보를 삽입해 실제 관광 관심으로 연결합니다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endParaRPr lang="en-US" altLang="ko-KR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판로개척 전략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- 1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타깃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지자체 관광과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관광재단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문화재단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박물관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역사관 등 공공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유관기관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- 2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타깃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지역여행사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 운영사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축제 운영사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숙박 및 로컬브랜드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 채널 성과 데이터를 기반으로 기관 대상 제안서를 발송하고 시범 콘텐츠 제공 후 계약 전환을 추진합니다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endParaRPr lang="en-US" altLang="ko-KR" sz="12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구체적 실행 계획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- 7~8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오픈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파일럿 배포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성과 데이터 수집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- 8~9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지자체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기관 대상 제안 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이상 발송 및 미팅 추진</a:t>
            </a:r>
          </a:p>
          <a:p>
            <a:pPr marL="228600" indent="-228600" algn="just" fontAlgn="base" latinLnBrk="1">
              <a:lnSpc>
                <a:spcPct val="160000"/>
              </a:lnSpc>
              <a:defRPr/>
            </a:pP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- 9~11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박람회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네트워킹 참여</a:t>
            </a:r>
            <a:r>
              <a:rPr lang="en-US" altLang="ko-KR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후속 협상 및 납품형 패키지 제안</a:t>
            </a:r>
            <a:endParaRPr lang="en-US" altLang="ko-KR" sz="12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AB2ECDB7-29C8-8A2D-4484-7E9778BD31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2-2.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홍보 및 판로개척</a:t>
            </a: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414426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76F6-5B9F-6E21-0178-9DED4573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70D3DFA5-E209-1C1B-E6EA-F612C7F42131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8F52BEB2-C701-157F-4AF4-218F68CB8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3F81D7B1-FC72-B8C2-4D2F-5BE630599805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48BAD00-51F1-B42D-9757-65BEC0C35D7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C19A2F-CBB5-F59E-2F13-75E1DB148C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C8C4C-FEE0-A596-F931-E9FDE2573BDB}"/>
              </a:ext>
            </a:extLst>
          </p:cNvPr>
          <p:cNvSpPr txBox="1"/>
          <p:nvPr/>
        </p:nvSpPr>
        <p:spPr>
          <a:xfrm>
            <a:off x="1311965" y="1606815"/>
            <a:ext cx="7912998" cy="1471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2-3.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자금조달 및 집행계획 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(1)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자금 필요성 및 금액 적정성 여부를 판단할 수 있도록 </a:t>
            </a:r>
            <a:r>
              <a:rPr lang="ko-KR" altLang="en-US" sz="1400" b="1" u="sng" kern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사업화자금</a:t>
            </a:r>
            <a:r>
              <a:rPr lang="en-US" altLang="ko-KR" sz="1400" b="1" u="sng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u="sng" kern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사업화지원금</a:t>
            </a:r>
            <a:r>
              <a:rPr lang="en-US" altLang="ko-KR" sz="1400" b="1" u="sng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 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400" b="1" u="sng" kern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자부담</a:t>
            </a:r>
            <a:r>
              <a:rPr lang="en-US" altLang="ko-KR" sz="1400" b="1" u="sng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u="sng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집행계획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작성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(2)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자금 집행 계획 제시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4E78273F-2CCF-71CD-0D31-77760507A8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2-3.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자금조달 및 집행계획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72964-B2C1-B7C6-E78A-DD64DA2D78B8}"/>
              </a:ext>
            </a:extLst>
          </p:cNvPr>
          <p:cNvSpPr txBox="1"/>
          <p:nvPr/>
        </p:nvSpPr>
        <p:spPr>
          <a:xfrm>
            <a:off x="404399" y="3221958"/>
            <a:ext cx="92310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1] 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자금조달 및 비용 집행 계획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432400D-B9D7-BF82-0CB1-C3EA751460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-4140200" y="-69574"/>
                <a:ext cx="4068000" cy="6813275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※ 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[</a:t>
                </a:r>
                <a:r>
                  <a:rPr lang="ko-KR" altLang="en-US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표</a:t>
                </a:r>
                <a:r>
                  <a:rPr lang="en-US" altLang="ko-KR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1] </a:t>
                </a:r>
                <a:r>
                  <a:rPr lang="ko-KR" altLang="en-US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세부 작성가이드</a:t>
                </a:r>
                <a:endParaRPr lang="en-US" altLang="ko-KR" sz="1050" b="1" dirty="0">
                  <a:solidFill>
                    <a:schemeClr val="tx1"/>
                  </a:solidFill>
                  <a:highlight>
                    <a:srgbClr val="FFFF00"/>
                  </a:highligh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정부지원금의 총합은 </a:t>
                </a:r>
                <a:r>
                  <a:rPr lang="en-US" altLang="ko-KR" sz="1050" u="sng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</a:t>
                </a:r>
                <a:r>
                  <a:rPr lang="ko-KR" altLang="en-US" sz="1050" u="sng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천만원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한도 이내로 작성</a:t>
                </a:r>
                <a:r>
                  <a:rPr lang="en-US" altLang="ko-KR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자부담은 정부지원금의 </a:t>
                </a:r>
                <a:r>
                  <a:rPr lang="en-US" altLang="ko-KR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20%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 구성하여 작성 （</a:t>
                </a:r>
                <a:r>
                  <a:rPr lang="ko-KR" altLang="en-US" sz="1050" dirty="0" err="1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자부담을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정부지원금 </a:t>
                </a:r>
                <a:r>
                  <a:rPr lang="en-US" altLang="ko-KR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20%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초과로 설정하지 말 것）</a:t>
                </a:r>
                <a:r>
                  <a:rPr lang="en-US" altLang="ko-KR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</a:rPr>
                  <a:t>최대 총 사업비 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96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백만원 이내여야 함</a:t>
                </a:r>
                <a:endParaRPr lang="en-US" altLang="ko-KR" sz="1050" dirty="0">
                  <a:solidFill>
                    <a:schemeClr val="tx1"/>
                  </a:solidFill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</a:rPr>
                  <a:t>     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예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1) 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사업화지원금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8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천만원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, 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자부담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 16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백 만원</a:t>
                </a:r>
                <a:endParaRPr lang="en-US" altLang="ko-KR" sz="1050" dirty="0">
                  <a:solidFill>
                    <a:schemeClr val="tx1"/>
                  </a:solidFill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예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2) 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사업화지원금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 ６천만원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, 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자부담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 12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백 만원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예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3) 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사업화지원금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４천만원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 , (</a:t>
                </a:r>
                <a:r>
                  <a:rPr lang="ko-KR" altLang="en-US" sz="1050" dirty="0" err="1">
                    <a:solidFill>
                      <a:schemeClr val="tx1"/>
                    </a:solidFill>
                  </a:rPr>
                  <a:t>자부담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) 8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백만원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모집공고 속 </a:t>
                </a:r>
                <a:r>
                  <a:rPr lang="en-US" altLang="ko-KR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‘</a:t>
                </a:r>
                <a:r>
                  <a:rPr lang="ko-KR" altLang="en-US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붙임</a:t>
                </a:r>
                <a:r>
                  <a:rPr lang="en-US" altLang="ko-KR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2. </a:t>
                </a:r>
                <a:r>
                  <a:rPr lang="ko-KR" altLang="en-US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사업비 자금 사용기준</a:t>
                </a:r>
                <a:r>
                  <a:rPr lang="en-US" altLang="ko-KR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’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 참고하여 작성 요망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* 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자부담의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경우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아래 항목에만 지출 가능함 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-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인건비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</a:rPr>
                  <a:t>협약기간내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</a:rPr>
                  <a:t>)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①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대표자 인건비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집행된 월 급여총액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개인사업자의 경우 당해         연도 최저임금 수준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으로 정산 가능하며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사업자등록일로부터 일할 계산하여 인정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②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직원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사업화지원금으로 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미집행되는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인력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4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 보험 취득일로부터 일할 계산하여 월 급여액으로 인정</a:t>
                </a: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※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대표자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개인사업자 대표 제외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및 직원 인건비의 경우에는 근로계약서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급여대장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이체영수증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4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 보험가입확인서 제출 必 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개인사업자의 경우 사업비신청서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사업자등록증 제출）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-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그 외 비용： ‘붙임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사업비 자금 사용기준’ 중 사업화지원금 과 명확히 구분되는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중복되지 않는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내역</a:t>
                </a:r>
              </a:p>
              <a:p>
                <a:endParaRPr lang="en-US" altLang="ko-KR" sz="105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참고１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자부담비는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협약기간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종료일 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전까지 전액 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집행하여야하며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단 인건비 및 공간임차료는 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협약종료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개월 전까지 집행을 완료하여야 한다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  <a:endParaRPr lang="ko-KR" altLang="en-US" sz="1050" u="sng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참고２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u="sng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또한 사업비로 공사지정 회계법인에 증빙 제출</a:t>
                </a:r>
                <a:endParaRPr lang="en-US" altLang="ko-KR" sz="1050" u="sng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회계법인에서 검토 및 </a:t>
                </a:r>
                <a:r>
                  <a:rPr lang="ko-KR" altLang="en-US" sz="1050" u="sng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승인／미승인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진행</a:t>
                </a:r>
                <a:endParaRPr lang="en-US" altLang="ko-KR" sz="1050" u="sng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지원 기업의 특성에 맞게 가감하여 작성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표의 행 추가 등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가능하나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기존 양식 삭제는 불가능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예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합계 삭제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X)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계산식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사업화 지원금 소계 비율 </a:t>
                </a:r>
                <a14:m>
                  <m:oMath xmlns:m="http://schemas.openxmlformats.org/officeDocument/2006/math"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사업화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지원금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소계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금액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</m:num>
                          <m:den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정부지원금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+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자부</m:t>
                            </m:r>
                            <m:r>
                              <a:rPr lang="ko-KR" altLang="en-US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담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금액</m:t>
                            </m:r>
                          </m:den>
                        </m:f>
                      </m:e>
                    </m:d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ko-KR" sz="1050" b="0" dirty="0">
                  <a:solidFill>
                    <a:schemeClr val="tx1"/>
                  </a:solidFill>
                  <a:latin typeface="맑은 고딕" panose="020B0503020000020004" pitchFamily="50" charset="-127"/>
                  <a:ea typeface="Cambria Math" panose="02040503050406030204" pitchFamily="18" charset="0"/>
                </a:endParaRP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지원금 소계 금액 </a:t>
                </a:r>
                <a14:m>
                  <m:oMath xmlns:m="http://schemas.openxmlformats.org/officeDocument/2006/math">
                    <m:r>
                      <a:rPr lang="en-US" altLang="ko-KR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</a:rPr>
                  <a:t>사업화 지원금 소계 금액 </a:t>
                </a:r>
                <a14:m>
                  <m:oMath xmlns:m="http://schemas.openxmlformats.org/officeDocument/2006/math">
                    <m:r>
                      <a:rPr lang="en-US" altLang="ko-KR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0.2</a:t>
                </a:r>
              </a:p>
              <a:p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  <a:r>
                  <a:rPr lang="ko-KR" altLang="en-US" sz="10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자부담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지원금 소계 비율 </a:t>
                </a:r>
                <a14:m>
                  <m:oMath xmlns:m="http://schemas.openxmlformats.org/officeDocument/2006/math"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자부담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소계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금액</m:t>
                            </m:r>
                          </m:num>
                          <m:den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정부지원금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+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자부담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 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금액</m:t>
                            </m:r>
                          </m:den>
                        </m:f>
                      </m:e>
                    </m:d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ko-KR" sz="1050" b="0" dirty="0">
                  <a:solidFill>
                    <a:schemeClr val="tx1"/>
                  </a:solidFill>
                  <a:latin typeface="맑은 고딕" panose="020B0503020000020004" pitchFamily="50" charset="-127"/>
                  <a:ea typeface="Cambria Math" panose="02040503050406030204" pitchFamily="18" charset="0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432400D-B9D7-BF82-0CB1-C3EA75146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40200" y="-69574"/>
                <a:ext cx="4068000" cy="68132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B862003-60EC-2E83-E4C0-A815B91A5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241615"/>
              </p:ext>
            </p:extLst>
          </p:nvPr>
        </p:nvGraphicFramePr>
        <p:xfrm>
          <a:off x="270506" y="3536477"/>
          <a:ext cx="9364988" cy="277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668">
                  <a:extLst>
                    <a:ext uri="{9D8B030D-6E8A-4147-A177-3AD203B41FA5}">
                      <a16:colId xmlns:a16="http://schemas.microsoft.com/office/drawing/2014/main" val="788269166"/>
                    </a:ext>
                  </a:extLst>
                </a:gridCol>
                <a:gridCol w="3178753">
                  <a:extLst>
                    <a:ext uri="{9D8B030D-6E8A-4147-A177-3AD203B41FA5}">
                      <a16:colId xmlns:a16="http://schemas.microsoft.com/office/drawing/2014/main" val="181306444"/>
                    </a:ext>
                  </a:extLst>
                </a:gridCol>
                <a:gridCol w="1404207">
                  <a:extLst>
                    <a:ext uri="{9D8B030D-6E8A-4147-A177-3AD203B41FA5}">
                      <a16:colId xmlns:a16="http://schemas.microsoft.com/office/drawing/2014/main" val="2235137932"/>
                    </a:ext>
                  </a:extLst>
                </a:gridCol>
                <a:gridCol w="1779180">
                  <a:extLst>
                    <a:ext uri="{9D8B030D-6E8A-4147-A177-3AD203B41FA5}">
                      <a16:colId xmlns:a16="http://schemas.microsoft.com/office/drawing/2014/main" val="1132560174"/>
                    </a:ext>
                  </a:extLst>
                </a:gridCol>
                <a:gridCol w="1779180">
                  <a:extLst>
                    <a:ext uri="{9D8B030D-6E8A-4147-A177-3AD203B41FA5}">
                      <a16:colId xmlns:a16="http://schemas.microsoft.com/office/drawing/2014/main" val="1935489333"/>
                    </a:ext>
                  </a:extLst>
                </a:gridCol>
              </a:tblGrid>
              <a:tr h="3008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산출근거 （품목 ／ 수량／ 기간 등）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조달방법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587361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인건비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신규인력 인건비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 운영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 보조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사업화지원금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14,000,000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30.6%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외주용역비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후반편집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자막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사운드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모션그래픽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다국어 현지화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사업화지원금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24,000,000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949747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광고선전비 등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 광고 집행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시장반응조사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기자재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 임차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무형자산 취득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사업화지원금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22,000,000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86495"/>
                  </a:ext>
                </a:extLst>
              </a:tr>
              <a:tr h="28873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사업화 지원금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정부지원금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60,000,000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83.3%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011748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 현물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 기획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총괄 인건비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협약기간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자부담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현물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7,000,000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9.7%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330737"/>
                  </a:ext>
                </a:extLst>
              </a:tr>
              <a:tr h="2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공간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장비 현물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사무공간 임차료 및 기보유 장비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 활용분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자부담</a:t>
                      </a:r>
                      <a:r>
                        <a:rPr lang="en-US" altLang="ko-KR" sz="1000" b="1" i="0" spc="-15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spc="-15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현물</a:t>
                      </a:r>
                      <a:r>
                        <a:rPr lang="en-US" altLang="ko-KR" sz="1000" b="1" i="0" spc="-15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spc="-15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5,000,000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6.9%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902728"/>
                  </a:ext>
                </a:extLst>
              </a:tr>
              <a:tr h="28873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자부담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현물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12,000,000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16.7%</a:t>
                      </a:r>
                      <a:endParaRPr lang="ko-KR" altLang="en-US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8609"/>
                  </a:ext>
                </a:extLst>
              </a:tr>
              <a:tr h="28873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총사업비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정부지원금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200" b="1" i="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자부담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0" i="1" dirty="0">
                        <a:solidFill>
                          <a:srgbClr val="2393C5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i="1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72,000,000</a:t>
                      </a:r>
                      <a:endParaRPr lang="en-US" altLang="ko-KR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altLang="ko-KR" sz="10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65035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126565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4952-9A31-BA78-CF2E-4B2D29BD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9F6938AC-4001-9B74-C956-3618E7FF34E5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D61191D9-919E-A4FD-1903-D280268D97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E642EBE8-F8E0-0C6F-3EA1-9064FDF925D2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363296F-C821-0CF3-E447-0F048CE8119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477421-E440-94D4-FC6F-E37FDBC5E5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E1739-3B30-5DE2-1E4C-7F60DC4E5E25}"/>
              </a:ext>
            </a:extLst>
          </p:cNvPr>
          <p:cNvSpPr txBox="1"/>
          <p:nvPr/>
        </p:nvSpPr>
        <p:spPr>
          <a:xfrm>
            <a:off x="1311965" y="1606815"/>
            <a:ext cx="8594035" cy="734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2-4-(1).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사업추진 일정 계획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사업단계에서 추진하고자 하는 종합적인 목표 및 추진 일정 등 기재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6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및 서비스개발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 및 판로개척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및 조직수립 등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096DC3EB-681D-6E50-0D78-E7F69E1377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2-4.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일정계획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| (1)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사업추진 일정 계획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F867A0-2288-F0E8-AAB6-609FFC10FD30}"/>
              </a:ext>
            </a:extLst>
          </p:cNvPr>
          <p:cNvSpPr txBox="1"/>
          <p:nvPr/>
        </p:nvSpPr>
        <p:spPr>
          <a:xfrm>
            <a:off x="480160" y="3257553"/>
            <a:ext cx="9234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lang="en-US" altLang="ko-KR" sz="1400" b="1" kern="0" spc="-1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사업추진 일정 및 목표 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전체 사업단계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ko-KR" altLang="en-US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078E37-FBB5-7BF2-8B31-12469CC113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87824" y="3810000"/>
            <a:ext cx="4068000" cy="2524128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2]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 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사업추진 일정 계획 작성 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협약기간 이후 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중장기 로드맵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후까지의 계획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고려하여 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 별 작성 내용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과제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기업 성장에 주요한 전략 기재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과제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과제를 달성하기 위한 세부 과제 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과제 목표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시 목표하는 구체적인 정성적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정량적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KPI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대략적인 일정을 추정해 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 기업의 특성에 맞게 가감하여 작성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행 추가 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가능하나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양식 삭제는 불가능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:‘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삭제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불가능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2386C6F-F867-80FB-22E7-6A523B00E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448602"/>
              </p:ext>
            </p:extLst>
          </p:nvPr>
        </p:nvGraphicFramePr>
        <p:xfrm>
          <a:off x="267058" y="3590701"/>
          <a:ext cx="9371884" cy="2716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451">
                  <a:extLst>
                    <a:ext uri="{9D8B030D-6E8A-4147-A177-3AD203B41FA5}">
                      <a16:colId xmlns:a16="http://schemas.microsoft.com/office/drawing/2014/main" val="382826469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57151765"/>
                    </a:ext>
                  </a:extLst>
                </a:gridCol>
                <a:gridCol w="3716748">
                  <a:extLst>
                    <a:ext uri="{9D8B030D-6E8A-4147-A177-3AD203B41FA5}">
                      <a16:colId xmlns:a16="http://schemas.microsoft.com/office/drawing/2014/main" val="1287076246"/>
                    </a:ext>
                  </a:extLst>
                </a:gridCol>
                <a:gridCol w="780990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780991">
                  <a:extLst>
                    <a:ext uri="{9D8B030D-6E8A-4147-A177-3AD203B41FA5}">
                      <a16:colId xmlns:a16="http://schemas.microsoft.com/office/drawing/2014/main" val="2299743348"/>
                    </a:ext>
                  </a:extLst>
                </a:gridCol>
                <a:gridCol w="780990">
                  <a:extLst>
                    <a:ext uri="{9D8B030D-6E8A-4147-A177-3AD203B41FA5}">
                      <a16:colId xmlns:a16="http://schemas.microsoft.com/office/drawing/2014/main" val="4041698369"/>
                    </a:ext>
                  </a:extLst>
                </a:gridCol>
              </a:tblGrid>
              <a:tr h="2658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 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과제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과제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50470"/>
                  </a:ext>
                </a:extLst>
              </a:tr>
              <a:tr h="21091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확보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문화유산 데이터셋 및 제작 파이프라인 구축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연도별 제작 표준화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아카이브 체계 구축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파일럿 구축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 확장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전국 아카이브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26380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00" b="1" i="0" kern="120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채널 성장 및 기관 제안 확대</a:t>
                      </a:r>
                      <a:endParaRPr sz="1000" b="1" i="0" kern="120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파일럿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35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편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납품형 패키지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종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초기 출시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다각화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다국어 확장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  <a:tr h="263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누적 조회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100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만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제안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건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협의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건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채널 검증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기관 반복계약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관광브랜드화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14323"/>
                  </a:ext>
                </a:extLst>
              </a:tr>
              <a:tr h="4686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수익모델 확립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B2G/B2B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납품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제휴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라이선스 매출 확보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초기 납품 매출 발생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첫 매출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반복매출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라이선스 매출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707556"/>
                  </a:ext>
                </a:extLst>
              </a:tr>
              <a:tr h="3279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조직 역량 강화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 운영 및 편집 인력 확보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신규고용 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en-US" altLang="ko-KR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채용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 분화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 고도화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07722"/>
                  </a:ext>
                </a:extLst>
              </a:tr>
              <a:tr h="2658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 연계 강화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축제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체험</a:t>
                      </a:r>
                      <a:r>
                        <a:rPr lang="en-US" altLang="ko-KR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로컬상권 연계 확대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지역관광 전환 구조 구축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시범연계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 확대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상시 운영</a:t>
                      </a:r>
                      <a:endParaRPr lang="ko-KR" altLang="en-US" sz="10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836605"/>
                  </a:ext>
                </a:extLst>
              </a:tr>
              <a:tr h="26589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66739"/>
                  </a:ext>
                </a:extLst>
              </a:tr>
              <a:tr h="26589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091396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69843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7DFF-BF20-0F08-3B53-A96B9BA7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442DDE73-1BF7-8797-A3C9-726819879FB3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C42EF2C1-D772-94F6-EA3E-71F598A102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A3DE0735-701C-2DF6-9AC1-28BF51AC6C2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919ABF6-FC1D-CFB1-C9A7-2DDED4624E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C7D6DC-C405-9F08-C551-164084EE18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42924-E7CA-4845-1F6B-2D863A6E2989}"/>
              </a:ext>
            </a:extLst>
          </p:cNvPr>
          <p:cNvSpPr txBox="1"/>
          <p:nvPr/>
        </p:nvSpPr>
        <p:spPr>
          <a:xfrm>
            <a:off x="644909" y="1526065"/>
            <a:ext cx="89871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2-4-(2).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협약기간 내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(2026. 7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~11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예정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 추진 계획 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 협약기간 내 달성하고자 하는 성과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및 서비스개발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 및 판로개척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및 조직수립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기재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72F32131-213C-8FB9-22B9-986E5BFCD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2-4.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일정계획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| (2)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협약기간 내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 추진 계획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581BB-E49B-8C00-EEF2-BC8BA9BDB57E}"/>
              </a:ext>
            </a:extLst>
          </p:cNvPr>
          <p:cNvSpPr txBox="1"/>
          <p:nvPr/>
        </p:nvSpPr>
        <p:spPr>
          <a:xfrm>
            <a:off x="267057" y="2346523"/>
            <a:ext cx="9364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kumimoji="0" lang="en-US" altLang="ko-KR" sz="14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3] </a:t>
            </a:r>
            <a:r>
              <a:rPr kumimoji="0" lang="ko-KR" altLang="en-US" sz="14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협약기간 내 사업 추진 계획</a:t>
            </a:r>
            <a:endParaRPr lang="ko-KR" altLang="en-US" b="1" spc="-15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CF0FD1-4E2C-0240-39EF-01E613518F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168625" y="3225801"/>
            <a:ext cx="4068000" cy="2800670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3]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 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협약기간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(7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~11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내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추진 예정인 사업 계획 작성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내용에 대한 월별 </a:t>
            </a:r>
            <a:r>
              <a:rPr lang="ko-KR" altLang="en-US" sz="1050" u="sng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진행계획을 추정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기재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 기업의 특성에 맞게 가감하여 작성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행 추가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가능하나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업종 및 종목 추가 행을 삭제 불가</a:t>
            </a: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초기관광벤처 사업 참여기업의 경우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50" b="1" u="sng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협약종료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 전까지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본점 기준 사업자등록증상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창업아이템과 관련된 신규 업종을 반드시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추가해야함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최소 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업종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0388D43-BFB1-0C3A-8397-8D98DC23D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001049"/>
              </p:ext>
            </p:extLst>
          </p:nvPr>
        </p:nvGraphicFramePr>
        <p:xfrm>
          <a:off x="267058" y="2730500"/>
          <a:ext cx="9229368" cy="3578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909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2857369">
                  <a:extLst>
                    <a:ext uri="{9D8B030D-6E8A-4147-A177-3AD203B41FA5}">
                      <a16:colId xmlns:a16="http://schemas.microsoft.com/office/drawing/2014/main" val="1028737888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2881744402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3464906357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4022672486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3433426078"/>
                    </a:ext>
                  </a:extLst>
                </a:gridCol>
                <a:gridCol w="1026618">
                  <a:extLst>
                    <a:ext uri="{9D8B030D-6E8A-4147-A177-3AD203B41FA5}">
                      <a16:colId xmlns:a16="http://schemas.microsoft.com/office/drawing/2014/main" val="2610076288"/>
                    </a:ext>
                  </a:extLst>
                </a:gridCol>
              </a:tblGrid>
              <a:tr h="3691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0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 내용</a:t>
                      </a:r>
                      <a:endParaRPr lang="ko-KR" altLang="en-US" sz="1200" b="1" spc="-1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088293"/>
                  </a:ext>
                </a:extLst>
              </a:tr>
              <a:tr h="36911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r>
                        <a:rPr lang="en-US" altLang="ko-KR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‧</a:t>
                      </a:r>
                      <a:r>
                        <a:rPr lang="ko-KR" altLang="en-US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개발</a:t>
                      </a:r>
                      <a:endParaRPr lang="ko-KR" altLang="en-US" sz="900" b="1" kern="0" spc="-15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문화유산 숏폼 파일럿 제작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대상지 선정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</a:t>
                      </a: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15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편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성과 분석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</a:t>
                      </a: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</a:t>
                      </a: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36911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400" b="0" kern="0" spc="0" dirty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랜딩</a:t>
                      </a: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·CTA 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 연동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409152"/>
                  </a:ext>
                </a:extLst>
              </a:tr>
              <a:tr h="36911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홍보</a:t>
                      </a:r>
                      <a:r>
                        <a:rPr lang="en-US" altLang="ko-KR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‧</a:t>
                      </a:r>
                      <a:r>
                        <a:rPr lang="ko-KR" altLang="en-US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판로 개척</a:t>
                      </a:r>
                      <a:endParaRPr lang="ko-KR" altLang="en-US" sz="900" b="1" kern="0" spc="-15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자체 채널 운영 및 광고 집행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채널 개설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파일럿 홍보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en-US" altLang="ko-KR" sz="900" b="1" kern="0" spc="-3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A/B </a:t>
                      </a:r>
                      <a:r>
                        <a:rPr lang="ko-KR" altLang="en-US" sz="900" b="1" kern="0" spc="-3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endParaRPr lang="ko-KR" altLang="en-US" sz="900" b="1" kern="0" spc="-30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확산 집행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성과 정리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264196"/>
                  </a:ext>
                </a:extLst>
              </a:tr>
              <a:tr h="36911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400" b="0" kern="0" spc="-150" dirty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지자체</a:t>
                      </a: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 제안 및 미팅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타깃리스트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제안 발송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3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미팅 진행</a:t>
                      </a:r>
                      <a:endParaRPr lang="ko-KR" altLang="en-US" sz="900" b="1" kern="0" spc="-30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후속 협상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 협의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09900"/>
                  </a:ext>
                </a:extLst>
              </a:tr>
              <a:tr h="36911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 구성</a:t>
                      </a:r>
                      <a:endParaRPr lang="ko-KR" altLang="en-US" sz="900" b="1" kern="0" spc="-15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 운영</a:t>
                      </a: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 인력 채용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채용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endParaRPr lang="ko-KR" altLang="en-US" sz="1400" b="0" kern="0" spc="-150" dirty="0">
                        <a:solidFill>
                          <a:srgbClr val="FF0000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채용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3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온보딩</a:t>
                      </a:r>
                      <a:endParaRPr lang="ko-KR" altLang="en-US" sz="900" b="1" kern="0" spc="-30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 안정화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  <a:tr h="36911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400" b="0" kern="0" spc="-150" dirty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전문가 협력체계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자문 섭외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운영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번역 협업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캠페인 협업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정리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872621"/>
                  </a:ext>
                </a:extLst>
              </a:tr>
              <a:tr h="6253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 또는 종목 추가</a:t>
                      </a:r>
                      <a:r>
                        <a:rPr lang="en-US" altLang="ko-KR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r>
                        <a:rPr lang="en-US" altLang="ko-KR" sz="900" b="1" kern="0" spc="-15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-15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관광콘텐츠</a:t>
                      </a: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미디어 제작 관련 업종</a:t>
                      </a:r>
                      <a:r>
                        <a:rPr lang="en-US" altLang="ko-KR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종목 추가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 준비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반영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</a:pPr>
                      <a:r>
                        <a:rPr lang="ko-KR" altLang="en-US" sz="900" b="1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  <a:endParaRPr lang="ko-KR" altLang="en-US" sz="900" b="1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609099"/>
                  </a:ext>
                </a:extLst>
              </a:tr>
              <a:tr h="369115">
                <a:tc gridSpan="2">
                  <a:txBody>
                    <a:bodyPr/>
                    <a:lstStyle/>
                    <a:p>
                      <a:pPr marL="215900" marR="0" indent="-21590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협약기간 내 목표</a:t>
                      </a: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조회 </a:t>
                      </a:r>
                      <a:r>
                        <a:rPr lang="en-US" altLang="ko-KR" sz="900" b="1" i="0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100</a:t>
                      </a:r>
                      <a:r>
                        <a:rPr lang="ko-KR" altLang="en-US" sz="900" b="1" i="0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만</a:t>
                      </a:r>
                      <a:r>
                        <a:rPr lang="en-US" altLang="ko-KR" sz="900" b="1" i="0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b="1" i="0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협의 </a:t>
                      </a:r>
                      <a:r>
                        <a:rPr lang="en-US" altLang="ko-KR" sz="900" b="1" i="0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900" b="1" i="0" kern="0" spc="-15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건</a:t>
                      </a:r>
                      <a:endParaRPr lang="ko-KR" altLang="en-US" sz="900" b="1" i="0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200" b="1" i="0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200" b="1" i="0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200" b="1" i="0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endParaRPr lang="ko-KR" altLang="en-US" sz="1200" b="1" i="0" kern="0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788" marR="61788" marT="17083" marB="17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26826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337939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A1FEC-5739-6E69-5717-1640EA486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31D382-D910-8FDA-4E40-A7CB6BFDEF68}"/>
              </a:ext>
            </a:extLst>
          </p:cNvPr>
          <p:cNvSpPr txBox="1"/>
          <p:nvPr/>
        </p:nvSpPr>
        <p:spPr>
          <a:xfrm>
            <a:off x="1228403" y="1526258"/>
            <a:ext cx="85251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2-5.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사업의 수익성 및 성장성 전망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년간 실적 및 향후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년간 예상 성과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기재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사업을 지속운영 가능하고 수익 창출 가능한 현실적인 실행계획 제시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○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매출 사례와 구체적인 실행계획을 바탕으로 한 예상 매출 기입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685800" lvl="1" indent="-228600" algn="just" fontAlgn="base" latinLnBrk="1">
              <a:lnSpc>
                <a:spcPct val="150000"/>
              </a:lnSpc>
              <a:defRPr/>
            </a:pP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매출이 없는 해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(26. 1. 31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사업자등록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출시 전 등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경우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‘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r>
              <a:rPr lang="en-US" altLang="ko-KR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4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기재 </a:t>
            </a:r>
            <a:endParaRPr lang="en-US" altLang="ko-KR" sz="14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0A866-999C-0FB9-BE2C-874518ACD32F}"/>
              </a:ext>
            </a:extLst>
          </p:cNvPr>
          <p:cNvSpPr txBox="1"/>
          <p:nvPr/>
        </p:nvSpPr>
        <p:spPr>
          <a:xfrm>
            <a:off x="538297" y="2886339"/>
            <a:ext cx="90971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lang="en-US" altLang="ko-KR" sz="1400" b="1" kern="0" spc="-1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지난  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년간 실적 및  향후 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년간 예상 성과 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단위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FBC06AA-D3FD-8832-E1EE-DF21DA76D0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-4225924" y="3477747"/>
                <a:ext cx="4068000" cy="2819218"/>
              </a:xfrm>
              <a:prstGeom prst="rect">
                <a:avLst/>
              </a:prstGeom>
              <a:solidFill>
                <a:schemeClr val="bg2"/>
              </a:solidFill>
              <a:ln w="28575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05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※ </a:t>
                </a:r>
                <a:r>
                  <a:rPr lang="en-US" altLang="ko-KR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[</a:t>
                </a:r>
                <a:r>
                  <a:rPr lang="ko-KR" altLang="en-US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표</a:t>
                </a:r>
                <a:r>
                  <a:rPr lang="en-US" altLang="ko-KR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4] </a:t>
                </a:r>
                <a:r>
                  <a:rPr lang="ko-KR" altLang="en-US" sz="1050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세부 작성 가이드</a:t>
                </a:r>
                <a:endParaRPr lang="en-US" altLang="ko-KR" sz="1050" b="1" dirty="0">
                  <a:solidFill>
                    <a:schemeClr val="tx1"/>
                  </a:solidFill>
                  <a:highlight>
                    <a:srgbClr val="FFFF00"/>
                  </a:highligh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지난 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년간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(2024~2025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실적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은 재무제표 등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객관적인 근거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를 바탕으로 작성하며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향후 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년간</a:t>
                </a:r>
                <a:r>
                  <a:rPr lang="en-US" altLang="ko-KR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(2026~2028) </a:t>
                </a:r>
                <a:r>
                  <a:rPr lang="ko-KR" altLang="en-US" sz="1050" u="sng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예상 성과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구체적인 실행계획을 바탕으로 매출액 등을 </a:t>
                </a:r>
                <a:r>
                  <a:rPr lang="ko-KR" altLang="en-US" sz="10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추정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하여 작성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계산식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매출액 증가율</a:t>
                </a: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05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05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</m:ctrlPr>
                            </m:fPr>
                            <m:num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해당</m:t>
                              </m:r>
                              <m:r>
                                <a:rPr lang="ko-KR" altLang="en-US" sz="105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연도</m:t>
                              </m:r>
                              <m:r>
                                <a:rPr lang="en-US" altLang="ko-KR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 </m:t>
                              </m:r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매출액</m:t>
                              </m:r>
                              <m:r>
                                <a:rPr lang="en-US" altLang="ko-KR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−</m:t>
                              </m:r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전년도</m:t>
                              </m:r>
                              <m:r>
                                <a:rPr lang="en-US" altLang="ko-KR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 </m:t>
                              </m:r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매출액</m:t>
                              </m:r>
                            </m:num>
                            <m:den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전년도</m:t>
                              </m:r>
                              <m:r>
                                <a:rPr lang="en-US" altLang="ko-KR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 </m:t>
                              </m:r>
                              <m:r>
                                <a:rPr lang="ko-KR" altLang="en-US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매출액</m:t>
                              </m:r>
                            </m:den>
                          </m:f>
                        </m:e>
                      </m:d>
                      <m:r>
                        <a:rPr lang="en-US" altLang="ko-K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6.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판관비율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판매비</m:t>
                            </m:r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+</m:t>
                            </m:r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관리비</m:t>
                            </m:r>
                          </m:num>
                          <m:den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매출</m:t>
                            </m:r>
                          </m:den>
                        </m:f>
                      </m:e>
                    </m:d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Tx/>
                  <a:buChar char="-"/>
                </a:pPr>
                <a:r>
                  <a:rPr lang="en-US" altLang="ko-KR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7. </a:t>
                </a:r>
                <a:r>
                  <a:rPr lang="ko-KR" altLang="en-US" sz="10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영업이익율 </a:t>
                </a:r>
                <a14:m>
                  <m:oMath xmlns:m="http://schemas.openxmlformats.org/officeDocument/2006/math"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영업이익</m:t>
                            </m:r>
                          </m:num>
                          <m:den>
                            <m:r>
                              <a:rPr lang="ko-KR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매출</m:t>
                            </m:r>
                          </m:den>
                        </m:f>
                      </m:e>
                    </m:d>
                    <m:r>
                      <a:rPr lang="en-US" altLang="ko-KR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1450" indent="-171450">
                  <a:buFontTx/>
                  <a:buChar char="-"/>
                </a:pPr>
                <a:endPara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FBC06AA-D3FD-8832-E1EE-DF21DA76D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25924" y="3477747"/>
                <a:ext cx="4068000" cy="2819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490ECA6-E5AA-9D54-4B02-318579A0B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992325"/>
              </p:ext>
            </p:extLst>
          </p:nvPr>
        </p:nvGraphicFramePr>
        <p:xfrm>
          <a:off x="270503" y="3279445"/>
          <a:ext cx="93649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593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1028737888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2881744402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3983801066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370184491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1179788974"/>
                    </a:ext>
                  </a:extLst>
                </a:gridCol>
                <a:gridCol w="1436825">
                  <a:extLst>
                    <a:ext uri="{9D8B030D-6E8A-4147-A177-3AD203B41FA5}">
                      <a16:colId xmlns:a16="http://schemas.microsoft.com/office/drawing/2014/main" val="1679161365"/>
                    </a:ext>
                  </a:extLst>
                </a:gridCol>
              </a:tblGrid>
              <a:tr h="2386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2027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2028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50470"/>
                  </a:ext>
                </a:extLst>
              </a:tr>
              <a:tr h="238662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경영성과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80,000,000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180,000,000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320,000,000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 원가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16,000,000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40,000,000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70,000,000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330737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 총이익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(1-2)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64,000,000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140,000,000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250,000,000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 증가율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125%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77.8%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98929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판매비와 관리비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54,000,000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90,000,000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130,000,000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993503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i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판관비율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(5÷1)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67.5%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50.0%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40.6%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90453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(3-5)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10,000,000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50,000,000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120,000,000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408623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i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영업이익율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(7÷1)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9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12.5%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27.8%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37.5%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72498"/>
                  </a:ext>
                </a:extLst>
              </a:tr>
              <a:tr h="23866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신규고용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192317"/>
                  </a:ext>
                </a:extLst>
              </a:tr>
              <a:tr h="2386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i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 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투자유치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1200" b="1" i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spc="-150">
                          <a:solidFill>
                            <a:srgbClr val="2393C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900" b="1" i="0" spc="-150" dirty="0">
                        <a:solidFill>
                          <a:srgbClr val="2393C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59844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A1ED489-7A0F-570C-BBEF-472FC7A64F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02.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5B370-4F0D-468C-479A-30428DAD35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사업전략</a:t>
            </a:r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1103E0F0-E609-04A0-740E-9293D19B1A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2-5.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사업의 수익성 및 성장성 전망</a:t>
            </a: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50375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8F353-69A0-BBB7-1F63-8A24B9B3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98A5B761-97DF-0854-DBAF-4E2669F8F937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70D0A1AA-CB6D-52D3-3312-3850EBDC69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1C7F22D2-9AF4-6613-636C-DBB79AB7DDA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2262DD2E-C18F-936B-1960-69128503F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73" y="3614557"/>
            <a:ext cx="141942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1F24A-B2B5-4AB7-C49A-111421A13F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03.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5DA9AA-DE98-2AAA-4AFB-959BA6AA1E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 파급효과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(2P 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11E76D17-4943-414D-3E23-C714D0413E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3-1.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관광산업과의 연관성 및 지속가능성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D98244-2B75-5FE5-D11E-E278ED28C0F5}"/>
              </a:ext>
            </a:extLst>
          </p:cNvPr>
          <p:cNvSpPr txBox="1"/>
          <p:nvPr/>
        </p:nvSpPr>
        <p:spPr>
          <a:xfrm>
            <a:off x="1311966" y="1606815"/>
            <a:ext cx="8051110" cy="30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사업은 문화유산과 문화유적지를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실감형 콘텐츠로 재해석해 관광객의 사전 관심을 실제 방문 의사로 전환하는 관광콘텐츠 사업입니다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관광객은 여행 전 숏폼을 통해 목적지를 발견하고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여행 중에는 영상에 연계된 지역 동선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축제 정보로 행동 결정을 하게 됩니다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잘 알려지지 않은 지역 문화유산도 매력적인 디지털 경험으로 재가공함으로써 관광 비활성화 지역의 인지도와 방문 가능성을 높일 수 있습니다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제작된 콘텐츠는 반복 활용 가능한 디지털 자산이 되어 지자체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기관의 지속가능한 관광홍보 기반이 됩니다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결과적으로 문화유산 보존의 가치와 지역관광 활성화라는 두 목표를 동시에 지원하는 지속가능한 관광 미디어 모델입니다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3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885765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42C7-7DDE-314C-BE78-9AB28150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F5ED99B9-5EAF-E655-19D1-3C6AED6E1281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21813CBC-CBE8-B268-E4FF-D97580B8D8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9EB7FE70-7F7E-2A36-83F4-549DE8EC4D92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2D7C4D90-334F-AE39-3F8D-3AFA20AEE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73" y="3614557"/>
            <a:ext cx="141942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0BED3-B256-438C-F0D9-B731EF273F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03.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443CCF-4303-DA4D-EE10-39B4564725C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 파급효과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DD3AB7A3-7896-77B7-7DFF-C130F9DA2E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3-2.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관광산업 확장 가능성 및 기대효과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21213C-1907-153F-CBDF-9954E143B220}"/>
              </a:ext>
            </a:extLst>
          </p:cNvPr>
          <p:cNvSpPr txBox="1"/>
          <p:nvPr/>
        </p:nvSpPr>
        <p:spPr>
          <a:xfrm>
            <a:off x="644909" y="1606815"/>
            <a:ext cx="8841991" cy="275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관광시장 창출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'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문화유산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숏폼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이라는 새로운 실감형 관광콘텐츠 시장을 형성하고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지역별 시리즈 사업으로 확장할 수 있습니다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협력 가능성 확대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지자체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관광재단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문화기관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지역축제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체험사업자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숙박업과의 협업이 가능해 관광 생태계 연계성이 높습니다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지역경제 기여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콘텐츠를 본 관광객이 실제 방문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체험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식음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숙박 소비로 이어질 경우 지역 상권 활성화 효과가 기대됩니다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일자리 창출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협약기간 내 신규고용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명을 계획하고 있으며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편집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인력 확대가 가능합니다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 사례화 가능성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AI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기술을 활용해 문화유산을 관광 수요로 전환한 사례로서 타 지역 확산과 정책 연계 가능성이 높습니다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174476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AC472-FFF5-2A06-21EA-D5B0E1188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C0642999-1A36-49A5-05E8-A2BEF8F03401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35372BBB-0D38-5860-2C9C-C29326917F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7CB14F66-0F52-EC44-7061-61FF6CBCA4FE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1F41C18-217D-5DA7-E9ED-C2F584B5001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04.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DEE0D4-4562-919E-EED5-F4AC107843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팀 역량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(3P 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이내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)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309905E8-77DE-D60B-EFD8-A4CA8F3BDF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4-1.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사업자의 전문성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C062CF-55D2-64E7-4AA9-7881A058DC27}"/>
              </a:ext>
            </a:extLst>
          </p:cNvPr>
          <p:cNvSpPr txBox="1"/>
          <p:nvPr/>
        </p:nvSpPr>
        <p:spPr>
          <a:xfrm>
            <a:off x="1311966" y="1606815"/>
            <a:ext cx="7622484" cy="275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대표자는 한국 문화유산 및 문화유적지를 직접 조사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수집한 사진 데이터를 바탕으로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콘텐츠를 기획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제작할 수 있는 역량을 보유하고 있습니다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문화유산의 역사성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장소성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감성 포인트를 짧은 영상 서사로 압축하는 기획력이 본 사업의 핵심 경쟁력입니다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 영상 제작이 아니라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흥미 유발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지역 인지도 형성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방문 유도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구조로 연결하는 관광적 관점의 콘텐츠 기획이 가능합니다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개인사업자 초기 단계이지만 의사결정이 빠르고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대표자가 기획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대외협업을 직접 총괄하여 협약기간 내 실행력을 높일 수 있습니다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[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경력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수상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포트폴리오가 있다면 이 슬라이드에 추가 입력 권장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300" b="1" kern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176337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4587-D0AB-27D7-154C-F6350BC79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C3E76115-D3DB-0808-CF9D-C39CA5931486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E22F07B4-E811-4DB1-D06A-D41E40947B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25242D56-3EBE-F3DC-48BA-C840F700CF0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05A2BE7-94F9-99E5-512D-78A081E5B0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04.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A5300-9EE5-2E87-024D-A8809979F1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팀 역량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1BE32C0B-9CEE-0B68-B731-66290014EB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4-2.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사업운영 능력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3A75E1-046B-BFC5-FB9A-BA580A7DB506}"/>
              </a:ext>
            </a:extLst>
          </p:cNvPr>
          <p:cNvSpPr txBox="1"/>
          <p:nvPr/>
        </p:nvSpPr>
        <p:spPr>
          <a:xfrm>
            <a:off x="1311966" y="1606815"/>
            <a:ext cx="7622484" cy="275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 자원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문화유산 사진 데이터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AI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제작 툴 활용 역량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숏폼 편집 및 채널 운영 역량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방식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 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성과분석의 내부 프로세스를 표준화하여 짧은 협약기간 내 반복 생산이 가능하도록 설계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 가능 자산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기보유 장비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사무공간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데이터 아카이브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협력 네트워크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번역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자문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후반작업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역량 강화 계획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운영 데이터 분석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콘텐츠 성과 피드백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관광기관 제안서 고도화를 통해 사업개발 능력을 지속 강화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개인사업자 구조의 장점을 살려 빠른 실행과 실험 중심 운영을 하되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전문인력 협업으로 부족한 기능을 보완할 계획입니다</a:t>
            </a:r>
            <a:r>
              <a:rPr lang="en-US" altLang="ko-KR" sz="13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300" b="1" kern="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238746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CCD2-2C4D-520A-0740-23920D5F9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FD0EF6A0-2AF0-3317-C032-65E6776F88FB}"/>
              </a:ext>
            </a:extLst>
          </p:cNvPr>
          <p:cNvGrpSpPr/>
          <p:nvPr/>
        </p:nvGrpSpPr>
        <p:grpSpPr>
          <a:xfrm>
            <a:off x="8642231" y="118686"/>
            <a:ext cx="535107" cy="185921"/>
            <a:chOff x="10399341" y="124622"/>
            <a:chExt cx="861590" cy="299357"/>
          </a:xfrm>
        </p:grpSpPr>
        <p:pic>
          <p:nvPicPr>
            <p:cNvPr id="25" name="그래픽 83">
              <a:extLst>
                <a:ext uri="{FF2B5EF4-FFF2-40B4-BE49-F238E27FC236}">
                  <a16:creationId xmlns:a16="http://schemas.microsoft.com/office/drawing/2014/main" id="{500130FC-F5B9-FA5C-C33C-31F11BECBB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49942"/>
            <a:stretch/>
          </p:blipFill>
          <p:spPr>
            <a:xfrm>
              <a:off x="10399341" y="124622"/>
              <a:ext cx="302431" cy="299357"/>
            </a:xfrm>
            <a:prstGeom prst="rect">
              <a:avLst/>
            </a:prstGeom>
          </p:spPr>
        </p:pic>
        <p:pic>
          <p:nvPicPr>
            <p:cNvPr id="26" name="그래픽 84">
              <a:extLst>
                <a:ext uri="{FF2B5EF4-FFF2-40B4-BE49-F238E27FC236}">
                  <a16:creationId xmlns:a16="http://schemas.microsoft.com/office/drawing/2014/main" id="{E4B4204A-7DC0-C830-290A-E657A69A53D4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33879" y="165616"/>
              <a:ext cx="527052" cy="21737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3D23918-A92B-8253-EB22-A6F792074F0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9200" y="598750"/>
            <a:ext cx="3243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en-US" altLang="ko-KR" sz="2000" b="1" dirty="0">
                <a:solidFill>
                  <a:srgbClr val="2393C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04.</a:t>
            </a:r>
            <a:endParaRPr lang="ko-KR" altLang="en-US" sz="2000" b="1" dirty="0">
              <a:solidFill>
                <a:srgbClr val="2393C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C77A2-A077-18A4-4B6E-F30B650CC4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1599" y="598750"/>
            <a:ext cx="39274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950" latinLnBrk="1">
              <a:spcAft>
                <a:spcPts val="244"/>
              </a:spcAft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팀 역량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62D1F984-D1DE-D307-43C4-0CB8D4098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9" y="1050498"/>
            <a:ext cx="5400000" cy="412346"/>
          </a:xfrm>
          <a:prstGeom prst="roundRect">
            <a:avLst>
              <a:gd name="adj" fmla="val 50000"/>
            </a:avLst>
          </a:prstGeom>
          <a:solidFill>
            <a:srgbClr val="FFF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742950" latinLnBrk="1">
              <a:defRPr/>
            </a:pP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 4-3. </a:t>
            </a:r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인력 및 조직 운영 계획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36B7C8-D302-459A-ACF3-BFAEF686BEC4}"/>
              </a:ext>
            </a:extLst>
          </p:cNvPr>
          <p:cNvSpPr txBox="1"/>
          <p:nvPr/>
        </p:nvSpPr>
        <p:spPr>
          <a:xfrm>
            <a:off x="1311966" y="1606815"/>
            <a:ext cx="7622484" cy="285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대표자 중심으로 기획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사업개발을 수행하고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협약기간 내 콘텐츠 운영 및 편집 인력을 신규 채용하여 실행력을 강화할 계획입니다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1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신규고용 계획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2026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콘텐츠 운영 담당 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 채용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직무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숏폼 업로드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운영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성과 데이터 정리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관리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2026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 편집 및 모션 보조 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 채용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직무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AI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결과물 편집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자막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사운드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후반작업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납품 패키지 제작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100" b="1" kern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부족 역량 보완 방안</a:t>
            </a:r>
          </a:p>
          <a:p>
            <a:pPr marL="228600" marR="0" lvl="0" indent="-228600" algn="just" defTabSz="4572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문화유산 사실 검수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다국어 번역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사운드 및 후반작업은 외부 전문가와 협업하여 품질을 확보합니다</a:t>
            </a:r>
            <a:r>
              <a:rPr lang="en-US" altLang="ko-KR" sz="1100" b="1" ker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100" b="1" kern="0" dirty="0">
              <a:solidFill>
                <a:srgbClr val="FF0000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6C927-ABB7-6B5F-CAC0-DEBA147C002F}"/>
              </a:ext>
            </a:extLst>
          </p:cNvPr>
          <p:cNvSpPr txBox="1"/>
          <p:nvPr/>
        </p:nvSpPr>
        <p:spPr>
          <a:xfrm>
            <a:off x="273949" y="3924659"/>
            <a:ext cx="93581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</a:t>
            </a:r>
            <a:r>
              <a:rPr kumimoji="0" lang="en-US" altLang="ko-KR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5] </a:t>
            </a:r>
            <a:r>
              <a:rPr kumimoji="0" lang="ko-KR" altLang="en-US" sz="1400" b="1" i="0" u="none" strike="noStrike" kern="0" cap="none" spc="-12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팀 구성 현황</a:t>
            </a:r>
            <a:endParaRPr lang="ko-KR" altLang="en-US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49CF0A5-7F71-241F-F773-249D17B52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996367"/>
              </p:ext>
            </p:extLst>
          </p:nvPr>
        </p:nvGraphicFramePr>
        <p:xfrm>
          <a:off x="230798" y="4201850"/>
          <a:ext cx="9358100" cy="204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516">
                  <a:extLst>
                    <a:ext uri="{9D8B030D-6E8A-4147-A177-3AD203B41FA5}">
                      <a16:colId xmlns:a16="http://schemas.microsoft.com/office/drawing/2014/main" val="1198301924"/>
                    </a:ext>
                  </a:extLst>
                </a:gridCol>
                <a:gridCol w="1065516">
                  <a:extLst>
                    <a:ext uri="{9D8B030D-6E8A-4147-A177-3AD203B41FA5}">
                      <a16:colId xmlns:a16="http://schemas.microsoft.com/office/drawing/2014/main" val="95811163"/>
                    </a:ext>
                  </a:extLst>
                </a:gridCol>
                <a:gridCol w="1401120">
                  <a:extLst>
                    <a:ext uri="{9D8B030D-6E8A-4147-A177-3AD203B41FA5}">
                      <a16:colId xmlns:a16="http://schemas.microsoft.com/office/drawing/2014/main" val="1028737888"/>
                    </a:ext>
                  </a:extLst>
                </a:gridCol>
                <a:gridCol w="1299834">
                  <a:extLst>
                    <a:ext uri="{9D8B030D-6E8A-4147-A177-3AD203B41FA5}">
                      <a16:colId xmlns:a16="http://schemas.microsoft.com/office/drawing/2014/main" val="1587058688"/>
                    </a:ext>
                  </a:extLst>
                </a:gridCol>
                <a:gridCol w="3271319">
                  <a:extLst>
                    <a:ext uri="{9D8B030D-6E8A-4147-A177-3AD203B41FA5}">
                      <a16:colId xmlns:a16="http://schemas.microsoft.com/office/drawing/2014/main" val="2881744402"/>
                    </a:ext>
                  </a:extLst>
                </a:gridCol>
                <a:gridCol w="1254795">
                  <a:extLst>
                    <a:ext uri="{9D8B030D-6E8A-4147-A177-3AD203B41FA5}">
                      <a16:colId xmlns:a16="http://schemas.microsoft.com/office/drawing/2014/main" val="3235106151"/>
                    </a:ext>
                  </a:extLst>
                </a:gridCol>
              </a:tblGrid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보유역량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학력 등</a:t>
                      </a:r>
                      <a:r>
                        <a:rPr lang="en-US" altLang="ko-KR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i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채용상태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50470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대표자명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 총괄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 기획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대외협력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문화유산 데이터 보유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AI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 기획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관광콘텐츠 기획 역량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158162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신규채용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콘텐츠 운영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채널관리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분석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숏폼 운영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SNS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업로드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성과관리 역량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예정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(2026.8)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330737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신규채용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 편집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자막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사운드 후반작업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 편집 및 모션 보조 역량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예정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(2026.9)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38223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외부협력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자문단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사실검수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번역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후반작업 자문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문화해설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번역</a:t>
                      </a:r>
                      <a:r>
                        <a:rPr lang="en-US" altLang="ko-KR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사운드 등 전문 역량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spc="-15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수시협력</a:t>
                      </a:r>
                      <a:endParaRPr lang="ko-KR" altLang="en-US" sz="9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44958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36858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i="0" spc="-15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72047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C86A2F8-F102-BA74-2EBB-7A316CEDCC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200524" y="4232435"/>
            <a:ext cx="4068000" cy="2016915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5] </a:t>
            </a:r>
            <a:r>
              <a:rPr lang="ko-KR" altLang="en-US" sz="1050" b="1" dirty="0">
                <a:solidFill>
                  <a:schemeClr val="tx1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세부 작성 가이드</a:t>
            </a:r>
            <a:endParaRPr lang="en-US" altLang="ko-KR" sz="1050" b="1" dirty="0">
              <a:solidFill>
                <a:schemeClr val="tx1"/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 기업의 특성에 맞게 가감하여 작성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행 추가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A65CB487-AD14-C430-DDEF-3E9AF7468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710" y="217617"/>
            <a:ext cx="1757386" cy="224783"/>
          </a:xfrm>
          <a:prstGeom prst="roundRect">
            <a:avLst>
              <a:gd name="adj" fmla="val 50000"/>
            </a:avLst>
          </a:prstGeom>
          <a:solidFill>
            <a:srgbClr val="2393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742950" latinLnBrk="1">
              <a:defRPr/>
            </a:pP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제</a:t>
            </a:r>
            <a:r>
              <a:rPr lang="en-US" altLang="ko-KR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18</a:t>
            </a:r>
            <a:r>
              <a:rPr lang="ko-KR" altLang="en-US" sz="105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회 관광벤처사업 공모  </a:t>
            </a:r>
          </a:p>
        </p:txBody>
      </p:sp>
    </p:spTree>
    <p:extLst>
      <p:ext uri="{BB962C8B-B14F-4D97-AF65-F5344CB8AC3E}">
        <p14:creationId xmlns:p14="http://schemas.microsoft.com/office/powerpoint/2010/main" val="3089263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F827555-E272-ADDA-3F64-ED16C4E96790}"/>
              </a:ext>
            </a:extLst>
          </p:cNvPr>
          <p:cNvSpPr txBox="1"/>
          <p:nvPr/>
        </p:nvSpPr>
        <p:spPr>
          <a:xfrm>
            <a:off x="3368018" y="2347779"/>
            <a:ext cx="3282309" cy="7201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742950" latinLnBrk="1">
              <a:lnSpc>
                <a:spcPct val="90000"/>
              </a:lnSpc>
              <a:defRPr/>
            </a:pPr>
            <a:r>
              <a:rPr lang="ko-KR" altLang="en-US" sz="5200" b="1" spc="-81" dirty="0">
                <a:solidFill>
                  <a:srgbClr val="2696C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감사합니다</a:t>
            </a: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458B1287-B1CF-1898-B405-552D90C909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871" y="370427"/>
            <a:ext cx="1130017" cy="379686"/>
          </a:xfrm>
          <a:prstGeom prst="rect">
            <a:avLst/>
          </a:prstGeom>
        </p:spPr>
      </p:pic>
      <p:pic>
        <p:nvPicPr>
          <p:cNvPr id="5" name="Picture 2" descr="관광벤처지원사업_로고(세로조합)_2026년.png">
            <a:extLst>
              <a:ext uri="{FF2B5EF4-FFF2-40B4-BE49-F238E27FC236}">
                <a16:creationId xmlns:a16="http://schemas.microsoft.com/office/drawing/2014/main" id="{0EC1808C-EC12-4FE3-8D98-479F4E9BF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729" y="360711"/>
            <a:ext cx="752694" cy="43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6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17240</TotalTime>
  <Words>3990</Words>
  <Application>Microsoft Office PowerPoint</Application>
  <PresentationFormat>A4 용지(210x297mm)</PresentationFormat>
  <Paragraphs>628</Paragraphs>
  <Slides>20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Cambria Math</vt:lpstr>
      <vt:lpstr>HY견고딕</vt:lpstr>
      <vt:lpstr>맑은 고딕</vt:lpstr>
      <vt:lpstr>Arial</vt:lpstr>
      <vt:lpstr>Calibri Light</vt:lpstr>
      <vt:lpstr>Wingdings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meanofours@naver.com</dc:creator>
  <cp:lastModifiedBy>freghaseo@gmail.com</cp:lastModifiedBy>
  <cp:revision>499</cp:revision>
  <cp:lastPrinted>2024-03-13T09:35:33Z</cp:lastPrinted>
  <dcterms:created xsi:type="dcterms:W3CDTF">2020-02-26T06:57:46Z</dcterms:created>
  <dcterms:modified xsi:type="dcterms:W3CDTF">2026-05-06T04:55:51Z</dcterms:modified>
</cp:coreProperties>
</file>